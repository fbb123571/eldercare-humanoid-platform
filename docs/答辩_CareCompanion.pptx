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4.jp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jpg"/><Relationship Id="rId3" Type="http://schemas.openxmlformats.org/officeDocument/2006/relationships/image" Target="../media/image6.jp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jp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image" Target="../media/image2.jp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image" Target="../media/image1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Relationship Id="rId3" Type="http://schemas.openxmlformats.org/officeDocument/2006/relationships/image" Target="../media/image8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420624"/>
          </a:xfrm>
          <a:prstGeom prst="rect">
            <a:avLst/>
          </a:prstGeom>
          <a:solidFill>
            <a:srgbClr val="1432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54864"/>
            <a:ext cx="859536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1">
                <a:solidFill>
                  <a:srgbClr val="FFFFFF"/>
                </a:solidFill>
                <a:latin typeface="微软雅黑"/>
                <ns0:rFonts xmlns:ns0="http://schemas.openxmlformats.org/wordprocessingml/2006/main" ns0:eastAsia="微软雅黑" ns0:ascii="微软雅黑" ns0:hAnsi="微软雅黑"/>
              </a:rPr>
              <a:t>第二十八届中国机器人及人工智能大赛  |  创新赛 · 机器人创新赛道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420624"/>
            <a:ext cx="4572000" cy="4722876"/>
          </a:xfrm>
          <a:prstGeom prst="rect">
            <a:avLst/>
          </a:prstGeom>
          <a:solidFill>
            <a:srgbClr val="F1F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830130" y="527745"/>
            <a:ext cx="2911739" cy="4499488"/>
          </a:xfrm>
          <a:prstGeom prst="rect">
            <a:avLst/>
          </a:prstGeom>
          <a:solidFill>
            <a:srgbClr val="FFFFFF"/>
          </a:solidFill>
          <a:ln w="10160">
            <a:solidFill>
              <a:srgbClr val="BAC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ppt_mediapipe_pos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5850" y="573465"/>
            <a:ext cx="2820299" cy="422516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37160" y="4853498"/>
            <a:ext cx="429768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 b="0">
                <a:solidFill>
                  <a:srgbClr val="5A6273"/>
                </a:solidFill>
                <a:latin typeface="微软雅黑"/>
                <ns1:rFonts xmlns:ns1="http://schemas.openxmlformats.org/wordprocessingml/2006/main" ns1:eastAsia="微软雅黑" ns1:ascii="微软雅黑" ns1:hAnsi="微软雅黑"/>
              </a:rPr>
              <a:t>MediaPipe 骨架 · 可现场演示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0" y="420624"/>
            <a:ext cx="4572000" cy="4722876"/>
          </a:xfrm>
          <a:prstGeom prst="rect">
            <a:avLst/>
          </a:prstGeom>
          <a:solidFill>
            <a:srgbClr val="1432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0" y="420624"/>
            <a:ext cx="91440" cy="4722876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800600" y="832104"/>
            <a:ext cx="4114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200" b="1">
                <a:solidFill>
                  <a:srgbClr val="FFFFFF"/>
                </a:solidFill>
                <a:latin typeface="微软雅黑"/>
                <ns2:rFonts xmlns:ns2="http://schemas.openxmlformats.org/wordprocessingml/2006/main" ns2:eastAsia="微软雅黑" ns2:ascii="微软雅黑" ns2:hAnsi="微软雅黑"/>
              </a:rPr>
              <a:t>CareCompanion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800600" y="1271016"/>
            <a:ext cx="4114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93C5FD"/>
                </a:solidFill>
                <a:latin typeface="微软雅黑"/>
                <ns3:rFonts xmlns:ns3="http://schemas.openxmlformats.org/wordprocessingml/2006/main" ns3:eastAsia="微软雅黑" ns3:ascii="微软雅黑" ns3:hAnsi="微软雅黑"/>
              </a:rPr>
              <a:t>智能养老陪伴机器人仿真平台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800600" y="1618488"/>
            <a:ext cx="4114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0">
                <a:solidFill>
                  <a:srgbClr val="E2E8F0"/>
                </a:solidFill>
                <a:latin typeface="微软雅黑"/>
                <ns4:rFonts xmlns:ns4="http://schemas.openxmlformats.org/wordprocessingml/2006/main" ns4:eastAsia="微软雅黑" ns4:ascii="微软雅黑" ns4:hAnsi="微软雅黑"/>
              </a:rPr>
              <a:t>感知 · 决策 · 执行  一体化闭环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800600" y="2148840"/>
            <a:ext cx="3977639" cy="1325880"/>
          </a:xfrm>
          <a:prstGeom prst="rect">
            <a:avLst/>
          </a:prstGeom>
          <a:solidFill>
            <a:srgbClr val="1E4082"/>
          </a:solidFill>
          <a:ln>
            <a:solidFill>
              <a:srgbClr val="648C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937760" y="2286000"/>
            <a:ext cx="36576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500"/>
              </a:spcAft>
            </a:pPr>
            <a:r>
              <a:rPr sz="1000" b="0">
                <a:solidFill>
                  <a:srgbClr val="DCE6FF"/>
                </a:solidFill>
                <a:latin typeface="微软雅黑"/>
                <ns5:rFonts xmlns:ns5="http://schemas.openxmlformats.org/wordprocessingml/2006/main" ns5:eastAsia="微软雅黑" ns5:ascii="微软雅黑" ns5:hAnsi="微软雅黑"/>
              </a:rPr>
              <a:t>团队：从容应队（中山大学）</a:t>
            </a:r>
          </a:p>
          <a:p>
            <a:pPr>
              <a:spcAft>
                <a:spcPts val="500"/>
              </a:spcAft>
            </a:pPr>
            <a:r>
              <a:rPr sz="1000" b="0">
                <a:solidFill>
                  <a:srgbClr val="DCE6FF"/>
                </a:solidFill>
                <a:latin typeface="微软雅黑"/>
                <ns6:rFonts xmlns:ns6="http://schemas.openxmlformats.org/wordprocessingml/2006/main" ns6:eastAsia="微软雅黑" ns6:ascii="微软雅黑" ns6:hAnsi="微软雅黑"/>
              </a:rPr>
              <a:t>队员：刘小凡（队长）· 白冉</a:t>
            </a:r>
          </a:p>
          <a:p>
            <a:pPr>
              <a:spcAft>
                <a:spcPts val="500"/>
              </a:spcAft>
            </a:pPr>
            <a:r>
              <a:rPr sz="1000" b="0">
                <a:solidFill>
                  <a:srgbClr val="DCE6FF"/>
                </a:solidFill>
                <a:latin typeface="微软雅黑"/>
                <ns7:rFonts xmlns:ns7="http://schemas.openxmlformats.org/wordprocessingml/2006/main" ns7:eastAsia="微软雅黑" ns7:ascii="微软雅黑" ns7:hAnsi="微软雅黑"/>
              </a:rPr>
              <a:t>指导教师：彭键清</a:t>
            </a:r>
          </a:p>
          <a:p>
            <a:pPr>
              <a:spcAft>
                <a:spcPts val="500"/>
              </a:spcAft>
            </a:pPr>
            <a:r>
              <a:rPr sz="1000" b="0">
                <a:solidFill>
                  <a:srgbClr val="DCE6FF"/>
                </a:solidFill>
                <a:latin typeface="微软雅黑"/>
                <ns8:rFonts xmlns:ns8="http://schemas.openxmlformats.org/wordprocessingml/2006/main" ns8:eastAsia="微软雅黑" ns8:ascii="微软雅黑" ns8:hAnsi="微软雅黑"/>
              </a:rPr>
              <a:t>作品编号：CRAIC20264ZEFT1DF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800600" y="4686300"/>
            <a:ext cx="40233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0">
                <a:solidFill>
                  <a:srgbClr val="94A3B8"/>
                </a:solidFill>
                <a:latin typeface="微软雅黑"/>
                <ns9:rFonts xmlns:ns9="http://schemas.openxmlformats.org/wordprocessingml/2006/main" ns9:eastAsia="微软雅黑" ns9:ascii="微软雅黑" ns9:hAnsi="微软雅黑"/>
              </a:rPr>
              <a:t>基于大语言模型的智能养老陪伴机器人仿真平台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420624"/>
          </a:xfrm>
          <a:prstGeom prst="rect">
            <a:avLst/>
          </a:prstGeom>
          <a:solidFill>
            <a:srgbClr val="1432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54864"/>
            <a:ext cx="859536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1">
                <a:solidFill>
                  <a:srgbClr val="FFFFFF"/>
                </a:solidFill>
                <a:latin typeface="微软雅黑"/>
                <ns0:rFonts xmlns:ns0="http://schemas.openxmlformats.org/wordprocessingml/2006/main" ns0:eastAsia="微软雅黑" ns0:ascii="微软雅黑" ns0:hAnsi="微软雅黑"/>
              </a:rPr>
              <a:t>第二十八届中国机器人及人工智能大赛  |  创新赛 · 机器人创新赛道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4905756"/>
            <a:ext cx="9144000" cy="237744"/>
          </a:xfrm>
          <a:prstGeom prst="rect">
            <a:avLst/>
          </a:prstGeom>
          <a:solidFill>
            <a:srgbClr val="DBEA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74320" y="4951476"/>
            <a:ext cx="859536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00" b="0">
                <a:solidFill>
                  <a:srgbClr val="5A6273"/>
                </a:solidFill>
                <a:latin typeface="微软雅黑"/>
                <ns1:rFonts xmlns:ns1="http://schemas.openxmlformats.org/wordprocessingml/2006/main" ns1:eastAsia="微软雅黑" ns1:ascii="微软雅黑" ns1:hAnsi="微软雅黑"/>
              </a:rPr>
              <a:t>从容应队 · 中山大学 · 刘小凡/白冉 · 指导教师 彭键清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4320" y="466344"/>
            <a:ext cx="85953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000" b="1">
                <a:solidFill>
                  <a:srgbClr val="143278"/>
                </a:solidFill>
                <a:latin typeface="微软雅黑"/>
                <ns2:rFonts xmlns:ns2="http://schemas.openxmlformats.org/wordprocessingml/2006/main" ns2:eastAsia="微软雅黑" ns2:ascii="微软雅黑" ns2:hAnsi="微软雅黑"/>
              </a:rPr>
              <a:t>答辩提纲</a:t>
            </a:r>
          </a:p>
        </p:txBody>
      </p:sp>
      <p:sp>
        <p:nvSpPr>
          <p:cNvPr id="7" name="Rectangle 6"/>
          <p:cNvSpPr/>
          <p:nvPr/>
        </p:nvSpPr>
        <p:spPr>
          <a:xfrm>
            <a:off x="274320" y="886968"/>
            <a:ext cx="1143000" cy="50292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74320" y="996696"/>
            <a:ext cx="3611880" cy="3854196"/>
          </a:xfrm>
          <a:prstGeom prst="rect">
            <a:avLst/>
          </a:prstGeom>
          <a:solidFill>
            <a:srgbClr val="F1F7FF"/>
          </a:solidFill>
          <a:ln w="10160">
            <a:solidFill>
              <a:srgbClr val="BAC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74320" y="996696"/>
            <a:ext cx="73152" cy="3854196"/>
          </a:xfrm>
          <a:prstGeom prst="rect">
            <a:avLst/>
          </a:prstGeom>
          <a:solidFill>
            <a:srgbClr val="1432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200" y="1124712"/>
            <a:ext cx="3246120" cy="885825"/>
          </a:xfrm>
          <a:prstGeom prst="rect">
            <a:avLst/>
          </a:prstGeom>
          <a:noFill/>
        </p:spPr>
        <p:txBody>
          <a:bodyPr wrap="square" anchor="t" lIns="25400" t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</a:pPr>
            <a:r>
              <a:rPr sz="1200" b="0">
                <a:solidFill>
                  <a:srgbClr val="1C202C"/>
                </a:solidFill>
                <a:latin typeface="微软雅黑"/>
                <ns3:rFonts xmlns:ns3="http://schemas.openxmlformats.org/wordprocessingml/2006/main" ns3:eastAsia="微软雅黑" ns3:ascii="微软雅黑" ns3:hAnsi="微软雅黑"/>
              </a:rPr>
              <a:t>● 一、为什么做：老龄化与跌倒风险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2028825"/>
            <a:ext cx="3246120" cy="885825"/>
          </a:xfrm>
          <a:prstGeom prst="rect">
            <a:avLst/>
          </a:prstGeom>
          <a:noFill/>
        </p:spPr>
        <p:txBody>
          <a:bodyPr wrap="square" anchor="t" lIns="25400" t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</a:pPr>
            <a:r>
              <a:rPr sz="1200" b="0">
                <a:solidFill>
                  <a:srgbClr val="1C202C"/>
                </a:solidFill>
                <a:latin typeface="微软雅黑"/>
                <ns4:rFonts xmlns:ns4="http://schemas.openxmlformats.org/wordprocessingml/2006/main" ns4:eastAsia="微软雅黑" ns4:ascii="微软雅黑" ns4:hAnsi="微软雅黑"/>
              </a:rPr>
              <a:t>● 二、怎么做：模型、架构与算法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2932938"/>
            <a:ext cx="3246120" cy="885825"/>
          </a:xfrm>
          <a:prstGeom prst="rect">
            <a:avLst/>
          </a:prstGeom>
          <a:noFill/>
        </p:spPr>
        <p:txBody>
          <a:bodyPr wrap="square" anchor="t" lIns="25400" t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</a:pPr>
            <a:r>
              <a:rPr sz="1200" b="0">
                <a:solidFill>
                  <a:srgbClr val="1C202C"/>
                </a:solidFill>
                <a:latin typeface="微软雅黑"/>
                <ns5:rFonts xmlns:ns5="http://schemas.openxmlformats.org/wordprocessingml/2006/main" ns5:eastAsia="微软雅黑" ns5:ascii="微软雅黑" ns5:hAnsi="微软雅黑"/>
              </a:rPr>
              <a:t>● 三、做出来什么：系统演示与测试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3837051"/>
            <a:ext cx="3246120" cy="885825"/>
          </a:xfrm>
          <a:prstGeom prst="rect">
            <a:avLst/>
          </a:prstGeom>
          <a:noFill/>
        </p:spPr>
        <p:txBody>
          <a:bodyPr wrap="square" anchor="t" lIns="25400" t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</a:pPr>
            <a:r>
              <a:rPr sz="1200" b="0">
                <a:solidFill>
                  <a:srgbClr val="1C202C"/>
                </a:solidFill>
                <a:latin typeface="微软雅黑"/>
                <ns6:rFonts xmlns:ns6="http://schemas.openxmlformats.org/wordprocessingml/2006/main" ns6:eastAsia="微软雅黑" ns6:ascii="微软雅黑" ns6:hAnsi="微软雅黑"/>
              </a:rPr>
              <a:t>● 四、有什么特色：创新点与后续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114800" y="1106424"/>
            <a:ext cx="384048" cy="329184"/>
          </a:xfrm>
          <a:prstGeom prst="roundRect">
            <a:avLst/>
          </a:prstGeom>
          <a:solidFill>
            <a:srgbClr val="2563EB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/>
          <a:lstStyle/>
          <a:p>
            <a:pPr algn="ctr">
              <a:defRPr sz="1200" b="1">
                <a:solidFill>
                  <a:srgbClr val="FFFFFF"/>
                </a:solidFill>
                <a:latin typeface="微软雅黑"/>
              </a:defRPr>
            </a:pPr>
            <a:r>
              <a:t>01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0" y="1106424"/>
            <a:ext cx="4206240" cy="329184"/>
          </a:xfrm>
          <a:prstGeom prst="roundRect">
            <a:avLst/>
          </a:prstGeom>
          <a:solidFill>
            <a:srgbClr val="F1F7FF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/>
          <a:lstStyle/>
          <a:p>
            <a:pPr algn="ctr">
              <a:defRPr sz="1200" b="1">
                <a:solidFill>
                  <a:srgbClr val="143278"/>
                </a:solidFill>
                <a:latin typeface="微软雅黑"/>
              </a:defRPr>
            </a:pPr>
            <a:r>
              <a:t>背景与需求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4306824" y="1453896"/>
            <a:ext cx="0" cy="542925"/>
          </a:xfrm>
          <a:prstGeom prst="line">
            <a:avLst/>
          </a:prstGeom>
          <a:ln w="2540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ounded Rectangle 16"/>
          <p:cNvSpPr/>
          <p:nvPr/>
        </p:nvSpPr>
        <p:spPr>
          <a:xfrm>
            <a:off x="4114800" y="2051685"/>
            <a:ext cx="384048" cy="329184"/>
          </a:xfrm>
          <a:prstGeom prst="roundRect">
            <a:avLst/>
          </a:prstGeom>
          <a:solidFill>
            <a:srgbClr val="0EA5E9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/>
          <a:lstStyle/>
          <a:p>
            <a:pPr algn="ctr">
              <a:defRPr sz="1200" b="1">
                <a:solidFill>
                  <a:srgbClr val="FFFFFF"/>
                </a:solidFill>
                <a:latin typeface="微软雅黑"/>
              </a:defRPr>
            </a:pPr>
            <a:r>
              <a:t>02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0" y="2051685"/>
            <a:ext cx="4206240" cy="329184"/>
          </a:xfrm>
          <a:prstGeom prst="roundRect">
            <a:avLst/>
          </a:prstGeom>
          <a:solidFill>
            <a:srgbClr val="F1F7FF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/>
          <a:lstStyle/>
          <a:p>
            <a:pPr algn="ctr">
              <a:defRPr sz="1200" b="1">
                <a:solidFill>
                  <a:srgbClr val="143278"/>
                </a:solidFill>
                <a:latin typeface="微软雅黑"/>
              </a:defRPr>
            </a:pPr>
            <a:r>
              <a:t>技术与模型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4306824" y="2399157"/>
            <a:ext cx="0" cy="542925"/>
          </a:xfrm>
          <a:prstGeom prst="line">
            <a:avLst/>
          </a:prstGeom>
          <a:ln w="25400">
            <a:solidFill>
              <a:srgbClr val="0EA5E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ounded Rectangle 19"/>
          <p:cNvSpPr/>
          <p:nvPr/>
        </p:nvSpPr>
        <p:spPr>
          <a:xfrm>
            <a:off x="4114800" y="2996946"/>
            <a:ext cx="384048" cy="329184"/>
          </a:xfrm>
          <a:prstGeom prst="roundRect">
            <a:avLst/>
          </a:prstGeom>
          <a:solidFill>
            <a:srgbClr val="10B981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/>
          <a:lstStyle/>
          <a:p>
            <a:pPr algn="ctr">
              <a:defRPr sz="1200" b="1">
                <a:solidFill>
                  <a:srgbClr val="FFFFFF"/>
                </a:solidFill>
                <a:latin typeface="微软雅黑"/>
              </a:defRPr>
            </a:pPr>
            <a:r>
              <a:t>03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572000" y="2996946"/>
            <a:ext cx="4206240" cy="329184"/>
          </a:xfrm>
          <a:prstGeom prst="roundRect">
            <a:avLst/>
          </a:prstGeom>
          <a:solidFill>
            <a:srgbClr val="F1F7FF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/>
          <a:lstStyle/>
          <a:p>
            <a:pPr algn="ctr">
              <a:defRPr sz="1200" b="1">
                <a:solidFill>
                  <a:srgbClr val="143278"/>
                </a:solidFill>
                <a:latin typeface="微软雅黑"/>
              </a:defRPr>
            </a:pPr>
            <a:r>
              <a:t>实现与验证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4306824" y="3344418"/>
            <a:ext cx="0" cy="542925"/>
          </a:xfrm>
          <a:prstGeom prst="line">
            <a:avLst/>
          </a:prstGeom>
          <a:ln w="25400">
            <a:solidFill>
              <a:srgbClr val="10B98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Rounded Rectangle 22"/>
          <p:cNvSpPr/>
          <p:nvPr/>
        </p:nvSpPr>
        <p:spPr>
          <a:xfrm>
            <a:off x="4114800" y="3942207"/>
            <a:ext cx="384048" cy="329184"/>
          </a:xfrm>
          <a:prstGeom prst="roundRect">
            <a:avLst/>
          </a:prstGeom>
          <a:solidFill>
            <a:srgbClr val="F59E0B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/>
          <a:lstStyle/>
          <a:p>
            <a:pPr algn="ctr">
              <a:defRPr sz="1200" b="1">
                <a:solidFill>
                  <a:srgbClr val="FFFFFF"/>
                </a:solidFill>
                <a:latin typeface="微软雅黑"/>
              </a:defRPr>
            </a:pPr>
            <a:r>
              <a:t>04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572000" y="3942207"/>
            <a:ext cx="4206240" cy="329184"/>
          </a:xfrm>
          <a:prstGeom prst="roundRect">
            <a:avLst/>
          </a:prstGeom>
          <a:solidFill>
            <a:srgbClr val="F1F7FF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/>
          <a:lstStyle/>
          <a:p>
            <a:pPr algn="ctr">
              <a:defRPr sz="1200" b="1">
                <a:solidFill>
                  <a:srgbClr val="143278"/>
                </a:solidFill>
                <a:latin typeface="微软雅黑"/>
              </a:defRPr>
            </a:pPr>
            <a:r>
              <a:t>创新与展望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420624"/>
          </a:xfrm>
          <a:prstGeom prst="rect">
            <a:avLst/>
          </a:prstGeom>
          <a:solidFill>
            <a:srgbClr val="1432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54864"/>
            <a:ext cx="859536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1">
                <a:solidFill>
                  <a:srgbClr val="FFFFFF"/>
                </a:solidFill>
                <a:latin typeface="微软雅黑"/>
                <ns0:rFonts xmlns:ns0="http://schemas.openxmlformats.org/wordprocessingml/2006/main" ns0:eastAsia="微软雅黑" ns0:ascii="微软雅黑" ns0:hAnsi="微软雅黑"/>
              </a:rPr>
              <a:t>第二十八届中国机器人及人工智能大赛  |  创新赛 · 机器人创新赛道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4905756"/>
            <a:ext cx="9144000" cy="237744"/>
          </a:xfrm>
          <a:prstGeom prst="rect">
            <a:avLst/>
          </a:prstGeom>
          <a:solidFill>
            <a:srgbClr val="DBEA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74320" y="4951476"/>
            <a:ext cx="859536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00" b="0">
                <a:solidFill>
                  <a:srgbClr val="5A6273"/>
                </a:solidFill>
                <a:latin typeface="微软雅黑"/>
                <ns1:rFonts xmlns:ns1="http://schemas.openxmlformats.org/wordprocessingml/2006/main" ns1:eastAsia="微软雅黑" ns1:ascii="微软雅黑" ns1:hAnsi="微软雅黑"/>
              </a:rPr>
              <a:t>从容应队 · 中山大学 · 刘小凡/白冉 · 指导教师 彭键清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4320" y="466344"/>
            <a:ext cx="85953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000" b="1">
                <a:solidFill>
                  <a:srgbClr val="143278"/>
                </a:solidFill>
                <a:latin typeface="微软雅黑"/>
                <ns2:rFonts xmlns:ns2="http://schemas.openxmlformats.org/wordprocessingml/2006/main" ns2:eastAsia="微软雅黑" ns2:ascii="微软雅黑" ns2:hAnsi="微软雅黑"/>
              </a:rPr>
              <a:t>参赛信息</a:t>
            </a:r>
          </a:p>
        </p:txBody>
      </p:sp>
      <p:sp>
        <p:nvSpPr>
          <p:cNvPr id="7" name="Rectangle 6"/>
          <p:cNvSpPr/>
          <p:nvPr/>
        </p:nvSpPr>
        <p:spPr>
          <a:xfrm>
            <a:off x="274320" y="886968"/>
            <a:ext cx="1143000" cy="50292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74320" y="996696"/>
            <a:ext cx="3611880" cy="3854196"/>
          </a:xfrm>
          <a:prstGeom prst="rect">
            <a:avLst/>
          </a:prstGeom>
          <a:solidFill>
            <a:srgbClr val="F1F7FF"/>
          </a:solidFill>
          <a:ln w="10160">
            <a:solidFill>
              <a:srgbClr val="BAC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74320" y="996696"/>
            <a:ext cx="73152" cy="3854196"/>
          </a:xfrm>
          <a:prstGeom prst="rect">
            <a:avLst/>
          </a:prstGeom>
          <a:solidFill>
            <a:srgbClr val="1432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200" y="1124712"/>
            <a:ext cx="3246120" cy="885825"/>
          </a:xfrm>
          <a:prstGeom prst="rect">
            <a:avLst/>
          </a:prstGeom>
          <a:noFill/>
        </p:spPr>
        <p:txBody>
          <a:bodyPr wrap="square" anchor="t" lIns="25400" t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</a:pPr>
            <a:r>
              <a:rPr sz="1200" b="0">
                <a:solidFill>
                  <a:srgbClr val="1C202C"/>
                </a:solidFill>
                <a:latin typeface="微软雅黑"/>
                <ns3:rFonts xmlns:ns3="http://schemas.openxmlformats.org/wordprocessingml/2006/main" ns3:eastAsia="微软雅黑" ns3:ascii="微软雅黑" ns3:hAnsi="微软雅黑"/>
              </a:rPr>
              <a:t>● 赛项：创新赛 · 机器人创新赛道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2028825"/>
            <a:ext cx="3246120" cy="885825"/>
          </a:xfrm>
          <a:prstGeom prst="rect">
            <a:avLst/>
          </a:prstGeom>
          <a:noFill/>
        </p:spPr>
        <p:txBody>
          <a:bodyPr wrap="square" anchor="t" lIns="25400" t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</a:pPr>
            <a:r>
              <a:rPr sz="1200" b="0">
                <a:solidFill>
                  <a:srgbClr val="1C202C"/>
                </a:solidFill>
                <a:latin typeface="微软雅黑"/>
                <ns4:rFonts xmlns:ns4="http://schemas.openxmlformats.org/wordprocessingml/2006/main" ns4:eastAsia="微软雅黑" ns4:ascii="微软雅黑" ns4:hAnsi="微软雅黑"/>
              </a:rPr>
              <a:t>● 作品：智能养老陪伴机器人仿真平台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2932938"/>
            <a:ext cx="3246120" cy="885825"/>
          </a:xfrm>
          <a:prstGeom prst="rect">
            <a:avLst/>
          </a:prstGeom>
          <a:noFill/>
        </p:spPr>
        <p:txBody>
          <a:bodyPr wrap="square" anchor="t" lIns="25400" t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</a:pPr>
            <a:r>
              <a:rPr sz="1200" b="0">
                <a:solidFill>
                  <a:srgbClr val="1C202C"/>
                </a:solidFill>
                <a:latin typeface="微软雅黑"/>
                <ns5:rFonts xmlns:ns5="http://schemas.openxmlformats.org/wordprocessingml/2006/main" ns5:eastAsia="微软雅黑" ns5:ascii="微软雅黑" ns5:hAnsi="微软雅黑"/>
              </a:rPr>
              <a:t>● （基于大语言模型）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3837051"/>
            <a:ext cx="3246120" cy="885825"/>
          </a:xfrm>
          <a:prstGeom prst="rect">
            <a:avLst/>
          </a:prstGeom>
          <a:noFill/>
        </p:spPr>
        <p:txBody>
          <a:bodyPr wrap="square" anchor="t" lIns="25400" t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</a:pPr>
            <a:r>
              <a:rPr sz="1200" b="0">
                <a:solidFill>
                  <a:srgbClr val="1C202C"/>
                </a:solidFill>
                <a:latin typeface="微软雅黑"/>
                <ns6:rFonts xmlns:ns6="http://schemas.openxmlformats.org/wordprocessingml/2006/main" ns6:eastAsia="微软雅黑" ns6:ascii="微软雅黑" ns6:hAnsi="微软雅黑"/>
              </a:rPr>
              <a:t>● 特色：理论清晰 · 系统可演示 · 指标可复现</a:t>
            </a:r>
          </a:p>
        </p:txBody>
      </p:sp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4069080" y="996696"/>
          <a:ext cx="4800600" cy="385419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41248"/>
                <a:gridCol w="3959352"/>
              </a:tblGrid>
              <a:tr h="550599">
                <a:tc>
                  <a:txBody>
                    <a:bodyPr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微软雅黑"/>
                          <ns7:rFonts xmlns:ns7="http://schemas.openxmlformats.org/wordprocessingml/2006/main" ns7:eastAsia="微软雅黑" ns7:ascii="微软雅黑" ns7:hAnsi="微软雅黑"/>
                        </a:rPr>
                        <a:t>团队</a:t>
                      </a:r>
                    </a:p>
                  </a:txBody>
                  <a:tcPr marL="50800" marR="50800" marT="25400" marB="25400">
                    <a:solidFill>
                      <a:srgbClr val="143278"/>
                    </a:solidFill>
                  </a:tcPr>
                </a:tc>
                <a:tc>
                  <a:txBody>
                    <a:bodyPr anchor="ctr" wrap="square"/>
                    <a:lstStyle/>
                    <a:p>
                      <a:pPr algn="l"/>
                      <a:r>
                        <a:rPr sz="1000" b="0">
                          <a:solidFill>
                            <a:srgbClr val="143278"/>
                          </a:solidFill>
                          <a:latin typeface="微软雅黑"/>
                          <ns8:rFonts xmlns:ns8="http://schemas.openxmlformats.org/wordprocessingml/2006/main" ns8:eastAsia="微软雅黑" ns8:ascii="微软雅黑" ns8:hAnsi="微软雅黑"/>
                        </a:rPr>
                        <a:t>从容应队</a:t>
                      </a:r>
                    </a:p>
                  </a:txBody>
                  <a:tcPr marL="76200" marR="50800">
                    <a:solidFill>
                      <a:srgbClr val="F1F7FF"/>
                    </a:solidFill>
                  </a:tcPr>
                </a:tc>
              </a:tr>
              <a:tr h="550599">
                <a:tc>
                  <a:txBody>
                    <a:bodyPr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微软雅黑"/>
                          <ns9:rFonts xmlns:ns9="http://schemas.openxmlformats.org/wordprocessingml/2006/main" ns9:eastAsia="微软雅黑" ns9:ascii="微软雅黑" ns9:hAnsi="微软雅黑"/>
                        </a:rPr>
                        <a:t>学校</a:t>
                      </a:r>
                    </a:p>
                  </a:txBody>
                  <a:tcPr marL="50800" marR="50800" marT="25400" marB="25400">
                    <a:solidFill>
                      <a:srgbClr val="143278"/>
                    </a:solidFill>
                  </a:tcPr>
                </a:tc>
                <a:tc>
                  <a:txBody>
                    <a:bodyPr anchor="ctr" wrap="square"/>
                    <a:lstStyle/>
                    <a:p>
                      <a:pPr algn="l"/>
                      <a:r>
                        <a:rPr sz="1000" b="0">
                          <a:solidFill>
                            <a:srgbClr val="143278"/>
                          </a:solidFill>
                          <a:latin typeface="微软雅黑"/>
                          <ns10:rFonts xmlns:ns10="http://schemas.openxmlformats.org/wordprocessingml/2006/main" ns10:eastAsia="微软雅黑" ns10:ascii="微软雅黑" ns10:hAnsi="微软雅黑"/>
                        </a:rPr>
                        <a:t>中山大学</a:t>
                      </a:r>
                    </a:p>
                  </a:txBody>
                  <a:tcPr marL="76200" marR="50800">
                    <a:solidFill>
                      <a:srgbClr val="F1F7FF"/>
                    </a:solidFill>
                  </a:tcPr>
                </a:tc>
              </a:tr>
              <a:tr h="550599">
                <a:tc>
                  <a:txBody>
                    <a:bodyPr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微软雅黑"/>
                          <ns11:rFonts xmlns:ns11="http://schemas.openxmlformats.org/wordprocessingml/2006/main" ns11:eastAsia="微软雅黑" ns11:ascii="微软雅黑" ns11:hAnsi="微软雅黑"/>
                        </a:rPr>
                        <a:t>队长</a:t>
                      </a:r>
                    </a:p>
                  </a:txBody>
                  <a:tcPr marL="50800" marR="50800" marT="25400" marB="25400">
                    <a:solidFill>
                      <a:srgbClr val="143278"/>
                    </a:solidFill>
                  </a:tcPr>
                </a:tc>
                <a:tc>
                  <a:txBody>
                    <a:bodyPr anchor="ctr" wrap="square"/>
                    <a:lstStyle/>
                    <a:p>
                      <a:pPr algn="l"/>
                      <a:r>
                        <a:rPr sz="1000" b="0">
                          <a:solidFill>
                            <a:srgbClr val="143278"/>
                          </a:solidFill>
                          <a:latin typeface="微软雅黑"/>
                          <ns12:rFonts xmlns:ns12="http://schemas.openxmlformats.org/wordprocessingml/2006/main" ns12:eastAsia="微软雅黑" ns12:ascii="微软雅黑" ns12:hAnsi="微软雅黑"/>
                        </a:rPr>
                        <a:t>刘小凡</a:t>
                      </a:r>
                    </a:p>
                  </a:txBody>
                  <a:tcPr marL="76200" marR="50800">
                    <a:solidFill>
                      <a:srgbClr val="F1F7FF"/>
                    </a:solidFill>
                  </a:tcPr>
                </a:tc>
              </a:tr>
              <a:tr h="550599">
                <a:tc>
                  <a:txBody>
                    <a:bodyPr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微软雅黑"/>
                          <ns13:rFonts xmlns:ns13="http://schemas.openxmlformats.org/wordprocessingml/2006/main" ns13:eastAsia="微软雅黑" ns13:ascii="微软雅黑" ns13:hAnsi="微软雅黑"/>
                        </a:rPr>
                        <a:t>队员</a:t>
                      </a:r>
                    </a:p>
                  </a:txBody>
                  <a:tcPr marL="50800" marR="50800" marT="25400" marB="25400">
                    <a:solidFill>
                      <a:srgbClr val="143278"/>
                    </a:solidFill>
                  </a:tcPr>
                </a:tc>
                <a:tc>
                  <a:txBody>
                    <a:bodyPr anchor="ctr" wrap="square"/>
                    <a:lstStyle/>
                    <a:p>
                      <a:pPr algn="l"/>
                      <a:r>
                        <a:rPr sz="1000" b="0">
                          <a:solidFill>
                            <a:srgbClr val="143278"/>
                          </a:solidFill>
                          <a:latin typeface="微软雅黑"/>
                          <ns14:rFonts xmlns:ns14="http://schemas.openxmlformats.org/wordprocessingml/2006/main" ns14:eastAsia="微软雅黑" ns14:ascii="微软雅黑" ns14:hAnsi="微软雅黑"/>
                        </a:rPr>
                        <a:t>白冉</a:t>
                      </a:r>
                    </a:p>
                  </a:txBody>
                  <a:tcPr marL="76200" marR="50800">
                    <a:solidFill>
                      <a:srgbClr val="F1F7FF"/>
                    </a:solidFill>
                  </a:tcPr>
                </a:tc>
              </a:tr>
              <a:tr h="550599">
                <a:tc>
                  <a:txBody>
                    <a:bodyPr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微软雅黑"/>
                          <ns15:rFonts xmlns:ns15="http://schemas.openxmlformats.org/wordprocessingml/2006/main" ns15:eastAsia="微软雅黑" ns15:ascii="微软雅黑" ns15:hAnsi="微软雅黑"/>
                        </a:rPr>
                        <a:t>指导教师</a:t>
                      </a:r>
                    </a:p>
                  </a:txBody>
                  <a:tcPr marL="50800" marR="50800" marT="25400" marB="25400">
                    <a:solidFill>
                      <a:srgbClr val="143278"/>
                    </a:solidFill>
                  </a:tcPr>
                </a:tc>
                <a:tc>
                  <a:txBody>
                    <a:bodyPr anchor="ctr" wrap="square"/>
                    <a:lstStyle/>
                    <a:p>
                      <a:pPr algn="l"/>
                      <a:r>
                        <a:rPr sz="1000" b="0">
                          <a:solidFill>
                            <a:srgbClr val="143278"/>
                          </a:solidFill>
                          <a:latin typeface="微软雅黑"/>
                          <ns16:rFonts xmlns:ns16="http://schemas.openxmlformats.org/wordprocessingml/2006/main" ns16:eastAsia="微软雅黑" ns16:ascii="微软雅黑" ns16:hAnsi="微软雅黑"/>
                        </a:rPr>
                        <a:t>彭键清</a:t>
                      </a:r>
                    </a:p>
                  </a:txBody>
                  <a:tcPr marL="76200" marR="50800">
                    <a:solidFill>
                      <a:srgbClr val="F1F7FF"/>
                    </a:solidFill>
                  </a:tcPr>
                </a:tc>
              </a:tr>
              <a:tr h="550599">
                <a:tc>
                  <a:txBody>
                    <a:bodyPr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微软雅黑"/>
                          <ns17:rFonts xmlns:ns17="http://schemas.openxmlformats.org/wordprocessingml/2006/main" ns17:eastAsia="微软雅黑" ns17:ascii="微软雅黑" ns17:hAnsi="微软雅黑"/>
                        </a:rPr>
                        <a:t>团队编号</a:t>
                      </a:r>
                    </a:p>
                  </a:txBody>
                  <a:tcPr marL="50800" marR="50800" marT="25400" marB="25400">
                    <a:solidFill>
                      <a:srgbClr val="143278"/>
                    </a:solidFill>
                  </a:tcPr>
                </a:tc>
                <a:tc>
                  <a:txBody>
                    <a:bodyPr anchor="ctr" wrap="square"/>
                    <a:lstStyle/>
                    <a:p>
                      <a:pPr algn="l"/>
                      <a:r>
                        <a:rPr sz="1000" b="0">
                          <a:solidFill>
                            <a:srgbClr val="143278"/>
                          </a:solidFill>
                          <a:latin typeface="微软雅黑"/>
                          <ns18:rFonts xmlns:ns18="http://schemas.openxmlformats.org/wordprocessingml/2006/main" ns18:eastAsia="微软雅黑" ns18:ascii="微软雅黑" ns18:hAnsi="微软雅黑"/>
                        </a:rPr>
                        <a:t>CRAIC2026-TEAM-8FJQKLMI</a:t>
                      </a:r>
                    </a:p>
                  </a:txBody>
                  <a:tcPr marL="76200" marR="50800">
                    <a:solidFill>
                      <a:srgbClr val="F1F7FF"/>
                    </a:solidFill>
                  </a:tcPr>
                </a:tc>
              </a:tr>
              <a:tr h="550602">
                <a:tc>
                  <a:txBody>
                    <a:bodyPr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微软雅黑"/>
                          <ns19:rFonts xmlns:ns19="http://schemas.openxmlformats.org/wordprocessingml/2006/main" ns19:eastAsia="微软雅黑" ns19:ascii="微软雅黑" ns19:hAnsi="微软雅黑"/>
                        </a:rPr>
                        <a:t>作品编号</a:t>
                      </a:r>
                    </a:p>
                  </a:txBody>
                  <a:tcPr marL="50800" marR="50800" marT="25400" marB="25400">
                    <a:solidFill>
                      <a:srgbClr val="143278"/>
                    </a:solidFill>
                  </a:tcPr>
                </a:tc>
                <a:tc>
                  <a:txBody>
                    <a:bodyPr anchor="ctr" wrap="square"/>
                    <a:lstStyle/>
                    <a:p>
                      <a:pPr algn="l"/>
                      <a:r>
                        <a:rPr sz="1000" b="0">
                          <a:solidFill>
                            <a:srgbClr val="143278"/>
                          </a:solidFill>
                          <a:latin typeface="微软雅黑"/>
                          <ns20:rFonts xmlns:ns20="http://schemas.openxmlformats.org/wordprocessingml/2006/main" ns20:eastAsia="微软雅黑" ns20:ascii="微软雅黑" ns20:hAnsi="微软雅黑"/>
                        </a:rPr>
                        <a:t>CRAIC20264ZEFT1DF</a:t>
                      </a:r>
                    </a:p>
                  </a:txBody>
                  <a:tcPr marL="76200" marR="50800">
                    <a:solidFill>
                      <a:srgbClr val="F1F7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420624"/>
          </a:xfrm>
          <a:prstGeom prst="rect">
            <a:avLst/>
          </a:prstGeom>
          <a:solidFill>
            <a:srgbClr val="1432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54864"/>
            <a:ext cx="859536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1">
                <a:solidFill>
                  <a:srgbClr val="FFFFFF"/>
                </a:solidFill>
                <a:latin typeface="微软雅黑"/>
                <ns0:rFonts xmlns:ns0="http://schemas.openxmlformats.org/wordprocessingml/2006/main" ns0:eastAsia="微软雅黑" ns0:ascii="微软雅黑" ns0:hAnsi="微软雅黑"/>
              </a:rPr>
              <a:t>第二十八届中国机器人及人工智能大赛  |  创新赛 · 机器人创新赛道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4905756"/>
            <a:ext cx="9144000" cy="237744"/>
          </a:xfrm>
          <a:prstGeom prst="rect">
            <a:avLst/>
          </a:prstGeom>
          <a:solidFill>
            <a:srgbClr val="DBEA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74320" y="4951476"/>
            <a:ext cx="859536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00" b="0">
                <a:solidFill>
                  <a:srgbClr val="5A6273"/>
                </a:solidFill>
                <a:latin typeface="微软雅黑"/>
                <ns1:rFonts xmlns:ns1="http://schemas.openxmlformats.org/wordprocessingml/2006/main" ns1:eastAsia="微软雅黑" ns1:ascii="微软雅黑" ns1:hAnsi="微软雅黑"/>
              </a:rPr>
              <a:t>从容应队 · 中山大学 · 刘小凡/白冉 · 指导教师 彭键清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420624"/>
            <a:ext cx="4343400" cy="4430268"/>
          </a:xfrm>
          <a:prstGeom prst="rect">
            <a:avLst/>
          </a:prstGeom>
          <a:solidFill>
            <a:srgbClr val="1432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384048" y="740664"/>
            <a:ext cx="658368" cy="658368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84048" y="804672"/>
            <a:ext cx="658368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200" b="1">
                <a:solidFill>
                  <a:srgbClr val="FFFFFF"/>
                </a:solidFill>
                <a:latin typeface="微软雅黑"/>
                <ns2:rFonts xmlns:ns2="http://schemas.openxmlformats.org/wordprocessingml/2006/main" ns2:eastAsia="微软雅黑" ns2:ascii="微软雅黑" ns2:hAnsi="微软雅黑"/>
              </a:rPr>
              <a:t>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47472" y="1472184"/>
            <a:ext cx="384048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FFFFFF"/>
                </a:solidFill>
                <a:latin typeface="微软雅黑"/>
                <ns3:rFonts xmlns:ns3="http://schemas.openxmlformats.org/wordprocessingml/2006/main" ns3:eastAsia="微软雅黑" ns3:ascii="微软雅黑" ns3:hAnsi="微软雅黑"/>
              </a:rPr>
              <a:t>第一部分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1947672"/>
            <a:ext cx="384048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0">
                <a:solidFill>
                  <a:srgbClr val="BFDBFE"/>
                </a:solidFill>
                <a:latin typeface="微软雅黑"/>
                <ns4:rFonts xmlns:ns4="http://schemas.openxmlformats.org/wordprocessingml/2006/main" ns4:eastAsia="微软雅黑" ns4:ascii="微软雅黑" ns4:hAnsi="微软雅黑"/>
              </a:rPr>
              <a:t>背景 · 需求 · 定位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84048" y="2432304"/>
            <a:ext cx="3657600" cy="384048"/>
          </a:xfrm>
          <a:prstGeom prst="rect">
            <a:avLst/>
          </a:prstGeom>
          <a:solidFill>
            <a:srgbClr val="1E4082"/>
          </a:solidFill>
          <a:ln>
            <a:solidFill>
              <a:srgbClr val="648C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2920" y="2505456"/>
            <a:ext cx="34290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0">
                <a:solidFill>
                  <a:srgbClr val="E2E8F0"/>
                </a:solidFill>
                <a:latin typeface="微软雅黑"/>
                <ns5:rFonts xmlns:ns5="http://schemas.openxmlformats.org/wordprocessingml/2006/main" ns5:eastAsia="微软雅黑" ns5:ascii="微软雅黑" ns5:hAnsi="微软雅黑"/>
              </a:rPr>
              <a:t>老龄化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84048" y="2871216"/>
            <a:ext cx="3657600" cy="384048"/>
          </a:xfrm>
          <a:prstGeom prst="rect">
            <a:avLst/>
          </a:prstGeom>
          <a:solidFill>
            <a:srgbClr val="1E4082"/>
          </a:solidFill>
          <a:ln>
            <a:solidFill>
              <a:srgbClr val="648C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2920" y="2944368"/>
            <a:ext cx="34290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0">
                <a:solidFill>
                  <a:srgbClr val="E2E8F0"/>
                </a:solidFill>
                <a:latin typeface="微软雅黑"/>
                <ns6:rFonts xmlns:ns6="http://schemas.openxmlformats.org/wordprocessingml/2006/main" ns6:eastAsia="微软雅黑" ns6:ascii="微软雅黑" ns6:hAnsi="微软雅黑"/>
              </a:rPr>
              <a:t>方案对比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84048" y="3310128"/>
            <a:ext cx="3657600" cy="384048"/>
          </a:xfrm>
          <a:prstGeom prst="rect">
            <a:avLst/>
          </a:prstGeom>
          <a:solidFill>
            <a:srgbClr val="1E4082"/>
          </a:solidFill>
          <a:ln>
            <a:solidFill>
              <a:srgbClr val="648C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2920" y="3383280"/>
            <a:ext cx="34290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0">
                <a:solidFill>
                  <a:srgbClr val="E2E8F0"/>
                </a:solidFill>
                <a:latin typeface="微软雅黑"/>
                <ns7:rFonts xmlns:ns7="http://schemas.openxmlformats.org/wordprocessingml/2006/main" ns7:eastAsia="微软雅黑" ns7:ascii="微软雅黑" ns7:hAnsi="微软雅黑"/>
              </a:rPr>
              <a:t>项目目标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343400" y="420624"/>
            <a:ext cx="4800600" cy="4430268"/>
          </a:xfrm>
          <a:prstGeom prst="rect">
            <a:avLst/>
          </a:prstGeom>
          <a:solidFill>
            <a:srgbClr val="F1F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4751661" y="3046826"/>
            <a:ext cx="744687" cy="1299865"/>
          </a:xfrm>
          <a:prstGeom prst="roundRect">
            <a:avLst/>
          </a:prstGeom>
          <a:solidFill>
            <a:srgbClr val="2563EB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/>
          <a:lstStyle/>
          <a:p>
            <a:pPr algn="ctr">
              <a:defRPr sz="1000" b="1">
                <a:solidFill>
                  <a:srgbClr val="FFFFFF"/>
                </a:solidFill>
                <a:latin typeface="微软雅黑"/>
              </a:defRPr>
            </a:pPr>
            <a:r>
              <a:t>13.5%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751661" y="4383267"/>
            <a:ext cx="744687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64748B"/>
                </a:solidFill>
                <a:latin typeface="微软雅黑"/>
              </a:defRPr>
            </a:pPr>
            <a:r>
              <a:t>2020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831457" y="2757967"/>
            <a:ext cx="744687" cy="1588724"/>
          </a:xfrm>
          <a:prstGeom prst="roundRect">
            <a:avLst/>
          </a:prstGeom>
          <a:solidFill>
            <a:srgbClr val="0EA5E9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/>
          <a:lstStyle/>
          <a:p>
            <a:pPr algn="ctr">
              <a:defRPr sz="1000" b="1">
                <a:solidFill>
                  <a:srgbClr val="FFFFFF"/>
                </a:solidFill>
                <a:latin typeface="微软雅黑"/>
              </a:defRPr>
            </a:pPr>
            <a:r>
              <a:t>16.5%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831457" y="4383267"/>
            <a:ext cx="744687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64748B"/>
                </a:solidFill>
                <a:latin typeface="微软雅黑"/>
              </a:defRPr>
            </a:pPr>
            <a:r>
              <a:t>2025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911254" y="2372822"/>
            <a:ext cx="744687" cy="1973869"/>
          </a:xfrm>
          <a:prstGeom prst="roundRect">
            <a:avLst/>
          </a:prstGeom>
          <a:solidFill>
            <a:srgbClr val="F59E0B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/>
          <a:lstStyle/>
          <a:p>
            <a:pPr algn="ctr">
              <a:defRPr sz="1000" b="1">
                <a:solidFill>
                  <a:srgbClr val="FFFFFF"/>
                </a:solidFill>
                <a:latin typeface="微软雅黑"/>
              </a:defRPr>
            </a:pPr>
            <a:r>
              <a:t>20.5%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11254" y="4383267"/>
            <a:ext cx="744687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64748B"/>
                </a:solidFill>
                <a:latin typeface="微软雅黑"/>
              </a:defRPr>
            </a:pPr>
            <a:r>
              <a:t>2030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991051" y="2035820"/>
            <a:ext cx="744687" cy="2310871"/>
          </a:xfrm>
          <a:prstGeom prst="roundRect">
            <a:avLst/>
          </a:prstGeom>
          <a:solidFill>
            <a:srgbClr val="DC2626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/>
          <a:lstStyle/>
          <a:p>
            <a:pPr algn="ctr">
              <a:defRPr sz="1000" b="1">
                <a:solidFill>
                  <a:srgbClr val="FFFFFF"/>
                </a:solidFill>
                <a:latin typeface="微软雅黑"/>
              </a:defRPr>
            </a:pPr>
            <a:r>
              <a:t>24.0%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991051" y="4383267"/>
            <a:ext cx="744687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64748B"/>
                </a:solidFill>
                <a:latin typeface="微软雅黑"/>
              </a:defRPr>
            </a:pPr>
            <a:r>
              <a:t>2035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416552" y="1069848"/>
            <a:ext cx="4654296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143278"/>
                </a:solidFill>
                <a:latin typeface="微软雅黑"/>
              </a:defRPr>
            </a:pPr>
            <a:r>
              <a:t>60岁及以上人口占比（%）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420624"/>
          </a:xfrm>
          <a:prstGeom prst="rect">
            <a:avLst/>
          </a:prstGeom>
          <a:solidFill>
            <a:srgbClr val="1432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54864"/>
            <a:ext cx="859536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1">
                <a:solidFill>
                  <a:srgbClr val="FFFFFF"/>
                </a:solidFill>
                <a:latin typeface="微软雅黑"/>
                <ns0:rFonts xmlns:ns0="http://schemas.openxmlformats.org/wordprocessingml/2006/main" ns0:eastAsia="微软雅黑" ns0:ascii="微软雅黑" ns0:hAnsi="微软雅黑"/>
              </a:rPr>
              <a:t>第二十八届中国机器人及人工智能大赛  |  创新赛 · 机器人创新赛道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4905756"/>
            <a:ext cx="9144000" cy="237744"/>
          </a:xfrm>
          <a:prstGeom prst="rect">
            <a:avLst/>
          </a:prstGeom>
          <a:solidFill>
            <a:srgbClr val="DBEA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74320" y="4951476"/>
            <a:ext cx="859536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00" b="0">
                <a:solidFill>
                  <a:srgbClr val="5A6273"/>
                </a:solidFill>
                <a:latin typeface="微软雅黑"/>
                <ns1:rFonts xmlns:ns1="http://schemas.openxmlformats.org/wordprocessingml/2006/main" ns1:eastAsia="微软雅黑" ns1:ascii="微软雅黑" ns1:hAnsi="微软雅黑"/>
              </a:rPr>
              <a:t>从容应队 · 中山大学 · 刘小凡/白冉 · 指导教师 彭键清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4320" y="466344"/>
            <a:ext cx="85953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000" b="1">
                <a:solidFill>
                  <a:srgbClr val="143278"/>
                </a:solidFill>
                <a:latin typeface="微软雅黑"/>
                <ns2:rFonts xmlns:ns2="http://schemas.openxmlformats.org/wordprocessingml/2006/main" ns2:eastAsia="微软雅黑" ns2:ascii="微软雅黑" ns2:hAnsi="微软雅黑"/>
              </a:rPr>
              <a:t>社会背景：老龄化与跌倒风险</a:t>
            </a:r>
          </a:p>
        </p:txBody>
      </p:sp>
      <p:sp>
        <p:nvSpPr>
          <p:cNvPr id="7" name="Rectangle 6"/>
          <p:cNvSpPr/>
          <p:nvPr/>
        </p:nvSpPr>
        <p:spPr>
          <a:xfrm>
            <a:off x="274320" y="886968"/>
            <a:ext cx="1143000" cy="50292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74320" y="996696"/>
            <a:ext cx="3611880" cy="3854196"/>
          </a:xfrm>
          <a:prstGeom prst="rect">
            <a:avLst/>
          </a:prstGeom>
          <a:solidFill>
            <a:srgbClr val="F1F7FF"/>
          </a:solidFill>
          <a:ln w="10160">
            <a:solidFill>
              <a:srgbClr val="BAC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74320" y="996696"/>
            <a:ext cx="73152" cy="3854196"/>
          </a:xfrm>
          <a:prstGeom prst="rect">
            <a:avLst/>
          </a:prstGeom>
          <a:solidFill>
            <a:srgbClr val="1432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200" y="1124712"/>
            <a:ext cx="3246120" cy="803529"/>
          </a:xfrm>
          <a:prstGeom prst="rect">
            <a:avLst/>
          </a:prstGeom>
          <a:noFill/>
        </p:spPr>
        <p:txBody>
          <a:bodyPr wrap="square" anchor="t" lIns="25400" t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</a:pPr>
            <a:r>
              <a:rPr sz="1200" b="0">
                <a:solidFill>
                  <a:srgbClr val="1C202C"/>
                </a:solidFill>
                <a:latin typeface="微软雅黑"/>
                <ns3:rFonts xmlns:ns3="http://schemas.openxmlformats.org/wordprocessingml/2006/main" ns3:eastAsia="微软雅黑" ns3:ascii="微软雅黑" ns3:hAnsi="微软雅黑"/>
              </a:rPr>
              <a:t>● 独居老人变多，跌倒了没人及时发现很常见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1946529"/>
            <a:ext cx="3246120" cy="803529"/>
          </a:xfrm>
          <a:prstGeom prst="rect">
            <a:avLst/>
          </a:prstGeom>
          <a:noFill/>
        </p:spPr>
        <p:txBody>
          <a:bodyPr wrap="square" anchor="t" lIns="25400" t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</a:pPr>
            <a:r>
              <a:rPr sz="1200" b="0">
                <a:solidFill>
                  <a:srgbClr val="1C202C"/>
                </a:solidFill>
                <a:latin typeface="微软雅黑"/>
                <ns4:rFonts xmlns:ns4="http://schemas.openxmlformats.org/wordprocessingml/2006/main" ns4:eastAsia="微软雅黑" ns4:ascii="微软雅黑" ns4:hAnsi="微软雅黑"/>
              </a:rPr>
              <a:t>● 监测设备多，但很少把告警和机器人动作连起来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2768346"/>
            <a:ext cx="3246120" cy="803529"/>
          </a:xfrm>
          <a:prstGeom prst="rect">
            <a:avLst/>
          </a:prstGeom>
          <a:noFill/>
        </p:spPr>
        <p:txBody>
          <a:bodyPr wrap="square" anchor="t" lIns="25400" t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</a:pPr>
            <a:r>
              <a:rPr sz="1200" b="0">
                <a:solidFill>
                  <a:srgbClr val="1C202C"/>
                </a:solidFill>
                <a:latin typeface="微软雅黑"/>
                <ns5:rFonts xmlns:ns5="http://schemas.openxmlformats.org/wordprocessingml/2006/main" ns5:eastAsia="微软雅黑" ns5:ascii="微软雅黑" ns5:hAnsi="微软雅黑"/>
              </a:rPr>
              <a:t>● 政策在推智慧养老，我们按居家场景做验证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3590163"/>
            <a:ext cx="3246120" cy="803529"/>
          </a:xfrm>
          <a:prstGeom prst="rect">
            <a:avLst/>
          </a:prstGeom>
          <a:noFill/>
        </p:spPr>
        <p:txBody>
          <a:bodyPr wrap="square" anchor="t" lIns="25400" t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</a:pPr>
            <a:r>
              <a:rPr sz="1200" b="0">
                <a:solidFill>
                  <a:srgbClr val="1C202C"/>
                </a:solidFill>
                <a:latin typeface="微软雅黑"/>
                <ns6:rFonts xmlns:ns6="http://schemas.openxmlformats.org/wordprocessingml/2006/main" ns6:eastAsia="微软雅黑" ns6:ascii="微软雅黑" ns6:hAnsi="微软雅黑"/>
              </a:rPr>
              <a:t>● 用仿真平台先把流程跑通，再对接人形机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65760" y="4521708"/>
            <a:ext cx="3429000" cy="310896"/>
          </a:xfrm>
          <a:prstGeom prst="rect">
            <a:avLst/>
          </a:prstGeom>
          <a:solidFill>
            <a:srgbClr val="1432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02336" y="4585716"/>
            <a:ext cx="3355848" cy="201167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微软雅黑"/>
                <ns7:rFonts xmlns:ns7="http://schemas.openxmlformats.org/wordprocessingml/2006/main" ns7:eastAsia="微软雅黑" ns7:ascii="微软雅黑" ns7:hAnsi="微软雅黑"/>
              </a:rPr>
              <a:t>难点：发现慢，闭环弱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453859" y="3048028"/>
            <a:ext cx="753465" cy="1312562"/>
          </a:xfrm>
          <a:prstGeom prst="roundRect">
            <a:avLst/>
          </a:prstGeom>
          <a:solidFill>
            <a:srgbClr val="2563EB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/>
          <a:lstStyle/>
          <a:p>
            <a:pPr algn="ctr">
              <a:defRPr sz="1000" b="1">
                <a:solidFill>
                  <a:srgbClr val="FFFFFF"/>
                </a:solidFill>
                <a:latin typeface="微软雅黑"/>
              </a:defRPr>
            </a:pPr>
            <a:r>
              <a:t>13.5%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53859" y="4397166"/>
            <a:ext cx="753465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64748B"/>
                </a:solidFill>
                <a:latin typeface="微软雅黑"/>
              </a:defRPr>
            </a:pPr>
            <a:r>
              <a:t>2020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546384" y="2756347"/>
            <a:ext cx="753465" cy="1604242"/>
          </a:xfrm>
          <a:prstGeom prst="roundRect">
            <a:avLst/>
          </a:prstGeom>
          <a:solidFill>
            <a:srgbClr val="0EA5E9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/>
          <a:lstStyle/>
          <a:p>
            <a:pPr algn="ctr">
              <a:defRPr sz="1000" b="1">
                <a:solidFill>
                  <a:srgbClr val="FFFFFF"/>
                </a:solidFill>
                <a:latin typeface="微软雅黑"/>
              </a:defRPr>
            </a:pPr>
            <a:r>
              <a:t>16.5%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546384" y="4397166"/>
            <a:ext cx="753465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64748B"/>
                </a:solidFill>
                <a:latin typeface="微软雅黑"/>
              </a:defRPr>
            </a:pPr>
            <a:r>
              <a:t>2025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638909" y="2367440"/>
            <a:ext cx="753465" cy="1993150"/>
          </a:xfrm>
          <a:prstGeom prst="roundRect">
            <a:avLst/>
          </a:prstGeom>
          <a:solidFill>
            <a:srgbClr val="F59E0B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/>
          <a:lstStyle/>
          <a:p>
            <a:pPr algn="ctr">
              <a:defRPr sz="1000" b="1">
                <a:solidFill>
                  <a:srgbClr val="FFFFFF"/>
                </a:solidFill>
                <a:latin typeface="微软雅黑"/>
              </a:defRPr>
            </a:pPr>
            <a:r>
              <a:t>20.5%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638909" y="4397166"/>
            <a:ext cx="753465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64748B"/>
                </a:solidFill>
                <a:latin typeface="微软雅黑"/>
              </a:defRPr>
            </a:pPr>
            <a:r>
              <a:t>2030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731434" y="2027146"/>
            <a:ext cx="753465" cy="2333444"/>
          </a:xfrm>
          <a:prstGeom prst="roundRect">
            <a:avLst/>
          </a:prstGeom>
          <a:solidFill>
            <a:srgbClr val="DC2626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/>
          <a:lstStyle/>
          <a:p>
            <a:pPr algn="ctr">
              <a:defRPr sz="1000" b="1">
                <a:solidFill>
                  <a:srgbClr val="FFFFFF"/>
                </a:solidFill>
                <a:latin typeface="微软雅黑"/>
              </a:defRPr>
            </a:pPr>
            <a:r>
              <a:t>24.0%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731434" y="4397166"/>
            <a:ext cx="753465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64748B"/>
                </a:solidFill>
                <a:latin typeface="微软雅黑"/>
              </a:defRPr>
            </a:pPr>
            <a:r>
              <a:t>2035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114800" y="1051560"/>
            <a:ext cx="470916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143278"/>
                </a:solidFill>
                <a:latin typeface="微软雅黑"/>
              </a:defRPr>
            </a:pPr>
            <a:r>
              <a:t>60岁及以上人口占比（%）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420624"/>
          </a:xfrm>
          <a:prstGeom prst="rect">
            <a:avLst/>
          </a:prstGeom>
          <a:solidFill>
            <a:srgbClr val="1432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54864"/>
            <a:ext cx="859536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1">
                <a:solidFill>
                  <a:srgbClr val="FFFFFF"/>
                </a:solidFill>
                <a:latin typeface="微软雅黑"/>
                <ns0:rFonts xmlns:ns0="http://schemas.openxmlformats.org/wordprocessingml/2006/main" ns0:eastAsia="微软雅黑" ns0:ascii="微软雅黑" ns0:hAnsi="微软雅黑"/>
              </a:rPr>
              <a:t>第二十八届中国机器人及人工智能大赛  |  创新赛 · 机器人创新赛道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4905756"/>
            <a:ext cx="9144000" cy="237744"/>
          </a:xfrm>
          <a:prstGeom prst="rect">
            <a:avLst/>
          </a:prstGeom>
          <a:solidFill>
            <a:srgbClr val="DBEA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74320" y="4951476"/>
            <a:ext cx="859536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00" b="0">
                <a:solidFill>
                  <a:srgbClr val="5A6273"/>
                </a:solidFill>
                <a:latin typeface="微软雅黑"/>
                <ns1:rFonts xmlns:ns1="http://schemas.openxmlformats.org/wordprocessingml/2006/main" ns1:eastAsia="微软雅黑" ns1:ascii="微软雅黑" ns1:hAnsi="微软雅黑"/>
              </a:rPr>
              <a:t>从容应队 · 中山大学 · 刘小凡/白冉 · 指导教师 彭键清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4320" y="466344"/>
            <a:ext cx="85953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000" b="1">
                <a:solidFill>
                  <a:srgbClr val="143278"/>
                </a:solidFill>
                <a:latin typeface="微软雅黑"/>
                <ns2:rFonts xmlns:ns2="http://schemas.openxmlformats.org/wordprocessingml/2006/main" ns2:eastAsia="微软雅黑" ns2:ascii="微软雅黑" ns2:hAnsi="微软雅黑"/>
              </a:rPr>
              <a:t>和常见方案比一比</a:t>
            </a:r>
          </a:p>
        </p:txBody>
      </p:sp>
      <p:sp>
        <p:nvSpPr>
          <p:cNvPr id="7" name="Rectangle 6"/>
          <p:cNvSpPr/>
          <p:nvPr/>
        </p:nvSpPr>
        <p:spPr>
          <a:xfrm>
            <a:off x="274320" y="886968"/>
            <a:ext cx="1143000" cy="50292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74320" y="996696"/>
            <a:ext cx="3611880" cy="3854196"/>
          </a:xfrm>
          <a:prstGeom prst="rect">
            <a:avLst/>
          </a:prstGeom>
          <a:solidFill>
            <a:srgbClr val="F1F7FF"/>
          </a:solidFill>
          <a:ln w="10160">
            <a:solidFill>
              <a:srgbClr val="BAC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74320" y="996696"/>
            <a:ext cx="73152" cy="3854196"/>
          </a:xfrm>
          <a:prstGeom prst="rect">
            <a:avLst/>
          </a:prstGeom>
          <a:solidFill>
            <a:srgbClr val="1432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200" y="1124712"/>
            <a:ext cx="3246120" cy="885825"/>
          </a:xfrm>
          <a:prstGeom prst="rect">
            <a:avLst/>
          </a:prstGeom>
          <a:noFill/>
        </p:spPr>
        <p:txBody>
          <a:bodyPr wrap="square" anchor="t" lIns="25400" t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</a:pPr>
            <a:r>
              <a:rPr sz="1200" b="0">
                <a:solidFill>
                  <a:srgbClr val="1C202C"/>
                </a:solidFill>
                <a:latin typeface="微软雅黑"/>
                <ns3:rFonts xmlns:ns3="http://schemas.openxmlformats.org/wordprocessingml/2006/main" ns3:eastAsia="微软雅黑" ns3:ascii="微软雅黑" ns3:hAnsi="微软雅黑"/>
              </a:rPr>
              <a:t>● 我们不是把音箱、摄像头、手环简单拼在一起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2028825"/>
            <a:ext cx="3246120" cy="885825"/>
          </a:xfrm>
          <a:prstGeom prst="rect">
            <a:avLst/>
          </a:prstGeom>
          <a:noFill/>
        </p:spPr>
        <p:txBody>
          <a:bodyPr wrap="square" anchor="t" lIns="25400" t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</a:pPr>
            <a:r>
              <a:rPr sz="1200" b="0">
                <a:solidFill>
                  <a:srgbClr val="1C202C"/>
                </a:solidFill>
                <a:latin typeface="微软雅黑"/>
                <ns4:rFonts xmlns:ns4="http://schemas.openxmlformats.org/wordprocessingml/2006/main" ns4:eastAsia="微软雅黑" ns4:ascii="微软雅黑" ns4:hAnsi="微软雅黑"/>
              </a:rPr>
              <a:t>● 用统一调度把感知、决策、执行串成一条链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2932938"/>
            <a:ext cx="3246120" cy="885825"/>
          </a:xfrm>
          <a:prstGeom prst="rect">
            <a:avLst/>
          </a:prstGeom>
          <a:noFill/>
        </p:spPr>
        <p:txBody>
          <a:bodyPr wrap="square" anchor="t" lIns="25400" t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</a:pPr>
            <a:r>
              <a:rPr sz="1200" b="0">
                <a:solidFill>
                  <a:srgbClr val="1C202C"/>
                </a:solidFill>
                <a:latin typeface="微软雅黑"/>
                <ns5:rFonts xmlns:ns5="http://schemas.openxmlformats.org/wordprocessingml/2006/main" ns5:eastAsia="微软雅黑" ns5:ascii="微软雅黑" ns5:hAnsi="微软雅黑"/>
              </a:rPr>
              <a:t>● 风险结果能解释，方便答辩和后期调参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3837051"/>
            <a:ext cx="3246120" cy="885825"/>
          </a:xfrm>
          <a:prstGeom prst="rect">
            <a:avLst/>
          </a:prstGeom>
          <a:noFill/>
        </p:spPr>
        <p:txBody>
          <a:bodyPr wrap="square" anchor="t" lIns="25400" t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</a:pPr>
            <a:r>
              <a:rPr sz="1200" b="0">
                <a:solidFill>
                  <a:srgbClr val="1C202C"/>
                </a:solidFill>
                <a:latin typeface="微软雅黑"/>
                <ns6:rFonts xmlns:ns6="http://schemas.openxmlformats.org/wordprocessingml/2006/main" ns6:eastAsia="微软雅黑" ns6:ascii="微软雅黑" ns6:hAnsi="微软雅黑"/>
              </a:rPr>
              <a:t>● 仓库里带 Web 和脚本，老师可以现场点着看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114800" y="1051560"/>
            <a:ext cx="2166213" cy="201168"/>
          </a:xfrm>
          <a:prstGeom prst="roundRect">
            <a:avLst/>
          </a:prstGeom>
          <a:solidFill>
            <a:srgbClr val="64748B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/>
          <a:lstStyle/>
          <a:p>
            <a:pPr algn="ctr">
              <a:defRPr sz="1000" b="1">
                <a:solidFill>
                  <a:srgbClr val="FFFFFF"/>
                </a:solidFill>
                <a:latin typeface="微软雅黑"/>
              </a:defRPr>
            </a:pPr>
            <a:r>
              <a:t>常见做法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657746" y="1051560"/>
            <a:ext cx="2166213" cy="201168"/>
          </a:xfrm>
          <a:prstGeom prst="roundRect">
            <a:avLst/>
          </a:prstGeom>
          <a:solidFill>
            <a:srgbClr val="143278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/>
          <a:lstStyle/>
          <a:p>
            <a:pPr algn="ctr">
              <a:defRPr sz="1000" b="1">
                <a:solidFill>
                  <a:srgbClr val="FFFFFF"/>
                </a:solidFill>
                <a:latin typeface="微软雅黑"/>
              </a:defRPr>
            </a:pPr>
            <a:r>
              <a:t>本作品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114800" y="1289304"/>
            <a:ext cx="2166213" cy="819531"/>
          </a:xfrm>
          <a:prstGeom prst="roundRect">
            <a:avLst/>
          </a:prstGeom>
          <a:solidFill>
            <a:srgbClr val="FEE2E2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/>
          <a:lstStyle/>
          <a:p>
            <a:pPr algn="ctr">
              <a:defRPr sz="1000" b="0">
                <a:solidFill>
                  <a:srgbClr val="DC2626"/>
                </a:solidFill>
                <a:latin typeface="微软雅黑"/>
              </a:defRPr>
            </a:pPr>
            <a:r>
              <a:t>音箱各自为战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657746" y="1289304"/>
            <a:ext cx="2166213" cy="819531"/>
          </a:xfrm>
          <a:prstGeom prst="roundRect">
            <a:avLst/>
          </a:prstGeom>
          <a:solidFill>
            <a:srgbClr val="DBEAFE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/>
          <a:lstStyle/>
          <a:p>
            <a:pPr algn="ctr">
              <a:defRPr sz="1000" b="0">
                <a:solidFill>
                  <a:srgbClr val="143278"/>
                </a:solidFill>
                <a:latin typeface="微软雅黑"/>
              </a:defRPr>
            </a:pPr>
            <a:r>
              <a:t>多模态统一输入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114800" y="2154555"/>
            <a:ext cx="2166213" cy="819531"/>
          </a:xfrm>
          <a:prstGeom prst="roundRect">
            <a:avLst/>
          </a:prstGeom>
          <a:solidFill>
            <a:srgbClr val="FEE2E2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/>
          <a:lstStyle/>
          <a:p>
            <a:pPr algn="ctr">
              <a:defRPr sz="1000" b="0">
                <a:solidFill>
                  <a:srgbClr val="DC2626"/>
                </a:solidFill>
                <a:latin typeface="微软雅黑"/>
              </a:defRPr>
            </a:pPr>
            <a:r>
              <a:t>摄像头只报警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657746" y="2154555"/>
            <a:ext cx="2166213" cy="819531"/>
          </a:xfrm>
          <a:prstGeom prst="roundRect">
            <a:avLst/>
          </a:prstGeom>
          <a:solidFill>
            <a:srgbClr val="DBEAFE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/>
          <a:lstStyle/>
          <a:p>
            <a:pPr algn="ctr">
              <a:defRPr sz="1000" b="0">
                <a:solidFill>
                  <a:srgbClr val="143278"/>
                </a:solidFill>
                <a:latin typeface="微软雅黑"/>
              </a:defRPr>
            </a:pPr>
            <a:r>
              <a:t>风险可解释输出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114800" y="3019806"/>
            <a:ext cx="2166213" cy="819531"/>
          </a:xfrm>
          <a:prstGeom prst="roundRect">
            <a:avLst/>
          </a:prstGeom>
          <a:solidFill>
            <a:srgbClr val="FEE2E2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/>
          <a:lstStyle/>
          <a:p>
            <a:pPr algn="ctr">
              <a:defRPr sz="1000" b="0">
                <a:solidFill>
                  <a:srgbClr val="DC2626"/>
                </a:solidFill>
                <a:latin typeface="微软雅黑"/>
              </a:defRPr>
            </a:pPr>
            <a:r>
              <a:t>手环难判跌倒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657746" y="3019806"/>
            <a:ext cx="2166213" cy="819531"/>
          </a:xfrm>
          <a:prstGeom prst="roundRect">
            <a:avLst/>
          </a:prstGeom>
          <a:solidFill>
            <a:srgbClr val="DBEAFE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/>
          <a:lstStyle/>
          <a:p>
            <a:pPr algn="ctr">
              <a:defRPr sz="1000" b="0">
                <a:solidFill>
                  <a:srgbClr val="143278"/>
                </a:solidFill>
                <a:latin typeface="微软雅黑"/>
              </a:defRPr>
            </a:pPr>
            <a:r>
              <a:t>骨架+规则检测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114800" y="3885057"/>
            <a:ext cx="2166213" cy="819531"/>
          </a:xfrm>
          <a:prstGeom prst="roundRect">
            <a:avLst/>
          </a:prstGeom>
          <a:solidFill>
            <a:srgbClr val="FEE2E2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/>
          <a:lstStyle/>
          <a:p>
            <a:pPr algn="ctr">
              <a:defRPr sz="1000" b="0">
                <a:solidFill>
                  <a:srgbClr val="DC2626"/>
                </a:solidFill>
                <a:latin typeface="微软雅黑"/>
              </a:defRPr>
            </a:pPr>
            <a:r>
              <a:t>难复现演示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657746" y="3885057"/>
            <a:ext cx="2166213" cy="819531"/>
          </a:xfrm>
          <a:prstGeom prst="roundRect">
            <a:avLst/>
          </a:prstGeom>
          <a:solidFill>
            <a:srgbClr val="DBEAFE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/>
          <a:lstStyle/>
          <a:p>
            <a:pPr algn="ctr">
              <a:defRPr sz="1000" b="0">
                <a:solidFill>
                  <a:srgbClr val="143278"/>
                </a:solidFill>
                <a:latin typeface="微软雅黑"/>
              </a:defRPr>
            </a:pPr>
            <a:r>
              <a:t>Web+脚本开源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420624"/>
          </a:xfrm>
          <a:prstGeom prst="rect">
            <a:avLst/>
          </a:prstGeom>
          <a:solidFill>
            <a:srgbClr val="1432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54864"/>
            <a:ext cx="859536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1">
                <a:solidFill>
                  <a:srgbClr val="FFFFFF"/>
                </a:solidFill>
                <a:latin typeface="微软雅黑"/>
                <ns0:rFonts xmlns:ns0="http://schemas.openxmlformats.org/wordprocessingml/2006/main" ns0:eastAsia="微软雅黑" ns0:ascii="微软雅黑" ns0:hAnsi="微软雅黑"/>
              </a:rPr>
              <a:t>第二十八届中国机器人及人工智能大赛  |  创新赛 · 机器人创新赛道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4905756"/>
            <a:ext cx="9144000" cy="237744"/>
          </a:xfrm>
          <a:prstGeom prst="rect">
            <a:avLst/>
          </a:prstGeom>
          <a:solidFill>
            <a:srgbClr val="DBEA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74320" y="4951476"/>
            <a:ext cx="859536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00" b="0">
                <a:solidFill>
                  <a:srgbClr val="5A6273"/>
                </a:solidFill>
                <a:latin typeface="微软雅黑"/>
                <ns1:rFonts xmlns:ns1="http://schemas.openxmlformats.org/wordprocessingml/2006/main" ns1:eastAsia="微软雅黑" ns1:ascii="微软雅黑" ns1:hAnsi="微软雅黑"/>
              </a:rPr>
              <a:t>从容应队 · 中山大学 · 刘小凡/白冉 · 指导教师 彭键清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4320" y="466344"/>
            <a:ext cx="85953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000" b="1">
                <a:solidFill>
                  <a:srgbClr val="143278"/>
                </a:solidFill>
                <a:latin typeface="微软雅黑"/>
                <ns2:rFonts xmlns:ns2="http://schemas.openxmlformats.org/wordprocessingml/2006/main" ns2:eastAsia="微软雅黑" ns2:ascii="微软雅黑" ns2:hAnsi="微软雅黑"/>
              </a:rPr>
              <a:t>项目要做什么</a:t>
            </a:r>
          </a:p>
        </p:txBody>
      </p:sp>
      <p:sp>
        <p:nvSpPr>
          <p:cNvPr id="7" name="Rectangle 6"/>
          <p:cNvSpPr/>
          <p:nvPr/>
        </p:nvSpPr>
        <p:spPr>
          <a:xfrm>
            <a:off x="274320" y="886968"/>
            <a:ext cx="1143000" cy="50292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74320" y="996696"/>
            <a:ext cx="3611880" cy="3854196"/>
          </a:xfrm>
          <a:prstGeom prst="rect">
            <a:avLst/>
          </a:prstGeom>
          <a:solidFill>
            <a:srgbClr val="F1F7FF"/>
          </a:solidFill>
          <a:ln w="10160">
            <a:solidFill>
              <a:srgbClr val="BAC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74320" y="996696"/>
            <a:ext cx="73152" cy="3854196"/>
          </a:xfrm>
          <a:prstGeom prst="rect">
            <a:avLst/>
          </a:prstGeom>
          <a:solidFill>
            <a:srgbClr val="1432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200" y="1124712"/>
            <a:ext cx="3246120" cy="803529"/>
          </a:xfrm>
          <a:prstGeom prst="rect">
            <a:avLst/>
          </a:prstGeom>
          <a:noFill/>
        </p:spPr>
        <p:txBody>
          <a:bodyPr wrap="square" anchor="t" lIns="25400" t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</a:pPr>
            <a:r>
              <a:rPr sz="1200" b="0">
                <a:solidFill>
                  <a:srgbClr val="1C202C"/>
                </a:solidFill>
                <a:latin typeface="微软雅黑"/>
                <ns3:rFonts xmlns:ns3="http://schemas.openxmlformats.org/wordprocessingml/2006/main" ns3:eastAsia="微软雅黑" ns3:ascii="微软雅黑" ns3:hAnsi="微软雅黑"/>
              </a:rPr>
              <a:t>● CareCompanion：养老场景的人形陪伴软件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1946529"/>
            <a:ext cx="3246120" cy="803529"/>
          </a:xfrm>
          <a:prstGeom prst="rect">
            <a:avLst/>
          </a:prstGeom>
          <a:noFill/>
        </p:spPr>
        <p:txBody>
          <a:bodyPr wrap="square" anchor="t" lIns="25400" t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</a:pPr>
            <a:r>
              <a:rPr sz="1200" b="0">
                <a:solidFill>
                  <a:srgbClr val="1C202C"/>
                </a:solidFill>
                <a:latin typeface="微软雅黑"/>
                <ns4:rFonts xmlns:ns4="http://schemas.openxmlformats.org/wordprocessingml/2006/main" ns4:eastAsia="微软雅黑" ns4:ascii="微软雅黑" ns4:hAnsi="微软雅黑"/>
              </a:rPr>
              <a:t>● 核心是 CareOrchestrator，负责模块调度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2768346"/>
            <a:ext cx="3246120" cy="803529"/>
          </a:xfrm>
          <a:prstGeom prst="rect">
            <a:avLst/>
          </a:prstGeom>
          <a:noFill/>
        </p:spPr>
        <p:txBody>
          <a:bodyPr wrap="square" anchor="t" lIns="25400" t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</a:pPr>
            <a:r>
              <a:rPr sz="1200" b="0">
                <a:solidFill>
                  <a:srgbClr val="1C202C"/>
                </a:solidFill>
                <a:latin typeface="微软雅黑"/>
                <ns5:rFonts xmlns:ns5="http://schemas.openxmlformats.org/wordprocessingml/2006/main" ns5:eastAsia="微软雅黑" ns5:ascii="微软雅黑" ns5:hAnsi="微软雅黑"/>
              </a:rPr>
              <a:t>● 跌倒要能检、要能触发紧急流程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3590163"/>
            <a:ext cx="3246120" cy="803529"/>
          </a:xfrm>
          <a:prstGeom prst="rect">
            <a:avLst/>
          </a:prstGeom>
          <a:noFill/>
        </p:spPr>
        <p:txBody>
          <a:bodyPr wrap="square" anchor="t" lIns="25400" t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</a:pPr>
            <a:r>
              <a:rPr sz="1200" b="0">
                <a:solidFill>
                  <a:srgbClr val="1C202C"/>
                </a:solidFill>
                <a:latin typeface="微软雅黑"/>
                <ns6:rFonts xmlns:ns6="http://schemas.openxmlformats.org/wordprocessingml/2006/main" ns6:eastAsia="微软雅黑" ns6:ascii="微软雅黑" ns6:hAnsi="微软雅黑"/>
              </a:rPr>
              <a:t>● 对话和机器人动作要能联动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65760" y="4521708"/>
            <a:ext cx="3429000" cy="310896"/>
          </a:xfrm>
          <a:prstGeom prst="rect">
            <a:avLst/>
          </a:prstGeom>
          <a:solidFill>
            <a:srgbClr val="1432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02336" y="4585716"/>
            <a:ext cx="3355848" cy="201167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微软雅黑"/>
                <ns7:rFonts xmlns:ns7="http://schemas.openxmlformats.org/wordprocessingml/2006/main" ns7:eastAsia="微软雅黑" ns7:ascii="微软雅黑" ns7:hAnsi="微软雅黑"/>
              </a:rPr>
              <a:t>目标在系统里都能点到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187952" y="1078992"/>
            <a:ext cx="4562856" cy="764667"/>
          </a:xfrm>
          <a:prstGeom prst="roundRect">
            <a:avLst/>
          </a:prstGeom>
          <a:solidFill>
            <a:srgbClr val="0EA5E9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/>
          <a:lstStyle/>
          <a:p>
            <a:pPr algn="ctr">
              <a:defRPr sz="1100" b="1">
                <a:solidFill>
                  <a:srgbClr val="FFFFFF"/>
                </a:solidFill>
                <a:latin typeface="微软雅黑"/>
              </a:defRPr>
            </a:pPr>
            <a:r>
              <a:t>交互层</a:t>
            </a:r>
            <a:br/>
            <a:r>
              <a:t>Web / GUI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187952" y="1898523"/>
            <a:ext cx="4562856" cy="764667"/>
          </a:xfrm>
          <a:prstGeom prst="roundRect">
            <a:avLst/>
          </a:prstGeom>
          <a:solidFill>
            <a:srgbClr val="2563EB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/>
          <a:lstStyle/>
          <a:p>
            <a:pPr algn="ctr">
              <a:defRPr sz="1100" b="1">
                <a:solidFill>
                  <a:srgbClr val="FFFFFF"/>
                </a:solidFill>
                <a:latin typeface="微软雅黑"/>
              </a:defRPr>
            </a:pPr>
            <a:r>
              <a:t>认知层</a:t>
            </a:r>
            <a:br/>
            <a:r>
              <a:t>风险 · 对话 · 规划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187952" y="2718054"/>
            <a:ext cx="4562856" cy="764667"/>
          </a:xfrm>
          <a:prstGeom prst="roundRect">
            <a:avLst/>
          </a:prstGeom>
          <a:solidFill>
            <a:srgbClr val="10B981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/>
          <a:lstStyle/>
          <a:p>
            <a:pPr algn="ctr">
              <a:defRPr sz="1100" b="1">
                <a:solidFill>
                  <a:srgbClr val="FFFFFF"/>
                </a:solidFill>
                <a:latin typeface="微软雅黑"/>
              </a:defRPr>
            </a:pPr>
            <a:r>
              <a:t>感知层</a:t>
            </a:r>
            <a:br/>
            <a:r>
              <a:t>跌倒 · 情绪 · 视觉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187952" y="3537585"/>
            <a:ext cx="4562856" cy="764667"/>
          </a:xfrm>
          <a:prstGeom prst="roundRect">
            <a:avLst/>
          </a:prstGeom>
          <a:solidFill>
            <a:srgbClr val="F59E0B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/>
          <a:lstStyle/>
          <a:p>
            <a:pPr algn="ctr">
              <a:defRPr sz="1100" b="1">
                <a:solidFill>
                  <a:srgbClr val="FFFFFF"/>
                </a:solidFill>
                <a:latin typeface="微软雅黑"/>
              </a:defRPr>
            </a:pPr>
            <a:r>
              <a:t>执行层</a:t>
            </a:r>
            <a:br/>
            <a:r>
              <a:t>机器人 / ROS2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150815" y="4375404"/>
            <a:ext cx="2637129" cy="384048"/>
          </a:xfrm>
          <a:prstGeom prst="roundRect">
            <a:avLst/>
          </a:prstGeom>
          <a:solidFill>
            <a:srgbClr val="143278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/>
          <a:lstStyle/>
          <a:p>
            <a:pPr algn="ctr">
              <a:defRPr sz="1000" b="1">
                <a:solidFill>
                  <a:srgbClr val="FFFFFF"/>
                </a:solidFill>
                <a:latin typeface="微软雅黑"/>
              </a:defRPr>
            </a:pPr>
            <a:r>
              <a:t>CareOrchestrator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6469380" y="1834515"/>
            <a:ext cx="0" cy="54864"/>
          </a:xfrm>
          <a:prstGeom prst="line">
            <a:avLst/>
          </a:prstGeom>
          <a:ln w="25400">
            <a:solidFill>
              <a:srgbClr val="64748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6469380" y="2654046"/>
            <a:ext cx="0" cy="54864"/>
          </a:xfrm>
          <a:prstGeom prst="line">
            <a:avLst/>
          </a:prstGeom>
          <a:ln w="25400">
            <a:solidFill>
              <a:srgbClr val="64748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6469380" y="3473577"/>
            <a:ext cx="0" cy="54864"/>
          </a:xfrm>
          <a:prstGeom prst="line">
            <a:avLst/>
          </a:prstGeom>
          <a:ln w="25400">
            <a:solidFill>
              <a:srgbClr val="64748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420624"/>
          </a:xfrm>
          <a:prstGeom prst="rect">
            <a:avLst/>
          </a:prstGeom>
          <a:solidFill>
            <a:srgbClr val="1432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54864"/>
            <a:ext cx="859536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1">
                <a:solidFill>
                  <a:srgbClr val="FFFFFF"/>
                </a:solidFill>
                <a:latin typeface="微软雅黑"/>
                <ns0:rFonts xmlns:ns0="http://schemas.openxmlformats.org/wordprocessingml/2006/main" ns0:eastAsia="微软雅黑" ns0:ascii="微软雅黑" ns0:hAnsi="微软雅黑"/>
              </a:rPr>
              <a:t>第二十八届中国机器人及人工智能大赛  |  创新赛 · 机器人创新赛道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4905756"/>
            <a:ext cx="9144000" cy="237744"/>
          </a:xfrm>
          <a:prstGeom prst="rect">
            <a:avLst/>
          </a:prstGeom>
          <a:solidFill>
            <a:srgbClr val="DBEA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74320" y="4951476"/>
            <a:ext cx="859536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00" b="0">
                <a:solidFill>
                  <a:srgbClr val="5A6273"/>
                </a:solidFill>
                <a:latin typeface="微软雅黑"/>
                <ns1:rFonts xmlns:ns1="http://schemas.openxmlformats.org/wordprocessingml/2006/main" ns1:eastAsia="微软雅黑" ns1:ascii="微软雅黑" ns1:hAnsi="微软雅黑"/>
              </a:rPr>
              <a:t>从容应队 · 中山大学 · 刘小凡/白冉 · 指导教师 彭键清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420624"/>
            <a:ext cx="4343400" cy="4430268"/>
          </a:xfrm>
          <a:prstGeom prst="rect">
            <a:avLst/>
          </a:prstGeom>
          <a:solidFill>
            <a:srgbClr val="1432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384048" y="740664"/>
            <a:ext cx="658368" cy="658368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84048" y="804672"/>
            <a:ext cx="658368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200" b="1">
                <a:solidFill>
                  <a:srgbClr val="FFFFFF"/>
                </a:solidFill>
                <a:latin typeface="微软雅黑"/>
                <ns2:rFonts xmlns:ns2="http://schemas.openxmlformats.org/wordprocessingml/2006/main" ns2:eastAsia="微软雅黑" ns2:ascii="微软雅黑" ns2:hAnsi="微软雅黑"/>
              </a:rPr>
              <a:t>二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47472" y="1472184"/>
            <a:ext cx="384048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FFFFFF"/>
                </a:solidFill>
                <a:latin typeface="微软雅黑"/>
                <ns3:rFonts xmlns:ns3="http://schemas.openxmlformats.org/wordprocessingml/2006/main" ns3:eastAsia="微软雅黑" ns3:ascii="微软雅黑" ns3:hAnsi="微软雅黑"/>
              </a:rPr>
              <a:t>第二部分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1947672"/>
            <a:ext cx="384048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0">
                <a:solidFill>
                  <a:srgbClr val="BFDBFE"/>
                </a:solidFill>
                <a:latin typeface="微软雅黑"/>
                <ns4:rFonts xmlns:ns4="http://schemas.openxmlformats.org/wordprocessingml/2006/main" ns4:eastAsia="微软雅黑" ns4:ascii="微软雅黑" ns4:hAnsi="微软雅黑"/>
              </a:rPr>
              <a:t>模型 · 架构 · 算法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84048" y="2432304"/>
            <a:ext cx="3657600" cy="384048"/>
          </a:xfrm>
          <a:prstGeom prst="rect">
            <a:avLst/>
          </a:prstGeom>
          <a:solidFill>
            <a:srgbClr val="1E4082"/>
          </a:solidFill>
          <a:ln>
            <a:solidFill>
              <a:srgbClr val="648C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2920" y="2505456"/>
            <a:ext cx="34290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0">
                <a:solidFill>
                  <a:srgbClr val="E2E8F0"/>
                </a:solidFill>
                <a:latin typeface="微软雅黑"/>
                <ns5:rFonts xmlns:ns5="http://schemas.openxmlformats.org/wordprocessingml/2006/main" ns5:eastAsia="微软雅黑" ns5:ascii="微软雅黑" ns5:hAnsi="微软雅黑"/>
              </a:rPr>
              <a:t>四层架构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84048" y="2871216"/>
            <a:ext cx="3657600" cy="384048"/>
          </a:xfrm>
          <a:prstGeom prst="rect">
            <a:avLst/>
          </a:prstGeom>
          <a:solidFill>
            <a:srgbClr val="1E4082"/>
          </a:solidFill>
          <a:ln>
            <a:solidFill>
              <a:srgbClr val="648C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2920" y="2944368"/>
            <a:ext cx="34290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0">
                <a:solidFill>
                  <a:srgbClr val="E2E8F0"/>
                </a:solidFill>
                <a:latin typeface="微软雅黑"/>
                <ns6:rFonts xmlns:ns6="http://schemas.openxmlformats.org/wordprocessingml/2006/main" ns6:eastAsia="微软雅黑" ns6:ascii="微软雅黑" ns6:hAnsi="微软雅黑"/>
              </a:rPr>
              <a:t>状态机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84048" y="3310128"/>
            <a:ext cx="3657600" cy="384048"/>
          </a:xfrm>
          <a:prstGeom prst="rect">
            <a:avLst/>
          </a:prstGeom>
          <a:solidFill>
            <a:srgbClr val="1E4082"/>
          </a:solidFill>
          <a:ln>
            <a:solidFill>
              <a:srgbClr val="648C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2920" y="3383280"/>
            <a:ext cx="34290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0">
                <a:solidFill>
                  <a:srgbClr val="E2E8F0"/>
                </a:solidFill>
                <a:latin typeface="微软雅黑"/>
                <ns7:rFonts xmlns:ns7="http://schemas.openxmlformats.org/wordprocessingml/2006/main" ns7:eastAsia="微软雅黑" ns7:ascii="微软雅黑" ns7:hAnsi="微软雅黑"/>
              </a:rPr>
              <a:t>融合与检测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343400" y="420624"/>
            <a:ext cx="4800600" cy="4430268"/>
          </a:xfrm>
          <a:prstGeom prst="rect">
            <a:avLst/>
          </a:prstGeom>
          <a:solidFill>
            <a:srgbClr val="F1F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4462272" y="2474457"/>
            <a:ext cx="1083564" cy="1048451"/>
          </a:xfrm>
          <a:prstGeom prst="roundRect">
            <a:avLst/>
          </a:prstGeom>
          <a:solidFill>
            <a:srgbClr val="2563EB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/>
          <a:lstStyle/>
          <a:p>
            <a:pPr algn="ctr">
              <a:defRPr sz="1100" b="1">
                <a:solidFill>
                  <a:srgbClr val="FFFFFF"/>
                </a:solidFill>
                <a:latin typeface="微软雅黑"/>
              </a:defRPr>
            </a:pPr>
            <a:r>
              <a:t>监测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591556" y="2474457"/>
            <a:ext cx="1083564" cy="1048451"/>
          </a:xfrm>
          <a:prstGeom prst="roundRect">
            <a:avLst/>
          </a:prstGeom>
          <a:solidFill>
            <a:srgbClr val="2563EB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/>
          <a:lstStyle/>
          <a:p>
            <a:pPr algn="ctr">
              <a:defRPr sz="1100" b="1">
                <a:solidFill>
                  <a:srgbClr val="FFFFFF"/>
                </a:solidFill>
                <a:latin typeface="微软雅黑"/>
              </a:defRPr>
            </a:pPr>
            <a:r>
              <a:t>对话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720840" y="2474457"/>
            <a:ext cx="1083564" cy="1048451"/>
          </a:xfrm>
          <a:prstGeom prst="roundRect">
            <a:avLst/>
          </a:prstGeom>
          <a:solidFill>
            <a:srgbClr val="2563EB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/>
          <a:lstStyle/>
          <a:p>
            <a:pPr algn="ctr">
              <a:defRPr sz="1100" b="1">
                <a:solidFill>
                  <a:srgbClr val="FFFFFF"/>
                </a:solidFill>
                <a:latin typeface="微软雅黑"/>
              </a:defRPr>
            </a:pPr>
            <a:r>
              <a:t>告警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850124" y="2474457"/>
            <a:ext cx="1083564" cy="1048451"/>
          </a:xfrm>
          <a:prstGeom prst="roundRect">
            <a:avLst/>
          </a:prstGeom>
          <a:solidFill>
            <a:srgbClr val="DC2626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/>
          <a:lstStyle/>
          <a:p>
            <a:pPr algn="ctr">
              <a:defRPr sz="1100" b="1">
                <a:solidFill>
                  <a:srgbClr val="FFFFFF"/>
                </a:solidFill>
                <a:latin typeface="微软雅黑"/>
              </a:defRPr>
            </a:pPr>
            <a:r>
              <a:t>紧急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5545836" y="2998683"/>
            <a:ext cx="45720" cy="0"/>
          </a:xfrm>
          <a:prstGeom prst="line">
            <a:avLst/>
          </a:prstGeom>
          <a:ln w="25400">
            <a:solidFill>
              <a:srgbClr val="14327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6675120" y="2998683"/>
            <a:ext cx="45720" cy="0"/>
          </a:xfrm>
          <a:prstGeom prst="line">
            <a:avLst/>
          </a:prstGeom>
          <a:ln w="25400">
            <a:solidFill>
              <a:srgbClr val="14327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7804404" y="2998683"/>
            <a:ext cx="45720" cy="0"/>
          </a:xfrm>
          <a:prstGeom prst="line">
            <a:avLst/>
          </a:prstGeom>
          <a:ln w="25400">
            <a:solidFill>
              <a:srgbClr val="14327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Rounded Rectangle 24"/>
          <p:cNvSpPr/>
          <p:nvPr/>
        </p:nvSpPr>
        <p:spPr>
          <a:xfrm>
            <a:off x="4507992" y="4411980"/>
            <a:ext cx="4471416" cy="292608"/>
          </a:xfrm>
          <a:prstGeom prst="roundRect">
            <a:avLst/>
          </a:prstGeom>
          <a:solidFill>
            <a:srgbClr val="FEE2E2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/>
          <a:lstStyle/>
          <a:p>
            <a:pPr algn="ctr">
              <a:defRPr sz="1000" b="1">
                <a:solidFill>
                  <a:srgbClr val="DC2626"/>
                </a:solidFill>
                <a:latin typeface="微软雅黑"/>
              </a:defRPr>
            </a:pPr>
            <a:r>
              <a:t>紧急态可打断常规任务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420624"/>
          </a:xfrm>
          <a:prstGeom prst="rect">
            <a:avLst/>
          </a:prstGeom>
          <a:solidFill>
            <a:srgbClr val="1432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54864"/>
            <a:ext cx="859536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1">
                <a:solidFill>
                  <a:srgbClr val="FFFFFF"/>
                </a:solidFill>
                <a:latin typeface="微软雅黑"/>
                <ns0:rFonts xmlns:ns0="http://schemas.openxmlformats.org/wordprocessingml/2006/main" ns0:eastAsia="微软雅黑" ns0:ascii="微软雅黑" ns0:hAnsi="微软雅黑"/>
              </a:rPr>
              <a:t>第二十八届中国机器人及人工智能大赛  |  创新赛 · 机器人创新赛道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4905756"/>
            <a:ext cx="9144000" cy="237744"/>
          </a:xfrm>
          <a:prstGeom prst="rect">
            <a:avLst/>
          </a:prstGeom>
          <a:solidFill>
            <a:srgbClr val="DBEA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74320" y="4951476"/>
            <a:ext cx="859536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00" b="0">
                <a:solidFill>
                  <a:srgbClr val="5A6273"/>
                </a:solidFill>
                <a:latin typeface="微软雅黑"/>
                <ns1:rFonts xmlns:ns1="http://schemas.openxmlformats.org/wordprocessingml/2006/main" ns1:eastAsia="微软雅黑" ns1:ascii="微软雅黑" ns1:hAnsi="微软雅黑"/>
              </a:rPr>
              <a:t>从容应队 · 中山大学 · 刘小凡/白冉 · 指导教师 彭键清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4320" y="466344"/>
            <a:ext cx="85953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000" b="1">
                <a:solidFill>
                  <a:srgbClr val="143278"/>
                </a:solidFill>
                <a:latin typeface="微软雅黑"/>
                <ns2:rFonts xmlns:ns2="http://schemas.openxmlformats.org/wordprocessingml/2006/main" ns2:eastAsia="微软雅黑" ns2:ascii="微软雅黑" ns2:hAnsi="微软雅黑"/>
              </a:rPr>
              <a:t>系统怎么分层</a:t>
            </a:r>
          </a:p>
        </p:txBody>
      </p:sp>
      <p:sp>
        <p:nvSpPr>
          <p:cNvPr id="7" name="Rectangle 6"/>
          <p:cNvSpPr/>
          <p:nvPr/>
        </p:nvSpPr>
        <p:spPr>
          <a:xfrm>
            <a:off x="274320" y="886968"/>
            <a:ext cx="1143000" cy="50292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74320" y="996696"/>
            <a:ext cx="3611880" cy="3854196"/>
          </a:xfrm>
          <a:prstGeom prst="rect">
            <a:avLst/>
          </a:prstGeom>
          <a:solidFill>
            <a:srgbClr val="F1F7FF"/>
          </a:solidFill>
          <a:ln w="10160">
            <a:solidFill>
              <a:srgbClr val="BAC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74320" y="996696"/>
            <a:ext cx="73152" cy="3854196"/>
          </a:xfrm>
          <a:prstGeom prst="rect">
            <a:avLst/>
          </a:prstGeom>
          <a:solidFill>
            <a:srgbClr val="1432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200" y="1124712"/>
            <a:ext cx="3246120" cy="885825"/>
          </a:xfrm>
          <a:prstGeom prst="rect">
            <a:avLst/>
          </a:prstGeom>
          <a:noFill/>
        </p:spPr>
        <p:txBody>
          <a:bodyPr wrap="square" anchor="t" lIns="25400" t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</a:pPr>
            <a:r>
              <a:rPr sz="1200" b="0">
                <a:solidFill>
                  <a:srgbClr val="1C202C"/>
                </a:solidFill>
                <a:latin typeface="微软雅黑"/>
                <ns3:rFonts xmlns:ns3="http://schemas.openxmlformats.org/wordprocessingml/2006/main" ns3:eastAsia="微软雅黑" ns3:ascii="微软雅黑" ns3:hAnsi="微软雅黑"/>
              </a:rPr>
              <a:t>● 最上面是 Web/GUI，老师和评委直接看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2028825"/>
            <a:ext cx="3246120" cy="885825"/>
          </a:xfrm>
          <a:prstGeom prst="rect">
            <a:avLst/>
          </a:prstGeom>
          <a:noFill/>
        </p:spPr>
        <p:txBody>
          <a:bodyPr wrap="square" anchor="t" lIns="25400" t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</a:pPr>
            <a:r>
              <a:rPr sz="1200" b="0">
                <a:solidFill>
                  <a:srgbClr val="1C202C"/>
                </a:solidFill>
                <a:latin typeface="微软雅黑"/>
                <ns4:rFonts xmlns:ns4="http://schemas.openxmlformats.org/wordprocessingml/2006/main" ns4:eastAsia="微软雅黑" ns4:ascii="微软雅黑" ns4:hAnsi="微软雅黑"/>
              </a:rPr>
              <a:t>● 中间做风险、对话和任务规划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2932938"/>
            <a:ext cx="3246120" cy="885825"/>
          </a:xfrm>
          <a:prstGeom prst="rect">
            <a:avLst/>
          </a:prstGeom>
          <a:noFill/>
        </p:spPr>
        <p:txBody>
          <a:bodyPr wrap="square" anchor="t" lIns="25400" t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</a:pPr>
            <a:r>
              <a:rPr sz="1200" b="0">
                <a:solidFill>
                  <a:srgbClr val="1C202C"/>
                </a:solidFill>
                <a:latin typeface="微软雅黑"/>
                <ns5:rFonts xmlns:ns5="http://schemas.openxmlformats.org/wordprocessingml/2006/main" ns5:eastAsia="微软雅黑" ns5:ascii="微软雅黑" ns5:hAnsi="微软雅黑"/>
              </a:rPr>
              <a:t>● 下面接跌倒、情绪、视觉等感知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3837051"/>
            <a:ext cx="3246120" cy="885825"/>
          </a:xfrm>
          <a:prstGeom prst="rect">
            <a:avLst/>
          </a:prstGeom>
          <a:noFill/>
        </p:spPr>
        <p:txBody>
          <a:bodyPr wrap="square" anchor="t" lIns="25400" t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</a:pPr>
            <a:r>
              <a:rPr sz="1200" b="0">
                <a:solidFill>
                  <a:srgbClr val="1C202C"/>
                </a:solidFill>
                <a:latin typeface="微软雅黑"/>
                <ns6:rFonts xmlns:ns6="http://schemas.openxmlformats.org/wordprocessingml/2006/main" ns6:eastAsia="微软雅黑" ns6:ascii="微软雅黑" ns6:hAnsi="微软雅黑"/>
              </a:rPr>
              <a:t>● 最底层通过适配器连仿真或 ROS2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187952" y="1078992"/>
            <a:ext cx="4562856" cy="764667"/>
          </a:xfrm>
          <a:prstGeom prst="roundRect">
            <a:avLst/>
          </a:prstGeom>
          <a:solidFill>
            <a:srgbClr val="0EA5E9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/>
          <a:lstStyle/>
          <a:p>
            <a:pPr algn="ctr">
              <a:defRPr sz="1100" b="1">
                <a:solidFill>
                  <a:srgbClr val="FFFFFF"/>
                </a:solidFill>
                <a:latin typeface="微软雅黑"/>
              </a:defRPr>
            </a:pPr>
            <a:r>
              <a:t>交互层</a:t>
            </a:r>
            <a:br/>
            <a:r>
              <a:t>Web / GUI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187952" y="1898523"/>
            <a:ext cx="4562856" cy="764667"/>
          </a:xfrm>
          <a:prstGeom prst="roundRect">
            <a:avLst/>
          </a:prstGeom>
          <a:solidFill>
            <a:srgbClr val="2563EB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/>
          <a:lstStyle/>
          <a:p>
            <a:pPr algn="ctr">
              <a:defRPr sz="1100" b="1">
                <a:solidFill>
                  <a:srgbClr val="FFFFFF"/>
                </a:solidFill>
                <a:latin typeface="微软雅黑"/>
              </a:defRPr>
            </a:pPr>
            <a:r>
              <a:t>认知层</a:t>
            </a:r>
            <a:br/>
            <a:r>
              <a:t>风险 · 对话 · 规划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187952" y="2718054"/>
            <a:ext cx="4562856" cy="764667"/>
          </a:xfrm>
          <a:prstGeom prst="roundRect">
            <a:avLst/>
          </a:prstGeom>
          <a:solidFill>
            <a:srgbClr val="10B981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/>
          <a:lstStyle/>
          <a:p>
            <a:pPr algn="ctr">
              <a:defRPr sz="1100" b="1">
                <a:solidFill>
                  <a:srgbClr val="FFFFFF"/>
                </a:solidFill>
                <a:latin typeface="微软雅黑"/>
              </a:defRPr>
            </a:pPr>
            <a:r>
              <a:t>感知层</a:t>
            </a:r>
            <a:br/>
            <a:r>
              <a:t>跌倒 · 情绪 · 视觉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187952" y="3537585"/>
            <a:ext cx="4562856" cy="764667"/>
          </a:xfrm>
          <a:prstGeom prst="roundRect">
            <a:avLst/>
          </a:prstGeom>
          <a:solidFill>
            <a:srgbClr val="F59E0B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/>
          <a:lstStyle/>
          <a:p>
            <a:pPr algn="ctr">
              <a:defRPr sz="1100" b="1">
                <a:solidFill>
                  <a:srgbClr val="FFFFFF"/>
                </a:solidFill>
                <a:latin typeface="微软雅黑"/>
              </a:defRPr>
            </a:pPr>
            <a:r>
              <a:t>执行层</a:t>
            </a:r>
            <a:br/>
            <a:r>
              <a:t>机器人 / ROS2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150815" y="4375404"/>
            <a:ext cx="2637129" cy="384048"/>
          </a:xfrm>
          <a:prstGeom prst="roundRect">
            <a:avLst/>
          </a:prstGeom>
          <a:solidFill>
            <a:srgbClr val="143278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/>
          <a:lstStyle/>
          <a:p>
            <a:pPr algn="ctr">
              <a:defRPr sz="1000" b="1">
                <a:solidFill>
                  <a:srgbClr val="FFFFFF"/>
                </a:solidFill>
                <a:latin typeface="微软雅黑"/>
              </a:defRPr>
            </a:pPr>
            <a:r>
              <a:t>CareOrchestrator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6469380" y="1834515"/>
            <a:ext cx="0" cy="54864"/>
          </a:xfrm>
          <a:prstGeom prst="line">
            <a:avLst/>
          </a:prstGeom>
          <a:ln w="25400">
            <a:solidFill>
              <a:srgbClr val="64748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6469380" y="2654046"/>
            <a:ext cx="0" cy="54864"/>
          </a:xfrm>
          <a:prstGeom prst="line">
            <a:avLst/>
          </a:prstGeom>
          <a:ln w="25400">
            <a:solidFill>
              <a:srgbClr val="64748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6469380" y="3473577"/>
            <a:ext cx="0" cy="54864"/>
          </a:xfrm>
          <a:prstGeom prst="line">
            <a:avLst/>
          </a:prstGeom>
          <a:ln w="25400">
            <a:solidFill>
              <a:srgbClr val="64748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420624"/>
          </a:xfrm>
          <a:prstGeom prst="rect">
            <a:avLst/>
          </a:prstGeom>
          <a:solidFill>
            <a:srgbClr val="1432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54864"/>
            <a:ext cx="859536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1">
                <a:solidFill>
                  <a:srgbClr val="FFFFFF"/>
                </a:solidFill>
                <a:latin typeface="微软雅黑"/>
                <ns0:rFonts xmlns:ns0="http://schemas.openxmlformats.org/wordprocessingml/2006/main" ns0:eastAsia="微软雅黑" ns0:ascii="微软雅黑" ns0:hAnsi="微软雅黑"/>
              </a:rPr>
              <a:t>第二十八届中国机器人及人工智能大赛  |  创新赛 · 机器人创新赛道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4905756"/>
            <a:ext cx="9144000" cy="237744"/>
          </a:xfrm>
          <a:prstGeom prst="rect">
            <a:avLst/>
          </a:prstGeom>
          <a:solidFill>
            <a:srgbClr val="DBEA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74320" y="4951476"/>
            <a:ext cx="859536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00" b="0">
                <a:solidFill>
                  <a:srgbClr val="5A6273"/>
                </a:solidFill>
                <a:latin typeface="微软雅黑"/>
                <ns1:rFonts xmlns:ns1="http://schemas.openxmlformats.org/wordprocessingml/2006/main" ns1:eastAsia="微软雅黑" ns1:ascii="微软雅黑" ns1:hAnsi="微软雅黑"/>
              </a:rPr>
              <a:t>从容应队 · 中山大学 · 刘小凡/白冉 · 指导教师 彭键清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4320" y="466344"/>
            <a:ext cx="85953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000" b="1">
                <a:solidFill>
                  <a:srgbClr val="143278"/>
                </a:solidFill>
                <a:latin typeface="微软雅黑"/>
                <ns2:rFonts xmlns:ns2="http://schemas.openxmlformats.org/wordprocessingml/2006/main" ns2:eastAsia="微软雅黑" ns2:ascii="微软雅黑" ns2:hAnsi="微软雅黑"/>
              </a:rPr>
              <a:t>状态机怎么切换</a:t>
            </a:r>
          </a:p>
        </p:txBody>
      </p:sp>
      <p:sp>
        <p:nvSpPr>
          <p:cNvPr id="7" name="Rectangle 6"/>
          <p:cNvSpPr/>
          <p:nvPr/>
        </p:nvSpPr>
        <p:spPr>
          <a:xfrm>
            <a:off x="274320" y="886968"/>
            <a:ext cx="1143000" cy="50292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74320" y="996696"/>
            <a:ext cx="3611880" cy="3854196"/>
          </a:xfrm>
          <a:prstGeom prst="rect">
            <a:avLst/>
          </a:prstGeom>
          <a:solidFill>
            <a:srgbClr val="F1F7FF"/>
          </a:solidFill>
          <a:ln w="10160">
            <a:solidFill>
              <a:srgbClr val="BAC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74320" y="996696"/>
            <a:ext cx="73152" cy="3854196"/>
          </a:xfrm>
          <a:prstGeom prst="rect">
            <a:avLst/>
          </a:prstGeom>
          <a:solidFill>
            <a:srgbClr val="1432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200" y="1124712"/>
            <a:ext cx="3246120" cy="885825"/>
          </a:xfrm>
          <a:prstGeom prst="rect">
            <a:avLst/>
          </a:prstGeom>
          <a:noFill/>
        </p:spPr>
        <p:txBody>
          <a:bodyPr wrap="square" anchor="t" lIns="25400" t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</a:pPr>
            <a:r>
              <a:rPr sz="1200" b="0">
                <a:solidFill>
                  <a:srgbClr val="1C202C"/>
                </a:solidFill>
                <a:latin typeface="微软雅黑"/>
                <ns3:rFonts xmlns:ns3="http://schemas.openxmlformats.org/wordprocessingml/2006/main" ns3:eastAsia="微软雅黑" ns3:ascii="微软雅黑" ns3:hAnsi="微软雅黑"/>
              </a:rPr>
              <a:t>● 平时监测，对话时走倾诉流程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2028825"/>
            <a:ext cx="3246120" cy="885825"/>
          </a:xfrm>
          <a:prstGeom prst="rect">
            <a:avLst/>
          </a:prstGeom>
          <a:noFill/>
        </p:spPr>
        <p:txBody>
          <a:bodyPr wrap="square" anchor="t" lIns="25400" t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</a:pPr>
            <a:r>
              <a:rPr sz="1200" b="0">
                <a:solidFill>
                  <a:srgbClr val="1C202C"/>
                </a:solidFill>
                <a:latin typeface="微软雅黑"/>
                <ns4:rFonts xmlns:ns4="http://schemas.openxmlformats.org/wordprocessingml/2006/main" ns4:eastAsia="微软雅黑" ns4:ascii="微软雅黑" ns4:hAnsi="微软雅黑"/>
              </a:rPr>
              <a:t>● 风险升高先告警，确认跌倒进紧急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2932938"/>
            <a:ext cx="3246120" cy="885825"/>
          </a:xfrm>
          <a:prstGeom prst="rect">
            <a:avLst/>
          </a:prstGeom>
          <a:noFill/>
        </p:spPr>
        <p:txBody>
          <a:bodyPr wrap="square" anchor="t" lIns="25400" t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</a:pPr>
            <a:r>
              <a:rPr sz="1200" b="0">
                <a:solidFill>
                  <a:srgbClr val="1C202C"/>
                </a:solidFill>
                <a:latin typeface="微软雅黑"/>
                <ns5:rFonts xmlns:ns5="http://schemas.openxmlformats.org/wordprocessingml/2006/main" ns5:eastAsia="微软雅黑" ns5:ascii="微软雅黑" ns5:hAnsi="微软雅黑"/>
              </a:rPr>
              <a:t>● 紧急状态可以打断正在进行的对话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3837051"/>
            <a:ext cx="3246120" cy="885825"/>
          </a:xfrm>
          <a:prstGeom prst="rect">
            <a:avLst/>
          </a:prstGeom>
          <a:noFill/>
        </p:spPr>
        <p:txBody>
          <a:bodyPr wrap="square" anchor="t" lIns="25400" t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</a:pPr>
            <a:r>
              <a:rPr sz="1200" b="0">
                <a:solidFill>
                  <a:srgbClr val="1C202C"/>
                </a:solidFill>
                <a:latin typeface="微软雅黑"/>
                <ns6:rFonts xmlns:ns6="http://schemas.openxmlformats.org/wordprocessingml/2006/main" ns6:eastAsia="微软雅黑" ns6:ascii="微软雅黑" ns6:hAnsi="微软雅黑"/>
              </a:rPr>
              <a:t>● 每次循环都会记下分数、回复和动作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160520" y="2470068"/>
            <a:ext cx="1097280" cy="1058692"/>
          </a:xfrm>
          <a:prstGeom prst="roundRect">
            <a:avLst/>
          </a:prstGeom>
          <a:solidFill>
            <a:srgbClr val="2563EB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/>
          <a:lstStyle/>
          <a:p>
            <a:pPr algn="ctr">
              <a:defRPr sz="1100" b="1">
                <a:solidFill>
                  <a:srgbClr val="FFFFFF"/>
                </a:solidFill>
                <a:latin typeface="微软雅黑"/>
              </a:defRPr>
            </a:pPr>
            <a:r>
              <a:t>监测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303520" y="2470068"/>
            <a:ext cx="1097280" cy="1058692"/>
          </a:xfrm>
          <a:prstGeom prst="roundRect">
            <a:avLst/>
          </a:prstGeom>
          <a:solidFill>
            <a:srgbClr val="2563EB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/>
          <a:lstStyle/>
          <a:p>
            <a:pPr algn="ctr">
              <a:defRPr sz="1100" b="1">
                <a:solidFill>
                  <a:srgbClr val="FFFFFF"/>
                </a:solidFill>
                <a:latin typeface="微软雅黑"/>
              </a:defRPr>
            </a:pPr>
            <a:r>
              <a:t>对话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46520" y="2470068"/>
            <a:ext cx="1097280" cy="1058692"/>
          </a:xfrm>
          <a:prstGeom prst="roundRect">
            <a:avLst/>
          </a:prstGeom>
          <a:solidFill>
            <a:srgbClr val="2563EB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/>
          <a:lstStyle/>
          <a:p>
            <a:pPr algn="ctr">
              <a:defRPr sz="1100" b="1">
                <a:solidFill>
                  <a:srgbClr val="FFFFFF"/>
                </a:solidFill>
                <a:latin typeface="微软雅黑"/>
              </a:defRPr>
            </a:pPr>
            <a:r>
              <a:t>告警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589520" y="2470068"/>
            <a:ext cx="1097280" cy="1058692"/>
          </a:xfrm>
          <a:prstGeom prst="roundRect">
            <a:avLst/>
          </a:prstGeom>
          <a:solidFill>
            <a:srgbClr val="DC2626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/>
          <a:lstStyle/>
          <a:p>
            <a:pPr algn="ctr">
              <a:defRPr sz="1100" b="1">
                <a:solidFill>
                  <a:srgbClr val="FFFFFF"/>
                </a:solidFill>
                <a:latin typeface="微软雅黑"/>
              </a:defRPr>
            </a:pPr>
            <a:r>
              <a:t>紧急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5257800" y="2999414"/>
            <a:ext cx="45720" cy="0"/>
          </a:xfrm>
          <a:prstGeom prst="line">
            <a:avLst/>
          </a:prstGeom>
          <a:ln w="25400">
            <a:solidFill>
              <a:srgbClr val="14327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6400800" y="2999414"/>
            <a:ext cx="45720" cy="0"/>
          </a:xfrm>
          <a:prstGeom prst="line">
            <a:avLst/>
          </a:prstGeom>
          <a:ln w="25400">
            <a:solidFill>
              <a:srgbClr val="14327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7543800" y="2999414"/>
            <a:ext cx="45720" cy="0"/>
          </a:xfrm>
          <a:prstGeom prst="line">
            <a:avLst/>
          </a:prstGeom>
          <a:ln w="25400">
            <a:solidFill>
              <a:srgbClr val="14327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ounded Rectangle 20"/>
          <p:cNvSpPr/>
          <p:nvPr/>
        </p:nvSpPr>
        <p:spPr>
          <a:xfrm>
            <a:off x="4206240" y="4430268"/>
            <a:ext cx="4526280" cy="292608"/>
          </a:xfrm>
          <a:prstGeom prst="roundRect">
            <a:avLst/>
          </a:prstGeom>
          <a:solidFill>
            <a:srgbClr val="FEE2E2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/>
          <a:lstStyle/>
          <a:p>
            <a:pPr algn="ctr">
              <a:defRPr sz="1000" b="1">
                <a:solidFill>
                  <a:srgbClr val="DC2626"/>
                </a:solidFill>
                <a:latin typeface="微软雅黑"/>
              </a:defRPr>
            </a:pPr>
            <a:r>
              <a:t>紧急态可打断常规任务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420624"/>
          </a:xfrm>
          <a:prstGeom prst="rect">
            <a:avLst/>
          </a:prstGeom>
          <a:solidFill>
            <a:srgbClr val="1432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54864"/>
            <a:ext cx="859536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1">
                <a:solidFill>
                  <a:srgbClr val="FFFFFF"/>
                </a:solidFill>
                <a:latin typeface="微软雅黑"/>
                <ns0:rFonts xmlns:ns0="http://schemas.openxmlformats.org/wordprocessingml/2006/main" ns0:eastAsia="微软雅黑" ns0:ascii="微软雅黑" ns0:hAnsi="微软雅黑"/>
              </a:rPr>
              <a:t>第二十八届中国机器人及人工智能大赛  |  创新赛 · 机器人创新赛道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4905756"/>
            <a:ext cx="9144000" cy="237744"/>
          </a:xfrm>
          <a:prstGeom prst="rect">
            <a:avLst/>
          </a:prstGeom>
          <a:solidFill>
            <a:srgbClr val="DBEA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74320" y="4951476"/>
            <a:ext cx="859536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00" b="0">
                <a:solidFill>
                  <a:srgbClr val="5A6273"/>
                </a:solidFill>
                <a:latin typeface="微软雅黑"/>
                <ns1:rFonts xmlns:ns1="http://schemas.openxmlformats.org/wordprocessingml/2006/main" ns1:eastAsia="微软雅黑" ns1:ascii="微软雅黑" ns1:hAnsi="微软雅黑"/>
              </a:rPr>
              <a:t>从容应队 · 中山大学 · 刘小凡/白冉 · 指导教师 彭键清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4320" y="466344"/>
            <a:ext cx="85953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000" b="1">
                <a:solidFill>
                  <a:srgbClr val="143278"/>
                </a:solidFill>
                <a:latin typeface="微软雅黑"/>
                <ns2:rFonts xmlns:ns2="http://schemas.openxmlformats.org/wordprocessingml/2006/main" ns2:eastAsia="微软雅黑" ns2:ascii="微软雅黑" ns2:hAnsi="微软雅黑"/>
              </a:rPr>
              <a:t>风险分数怎么算</a:t>
            </a:r>
          </a:p>
        </p:txBody>
      </p:sp>
      <p:sp>
        <p:nvSpPr>
          <p:cNvPr id="7" name="Rectangle 6"/>
          <p:cNvSpPr/>
          <p:nvPr/>
        </p:nvSpPr>
        <p:spPr>
          <a:xfrm>
            <a:off x="274320" y="886968"/>
            <a:ext cx="1143000" cy="50292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74320" y="996696"/>
            <a:ext cx="3611880" cy="3854196"/>
          </a:xfrm>
          <a:prstGeom prst="rect">
            <a:avLst/>
          </a:prstGeom>
          <a:solidFill>
            <a:srgbClr val="F1F7FF"/>
          </a:solidFill>
          <a:ln w="10160">
            <a:solidFill>
              <a:srgbClr val="BAC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74320" y="996696"/>
            <a:ext cx="73152" cy="3854196"/>
          </a:xfrm>
          <a:prstGeom prst="rect">
            <a:avLst/>
          </a:prstGeom>
          <a:solidFill>
            <a:srgbClr val="1432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200" y="1124712"/>
            <a:ext cx="3246120" cy="885825"/>
          </a:xfrm>
          <a:prstGeom prst="rect">
            <a:avLst/>
          </a:prstGeom>
          <a:noFill/>
        </p:spPr>
        <p:txBody>
          <a:bodyPr wrap="square" anchor="t" lIns="25400" t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</a:pPr>
            <a:r>
              <a:rPr sz="1200" b="0">
                <a:solidFill>
                  <a:srgbClr val="1C202C"/>
                </a:solidFill>
                <a:latin typeface="微软雅黑"/>
                <ns3:rFonts xmlns:ns3="http://schemas.openxmlformats.org/wordprocessingml/2006/main" ns3:eastAsia="微软雅黑" ns3:ascii="微软雅黑" ns3:hAnsi="微软雅黑"/>
              </a:rPr>
              <a:t>● 跌倒、情绪、健康三路各占一部分权重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2028825"/>
            <a:ext cx="3246120" cy="885825"/>
          </a:xfrm>
          <a:prstGeom prst="rect">
            <a:avLst/>
          </a:prstGeom>
          <a:noFill/>
        </p:spPr>
        <p:txBody>
          <a:bodyPr wrap="square" anchor="t" lIns="25400" t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</a:pPr>
            <a:r>
              <a:rPr sz="1200" b="0">
                <a:solidFill>
                  <a:srgbClr val="1C202C"/>
                </a:solidFill>
                <a:latin typeface="微软雅黑"/>
                <ns4:rFonts xmlns:ns4="http://schemas.openxmlformats.org/wordprocessingml/2006/main" ns4:eastAsia="微软雅黑" ns4:ascii="微软雅黑" ns4:hAnsi="微软雅黑"/>
              </a:rPr>
              <a:t>● 不是端到端黑盒，会给出原因列表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2932938"/>
            <a:ext cx="3246120" cy="885825"/>
          </a:xfrm>
          <a:prstGeom prst="rect">
            <a:avLst/>
          </a:prstGeom>
          <a:noFill/>
        </p:spPr>
        <p:txBody>
          <a:bodyPr wrap="square" anchor="t" lIns="25400" t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</a:pPr>
            <a:r>
              <a:rPr sz="1200" b="0">
                <a:solidFill>
                  <a:srgbClr val="1C202C"/>
                </a:solidFill>
                <a:latin typeface="微软雅黑"/>
                <ns5:rFonts xmlns:ns5="http://schemas.openxmlformats.org/wordprocessingml/2006/main" ns5:eastAsia="微软雅黑" ns5:ascii="微软雅黑" ns5:hAnsi="微软雅黑"/>
              </a:rPr>
              <a:t>● 阈值写在配置里，不同场景能改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3837051"/>
            <a:ext cx="3246120" cy="885825"/>
          </a:xfrm>
          <a:prstGeom prst="rect">
            <a:avLst/>
          </a:prstGeom>
          <a:noFill/>
        </p:spPr>
        <p:txBody>
          <a:bodyPr wrap="square" anchor="t" lIns="25400" t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</a:pPr>
            <a:r>
              <a:rPr sz="1200" b="0">
                <a:solidFill>
                  <a:srgbClr val="1C202C"/>
                </a:solidFill>
                <a:latin typeface="微软雅黑"/>
                <ns6:rFonts xmlns:ns6="http://schemas.openxmlformats.org/wordprocessingml/2006/main" ns6:eastAsia="微软雅黑" ns6:ascii="微软雅黑" ns6:hAnsi="微软雅黑"/>
              </a:rPr>
              <a:t>● 方便和医生、护理人员沟通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160520" y="1078992"/>
            <a:ext cx="4617720" cy="347472"/>
          </a:xfrm>
          <a:prstGeom prst="roundRect">
            <a:avLst/>
          </a:prstGeom>
          <a:solidFill>
            <a:srgbClr val="F1F7FF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/>
          <a:lstStyle/>
          <a:p>
            <a:pPr algn="ctr">
              <a:defRPr sz="1300" b="1">
                <a:solidFill>
                  <a:srgbClr val="143278"/>
                </a:solidFill>
                <a:latin typeface="微软雅黑"/>
              </a:defRPr>
            </a:pPr>
            <a:r>
              <a:t>S = 0.45·跌倒 + 0.25·情绪 + 0.30·健康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187952" y="2848173"/>
            <a:ext cx="1453896" cy="1436796"/>
          </a:xfrm>
          <a:prstGeom prst="roundRect">
            <a:avLst/>
          </a:prstGeom>
          <a:solidFill>
            <a:srgbClr val="10B981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/>
          <a:lstStyle/>
          <a:p>
            <a:pPr algn="ctr">
              <a:defRPr sz="1200" b="1">
                <a:solidFill>
                  <a:srgbClr val="FFFFFF"/>
                </a:solidFill>
                <a:latin typeface="微软雅黑"/>
              </a:defRPr>
            </a:pPr>
            <a:r>
              <a:t>跌倒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96712" y="2848173"/>
            <a:ext cx="1453896" cy="1436796"/>
          </a:xfrm>
          <a:prstGeom prst="roundRect">
            <a:avLst/>
          </a:prstGeom>
          <a:solidFill>
            <a:srgbClr val="0EA5E9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/>
          <a:lstStyle/>
          <a:p>
            <a:pPr algn="ctr">
              <a:defRPr sz="1200" b="1">
                <a:solidFill>
                  <a:srgbClr val="FFFFFF"/>
                </a:solidFill>
                <a:latin typeface="微软雅黑"/>
              </a:defRPr>
            </a:pPr>
            <a:r>
              <a:t>情绪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205472" y="2848173"/>
            <a:ext cx="1453896" cy="1436796"/>
          </a:xfrm>
          <a:prstGeom prst="roundRect">
            <a:avLst/>
          </a:prstGeom>
          <a:solidFill>
            <a:srgbClr val="F59E0B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/>
          <a:lstStyle/>
          <a:p>
            <a:pPr algn="ctr">
              <a:defRPr sz="1200" b="1">
                <a:solidFill>
                  <a:srgbClr val="FFFFFF"/>
                </a:solidFill>
                <a:latin typeface="微软雅黑"/>
              </a:defRPr>
            </a:pPr>
            <a:r>
              <a:t>健康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206240" y="4521708"/>
            <a:ext cx="4526280" cy="237744"/>
          </a:xfrm>
          <a:prstGeom prst="roundRect">
            <a:avLst/>
          </a:prstGeom>
          <a:solidFill>
            <a:srgbClr val="143278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/>
          <a:lstStyle/>
          <a:p>
            <a:pPr algn="ctr">
              <a:defRPr sz="1000" b="1">
                <a:solidFill>
                  <a:srgbClr val="FFFFFF"/>
                </a:solidFill>
                <a:latin typeface="微软雅黑"/>
              </a:defRPr>
            </a:pPr>
            <a:r>
              <a:t>输出分数 + 等级 + 原因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420624"/>
          </a:xfrm>
          <a:prstGeom prst="rect">
            <a:avLst/>
          </a:prstGeom>
          <a:solidFill>
            <a:srgbClr val="1432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54864"/>
            <a:ext cx="859536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1">
                <a:solidFill>
                  <a:srgbClr val="FFFFFF"/>
                </a:solidFill>
                <a:latin typeface="微软雅黑"/>
                <ns0:rFonts xmlns:ns0="http://schemas.openxmlformats.org/wordprocessingml/2006/main" ns0:eastAsia="微软雅黑" ns0:ascii="微软雅黑" ns0:hAnsi="微软雅黑"/>
              </a:rPr>
              <a:t>第二十八届中国机器人及人工智能大赛  |  创新赛 · 机器人创新赛道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4905756"/>
            <a:ext cx="9144000" cy="237744"/>
          </a:xfrm>
          <a:prstGeom prst="rect">
            <a:avLst/>
          </a:prstGeom>
          <a:solidFill>
            <a:srgbClr val="DBEA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74320" y="4951476"/>
            <a:ext cx="859536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00" b="0">
                <a:solidFill>
                  <a:srgbClr val="5A6273"/>
                </a:solidFill>
                <a:latin typeface="微软雅黑"/>
                <ns1:rFonts xmlns:ns1="http://schemas.openxmlformats.org/wordprocessingml/2006/main" ns1:eastAsia="微软雅黑" ns1:ascii="微软雅黑" ns1:hAnsi="微软雅黑"/>
              </a:rPr>
              <a:t>从容应队 · 中山大学 · 刘小凡/白冉 · 指导教师 彭键清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4320" y="466344"/>
            <a:ext cx="85953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000" b="1">
                <a:solidFill>
                  <a:srgbClr val="143278"/>
                </a:solidFill>
                <a:latin typeface="微软雅黑"/>
                <ns2:rFonts xmlns:ns2="http://schemas.openxmlformats.org/wordprocessingml/2006/main" ns2:eastAsia="微软雅黑" ns2:ascii="微软雅黑" ns2:hAnsi="微软雅黑"/>
              </a:rPr>
              <a:t>跌倒怎么判断</a:t>
            </a:r>
          </a:p>
        </p:txBody>
      </p:sp>
      <p:sp>
        <p:nvSpPr>
          <p:cNvPr id="7" name="Rectangle 6"/>
          <p:cNvSpPr/>
          <p:nvPr/>
        </p:nvSpPr>
        <p:spPr>
          <a:xfrm>
            <a:off x="274320" y="886968"/>
            <a:ext cx="1143000" cy="50292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74320" y="996696"/>
            <a:ext cx="3611880" cy="3854196"/>
          </a:xfrm>
          <a:prstGeom prst="rect">
            <a:avLst/>
          </a:prstGeom>
          <a:solidFill>
            <a:srgbClr val="F1F7FF"/>
          </a:solidFill>
          <a:ln w="10160">
            <a:solidFill>
              <a:srgbClr val="BAC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74320" y="996696"/>
            <a:ext cx="73152" cy="3854196"/>
          </a:xfrm>
          <a:prstGeom prst="rect">
            <a:avLst/>
          </a:prstGeom>
          <a:solidFill>
            <a:srgbClr val="1432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200" y="1124712"/>
            <a:ext cx="3246120" cy="885825"/>
          </a:xfrm>
          <a:prstGeom prst="rect">
            <a:avLst/>
          </a:prstGeom>
          <a:noFill/>
        </p:spPr>
        <p:txBody>
          <a:bodyPr wrap="square" anchor="t" lIns="25400" t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</a:pPr>
            <a:r>
              <a:rPr sz="1200" b="0">
                <a:solidFill>
                  <a:srgbClr val="1C202C"/>
                </a:solidFill>
                <a:latin typeface="微软雅黑"/>
                <ns3:rFonts xmlns:ns3="http://schemas.openxmlformats.org/wordprocessingml/2006/main" ns3:eastAsia="微软雅黑" ns3:ascii="微软雅黑" ns3:hAnsi="微软雅黑"/>
              </a:rPr>
              <a:t>● 用 MediaPipe 提骨架，算宽高比和速度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2028825"/>
            <a:ext cx="3246120" cy="885825"/>
          </a:xfrm>
          <a:prstGeom prst="rect">
            <a:avLst/>
          </a:prstGeom>
          <a:noFill/>
        </p:spPr>
        <p:txBody>
          <a:bodyPr wrap="square" anchor="t" lIns="25400" t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</a:pPr>
            <a:r>
              <a:rPr sz="1200" b="0">
                <a:solidFill>
                  <a:srgbClr val="1C202C"/>
                </a:solidFill>
                <a:latin typeface="微软雅黑"/>
                <ns4:rFonts xmlns:ns4="http://schemas.openxmlformats.org/wordprocessingml/2006/main" ns4:eastAsia="微软雅黑" ns4:ascii="微软雅黑" ns4:hAnsi="微软雅黑"/>
              </a:rPr>
              <a:t>● 快速跌倒和慢速躺倒两套规则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2932938"/>
            <a:ext cx="3246120" cy="885825"/>
          </a:xfrm>
          <a:prstGeom prst="rect">
            <a:avLst/>
          </a:prstGeom>
          <a:noFill/>
        </p:spPr>
        <p:txBody>
          <a:bodyPr wrap="square" anchor="t" lIns="25400" t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</a:pPr>
            <a:r>
              <a:rPr sz="1200" b="0">
                <a:solidFill>
                  <a:srgbClr val="1C202C"/>
                </a:solidFill>
                <a:latin typeface="微软雅黑"/>
                <ns5:rFonts xmlns:ns5="http://schemas.openxmlformats.org/wordprocessingml/2006/main" ns5:eastAsia="微软雅黑" ns5:ascii="微软雅黑" ns5:hAnsi="微软雅黑"/>
              </a:rPr>
              <a:t>● 在 6 组合成场景上 F1 到 100%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3837051"/>
            <a:ext cx="3246120" cy="885825"/>
          </a:xfrm>
          <a:prstGeom prst="rect">
            <a:avLst/>
          </a:prstGeom>
          <a:noFill/>
        </p:spPr>
        <p:txBody>
          <a:bodyPr wrap="square" anchor="t" lIns="25400" t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</a:pPr>
            <a:r>
              <a:rPr sz="1200" b="0">
                <a:solidFill>
                  <a:srgbClr val="1C202C"/>
                </a:solidFill>
                <a:latin typeface="微软雅黑"/>
                <ns6:rFonts xmlns:ns6="http://schemas.openxmlformats.org/wordprocessingml/2006/main" ns6:eastAsia="微软雅黑" ns6:ascii="微软雅黑" ns6:hAnsi="微软雅黑"/>
              </a:rPr>
              <a:t>● 支持摄像头，也支持上传照片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009540" y="1078992"/>
            <a:ext cx="2919679" cy="604967"/>
          </a:xfrm>
          <a:prstGeom prst="roundRect">
            <a:avLst/>
          </a:prstGeom>
          <a:solidFill>
            <a:srgbClr val="0EA5E9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/>
          <a:lstStyle/>
          <a:p>
            <a:pPr algn="ctr">
              <a:defRPr sz="1100" b="1">
                <a:solidFill>
                  <a:srgbClr val="FFFFFF"/>
                </a:solidFill>
                <a:latin typeface="微软雅黑"/>
              </a:defRPr>
            </a:pPr>
            <a:r>
              <a:t>骨架输入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09540" y="2091964"/>
            <a:ext cx="2919679" cy="604967"/>
          </a:xfrm>
          <a:prstGeom prst="roundRect">
            <a:avLst/>
          </a:prstGeom>
          <a:solidFill>
            <a:srgbClr val="2563EB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/>
          <a:lstStyle/>
          <a:p>
            <a:pPr algn="ctr">
              <a:defRPr sz="1100" b="1">
                <a:solidFill>
                  <a:srgbClr val="FFFFFF"/>
                </a:solidFill>
                <a:latin typeface="微软雅黑"/>
              </a:defRPr>
            </a:pPr>
            <a:r>
              <a:t>算 R、v_y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009540" y="2999414"/>
            <a:ext cx="2919679" cy="604967"/>
          </a:xfrm>
          <a:prstGeom prst="roundRect">
            <a:avLst/>
          </a:prstGeom>
          <a:solidFill>
            <a:srgbClr val="2563EB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/>
          <a:lstStyle/>
          <a:p>
            <a:pPr algn="ctr">
              <a:defRPr sz="1100" b="1">
                <a:solidFill>
                  <a:srgbClr val="FFFFFF"/>
                </a:solidFill>
                <a:latin typeface="微软雅黑"/>
              </a:defRPr>
            </a:pPr>
            <a:r>
              <a:t>快速/慢速规则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009540" y="3982486"/>
            <a:ext cx="2919679" cy="604967"/>
          </a:xfrm>
          <a:prstGeom prst="roundRect">
            <a:avLst/>
          </a:prstGeom>
          <a:solidFill>
            <a:srgbClr val="DC2626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/>
          <a:lstStyle/>
          <a:p>
            <a:pPr algn="ctr">
              <a:defRPr sz="1100" b="1">
                <a:solidFill>
                  <a:srgbClr val="FFFFFF"/>
                </a:solidFill>
                <a:latin typeface="微软雅黑"/>
              </a:defRPr>
            </a:pPr>
            <a:r>
              <a:t>触发紧急链路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6469380" y="1683959"/>
            <a:ext cx="0" cy="389717"/>
          </a:xfrm>
          <a:prstGeom prst="line">
            <a:avLst/>
          </a:prstGeom>
          <a:ln w="25400">
            <a:solidFill>
              <a:srgbClr val="64748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6469380" y="2696931"/>
            <a:ext cx="0" cy="284195"/>
          </a:xfrm>
          <a:prstGeom prst="line">
            <a:avLst/>
          </a:prstGeom>
          <a:ln w="25400">
            <a:solidFill>
              <a:srgbClr val="64748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6469380" y="3604381"/>
            <a:ext cx="0" cy="359817"/>
          </a:xfrm>
          <a:prstGeom prst="line">
            <a:avLst/>
          </a:prstGeom>
          <a:ln w="25400">
            <a:solidFill>
              <a:srgbClr val="64748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420624"/>
          </a:xfrm>
          <a:prstGeom prst="rect">
            <a:avLst/>
          </a:prstGeom>
          <a:solidFill>
            <a:srgbClr val="1432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54864"/>
            <a:ext cx="859536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1">
                <a:solidFill>
                  <a:srgbClr val="FFFFFF"/>
                </a:solidFill>
                <a:latin typeface="微软雅黑"/>
                <ns0:rFonts xmlns:ns0="http://schemas.openxmlformats.org/wordprocessingml/2006/main" ns0:eastAsia="微软雅黑" ns0:ascii="微软雅黑" ns0:hAnsi="微软雅黑"/>
              </a:rPr>
              <a:t>第二十八届中国机器人及人工智能大赛  |  创新赛 · 机器人创新赛道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4905756"/>
            <a:ext cx="9144000" cy="237744"/>
          </a:xfrm>
          <a:prstGeom prst="rect">
            <a:avLst/>
          </a:prstGeom>
          <a:solidFill>
            <a:srgbClr val="DBEA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74320" y="4951476"/>
            <a:ext cx="859536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00" b="0">
                <a:solidFill>
                  <a:srgbClr val="5A6273"/>
                </a:solidFill>
                <a:latin typeface="微软雅黑"/>
                <ns1:rFonts xmlns:ns1="http://schemas.openxmlformats.org/wordprocessingml/2006/main" ns1:eastAsia="微软雅黑" ns1:ascii="微软雅黑" ns1:hAnsi="微软雅黑"/>
              </a:rPr>
              <a:t>从容应队 · 中山大学 · 刘小凡/白冉 · 指导教师 彭键清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4320" y="466344"/>
            <a:ext cx="85953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000" b="1">
                <a:solidFill>
                  <a:srgbClr val="143278"/>
                </a:solidFill>
                <a:latin typeface="微软雅黑"/>
                <ns2:rFonts xmlns:ns2="http://schemas.openxmlformats.org/wordprocessingml/2006/main" ns2:eastAsia="微软雅黑" ns2:ascii="微软雅黑" ns2:hAnsi="微软雅黑"/>
              </a:rPr>
              <a:t>对话模块</a:t>
            </a:r>
          </a:p>
        </p:txBody>
      </p:sp>
      <p:sp>
        <p:nvSpPr>
          <p:cNvPr id="7" name="Rectangle 6"/>
          <p:cNvSpPr/>
          <p:nvPr/>
        </p:nvSpPr>
        <p:spPr>
          <a:xfrm>
            <a:off x="274320" y="886968"/>
            <a:ext cx="1143000" cy="50292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74320" y="996696"/>
            <a:ext cx="3611880" cy="3854196"/>
          </a:xfrm>
          <a:prstGeom prst="rect">
            <a:avLst/>
          </a:prstGeom>
          <a:solidFill>
            <a:srgbClr val="F1F7FF"/>
          </a:solidFill>
          <a:ln w="10160">
            <a:solidFill>
              <a:srgbClr val="BAC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74320" y="996696"/>
            <a:ext cx="73152" cy="3854196"/>
          </a:xfrm>
          <a:prstGeom prst="rect">
            <a:avLst/>
          </a:prstGeom>
          <a:solidFill>
            <a:srgbClr val="1432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200" y="1124712"/>
            <a:ext cx="3246120" cy="885825"/>
          </a:xfrm>
          <a:prstGeom prst="rect">
            <a:avLst/>
          </a:prstGeom>
          <a:noFill/>
        </p:spPr>
        <p:txBody>
          <a:bodyPr wrap="square" anchor="t" lIns="25400" t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</a:pPr>
            <a:r>
              <a:rPr sz="1200" b="0">
                <a:solidFill>
                  <a:srgbClr val="1C202C"/>
                </a:solidFill>
                <a:latin typeface="微软雅黑"/>
                <ns3:rFonts xmlns:ns3="http://schemas.openxmlformats.org/wordprocessingml/2006/main" ns3:eastAsia="微软雅黑" ns3:ascii="微软雅黑" ns3:hAnsi="微软雅黑"/>
              </a:rPr>
              <a:t>● 先识别老人话里的情绪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2028825"/>
            <a:ext cx="3246120" cy="885825"/>
          </a:xfrm>
          <a:prstGeom prst="rect">
            <a:avLst/>
          </a:prstGeom>
          <a:noFill/>
        </p:spPr>
        <p:txBody>
          <a:bodyPr wrap="square" anchor="t" lIns="25400" t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</a:pPr>
            <a:r>
              <a:rPr sz="1200" b="0">
                <a:solidFill>
                  <a:srgbClr val="1C202C"/>
                </a:solidFill>
                <a:latin typeface="微软雅黑"/>
                <ns4:rFonts xmlns:ns4="http://schemas.openxmlformats.org/wordprocessingml/2006/main" ns4:eastAsia="微软雅黑" ns4:ascii="微软雅黑" ns4:hAnsi="微软雅黑"/>
              </a:rPr>
              <a:t>● 再由 DialogueManager 生成回复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2932938"/>
            <a:ext cx="3246120" cy="885825"/>
          </a:xfrm>
          <a:prstGeom prst="rect">
            <a:avLst/>
          </a:prstGeom>
          <a:noFill/>
        </p:spPr>
        <p:txBody>
          <a:bodyPr wrap="square" anchor="t" lIns="25400" t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</a:pPr>
            <a:r>
              <a:rPr sz="1200" b="0">
                <a:solidFill>
                  <a:srgbClr val="1C202C"/>
                </a:solidFill>
                <a:latin typeface="微软雅黑"/>
                <ns5:rFonts xmlns:ns5="http://schemas.openxmlformats.org/wordprocessingml/2006/main" ns5:eastAsia="微软雅黑" ns5:ascii="微软雅黑" ns5:hAnsi="微软雅黑"/>
              </a:rPr>
              <a:t>● 默认用 Mock，现场不依赖外网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3837051"/>
            <a:ext cx="3246120" cy="885825"/>
          </a:xfrm>
          <a:prstGeom prst="rect">
            <a:avLst/>
          </a:prstGeom>
          <a:noFill/>
        </p:spPr>
        <p:txBody>
          <a:bodyPr wrap="square" anchor="t" lIns="25400" t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</a:pPr>
            <a:r>
              <a:rPr sz="1200" b="0">
                <a:solidFill>
                  <a:srgbClr val="1C202C"/>
                </a:solidFill>
                <a:latin typeface="微软雅黑"/>
                <ns6:rFonts xmlns:ns6="http://schemas.openxmlformats.org/wordprocessingml/2006/main" ns6:eastAsia="微软雅黑" ns6:ascii="微软雅黑" ns6:hAnsi="微软雅黑"/>
              </a:rPr>
              <a:t>● 需要时可以换成 LLM 接口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151376" y="2356637"/>
            <a:ext cx="1318564" cy="831829"/>
          </a:xfrm>
          <a:prstGeom prst="roundRect">
            <a:avLst/>
          </a:prstGeom>
          <a:solidFill>
            <a:srgbClr val="0EA5E9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/>
          <a:lstStyle/>
          <a:p>
            <a:pPr algn="ctr">
              <a:defRPr sz="1000" b="1">
                <a:solidFill>
                  <a:srgbClr val="FFFFFF"/>
                </a:solidFill>
                <a:latin typeface="微软雅黑"/>
              </a:defRPr>
            </a:pPr>
            <a:r>
              <a:t>用户</a:t>
            </a:r>
            <a:br/>
            <a:r>
              <a:t>情绪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443984" y="2356637"/>
            <a:ext cx="1318564" cy="831829"/>
          </a:xfrm>
          <a:prstGeom prst="roundRect">
            <a:avLst/>
          </a:prstGeom>
          <a:solidFill>
            <a:srgbClr val="143278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/>
          <a:lstStyle/>
          <a:p>
            <a:pPr algn="ctr">
              <a:defRPr sz="1000" b="1">
                <a:solidFill>
                  <a:srgbClr val="FFFFFF"/>
                </a:solidFill>
                <a:latin typeface="微软雅黑"/>
              </a:defRPr>
            </a:pPr>
            <a:r>
              <a:t>对话</a:t>
            </a:r>
            <a:br/>
            <a:r>
              <a:t>模块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736592" y="2356637"/>
            <a:ext cx="1318564" cy="831829"/>
          </a:xfrm>
          <a:prstGeom prst="roundRect">
            <a:avLst/>
          </a:prstGeom>
          <a:solidFill>
            <a:srgbClr val="10B981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/>
          <a:lstStyle/>
          <a:p>
            <a:pPr algn="ctr">
              <a:defRPr sz="1000" b="1">
                <a:solidFill>
                  <a:srgbClr val="FFFFFF"/>
                </a:solidFill>
                <a:latin typeface="微软雅黑"/>
              </a:defRPr>
            </a:pPr>
            <a:r>
              <a:t>安抚</a:t>
            </a:r>
            <a:br/>
            <a:r>
              <a:t>话术</a:t>
            </a:r>
          </a:p>
        </p:txBody>
      </p:sp>
      <p:cxnSp>
        <p:nvCxnSpPr>
          <p:cNvPr id="17" name="Connector 16"/>
          <p:cNvCxnSpPr/>
          <p:nvPr/>
        </p:nvCxnSpPr>
        <p:spPr>
          <a:xfrm flipH="1">
            <a:off x="4443984" y="2772552"/>
            <a:ext cx="1025956" cy="0"/>
          </a:xfrm>
          <a:prstGeom prst="line">
            <a:avLst/>
          </a:prstGeom>
          <a:ln w="25400">
            <a:solidFill>
              <a:srgbClr val="14327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 flipH="1">
            <a:off x="4736592" y="2772552"/>
            <a:ext cx="1025956" cy="0"/>
          </a:xfrm>
          <a:prstGeom prst="line">
            <a:avLst/>
          </a:prstGeom>
          <a:ln w="25400">
            <a:solidFill>
              <a:srgbClr val="14327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4224528" y="3755623"/>
            <a:ext cx="4489704" cy="182880"/>
          </a:xfrm>
          <a:prstGeom prst="roundRect">
            <a:avLst/>
          </a:prstGeom>
          <a:solidFill>
            <a:srgbClr val="F1F7FF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/>
          <a:lstStyle/>
          <a:p>
            <a:pPr algn="ctr">
              <a:defRPr sz="900" b="0">
                <a:solidFill>
                  <a:srgbClr val="143278"/>
                </a:solidFill>
                <a:latin typeface="微软雅黑"/>
              </a:defRPr>
            </a:pPr>
            <a:r>
              <a:t>默认 Mock，可换 API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420624"/>
          </a:xfrm>
          <a:prstGeom prst="rect">
            <a:avLst/>
          </a:prstGeom>
          <a:solidFill>
            <a:srgbClr val="1432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54864"/>
            <a:ext cx="859536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1">
                <a:solidFill>
                  <a:srgbClr val="FFFFFF"/>
                </a:solidFill>
                <a:latin typeface="微软雅黑"/>
                <ns0:rFonts xmlns:ns0="http://schemas.openxmlformats.org/wordprocessingml/2006/main" ns0:eastAsia="微软雅黑" ns0:ascii="微软雅黑" ns0:hAnsi="微软雅黑"/>
              </a:rPr>
              <a:t>第二十八届中国机器人及人工智能大赛  |  创新赛 · 机器人创新赛道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4905756"/>
            <a:ext cx="9144000" cy="237744"/>
          </a:xfrm>
          <a:prstGeom prst="rect">
            <a:avLst/>
          </a:prstGeom>
          <a:solidFill>
            <a:srgbClr val="DBEA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74320" y="4951476"/>
            <a:ext cx="859536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00" b="0">
                <a:solidFill>
                  <a:srgbClr val="5A6273"/>
                </a:solidFill>
                <a:latin typeface="微软雅黑"/>
                <ns1:rFonts xmlns:ns1="http://schemas.openxmlformats.org/wordprocessingml/2006/main" ns1:eastAsia="微软雅黑" ns1:ascii="微软雅黑" ns1:hAnsi="微软雅黑"/>
              </a:rPr>
              <a:t>从容应队 · 中山大学 · 刘小凡/白冉 · 指导教师 彭键清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4320" y="466344"/>
            <a:ext cx="85953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000" b="1">
                <a:solidFill>
                  <a:srgbClr val="143278"/>
                </a:solidFill>
                <a:latin typeface="微软雅黑"/>
                <ns2:rFonts xmlns:ns2="http://schemas.openxmlformats.org/wordprocessingml/2006/main" ns2:eastAsia="微软雅黑" ns2:ascii="微软雅黑" ns2:hAnsi="微软雅黑"/>
              </a:rPr>
              <a:t>数据怎么往下走</a:t>
            </a:r>
          </a:p>
        </p:txBody>
      </p:sp>
      <p:sp>
        <p:nvSpPr>
          <p:cNvPr id="7" name="Rectangle 6"/>
          <p:cNvSpPr/>
          <p:nvPr/>
        </p:nvSpPr>
        <p:spPr>
          <a:xfrm>
            <a:off x="274320" y="886968"/>
            <a:ext cx="1143000" cy="50292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74320" y="996696"/>
            <a:ext cx="3611880" cy="3854196"/>
          </a:xfrm>
          <a:prstGeom prst="rect">
            <a:avLst/>
          </a:prstGeom>
          <a:solidFill>
            <a:srgbClr val="F1F7FF"/>
          </a:solidFill>
          <a:ln w="10160">
            <a:solidFill>
              <a:srgbClr val="BAC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74320" y="996696"/>
            <a:ext cx="73152" cy="3854196"/>
          </a:xfrm>
          <a:prstGeom prst="rect">
            <a:avLst/>
          </a:prstGeom>
          <a:solidFill>
            <a:srgbClr val="1432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200" y="1124712"/>
            <a:ext cx="3246120" cy="885825"/>
          </a:xfrm>
          <a:prstGeom prst="rect">
            <a:avLst/>
          </a:prstGeom>
          <a:noFill/>
        </p:spPr>
        <p:txBody>
          <a:bodyPr wrap="square" anchor="t" lIns="25400" t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</a:pPr>
            <a:r>
              <a:rPr sz="1200" b="0">
                <a:solidFill>
                  <a:srgbClr val="1C202C"/>
                </a:solidFill>
                <a:latin typeface="微软雅黑"/>
                <ns3:rFonts xmlns:ns3="http://schemas.openxmlformats.org/wordprocessingml/2006/main" ns3:eastAsia="微软雅黑" ns3:ascii="微软雅黑" ns3:hAnsi="微软雅黑"/>
              </a:rPr>
              <a:t>● 一帧感知数据进来先提特征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2028825"/>
            <a:ext cx="3246120" cy="885825"/>
          </a:xfrm>
          <a:prstGeom prst="rect">
            <a:avLst/>
          </a:prstGeom>
          <a:noFill/>
        </p:spPr>
        <p:txBody>
          <a:bodyPr wrap="square" anchor="t" lIns="25400" t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</a:pPr>
            <a:r>
              <a:rPr sz="1200" b="0">
                <a:solidFill>
                  <a:srgbClr val="1C202C"/>
                </a:solidFill>
                <a:latin typeface="微软雅黑"/>
                <ns4:rFonts xmlns:ns4="http://schemas.openxmlformats.org/wordprocessingml/2006/main" ns4:eastAsia="微软雅黑" ns4:ascii="微软雅黑" ns4:hAnsi="微软雅黑"/>
              </a:rPr>
              <a:t>● 融合后交给状态机判断阶段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2932938"/>
            <a:ext cx="3246120" cy="885825"/>
          </a:xfrm>
          <a:prstGeom prst="rect">
            <a:avLst/>
          </a:prstGeom>
          <a:noFill/>
        </p:spPr>
        <p:txBody>
          <a:bodyPr wrap="square" anchor="t" lIns="25400" t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</a:pPr>
            <a:r>
              <a:rPr sz="1200" b="0">
                <a:solidFill>
                  <a:srgbClr val="1C202C"/>
                </a:solidFill>
                <a:latin typeface="微软雅黑"/>
                <ns5:rFonts xmlns:ns5="http://schemas.openxmlformats.org/wordprocessingml/2006/main" ns5:eastAsia="微软雅黑" ns5:ascii="微软雅黑" ns5:hAnsi="微软雅黑"/>
              </a:rPr>
              <a:t>● 规划器决定机器人做什么动作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3837051"/>
            <a:ext cx="3246120" cy="885825"/>
          </a:xfrm>
          <a:prstGeom prst="rect">
            <a:avLst/>
          </a:prstGeom>
          <a:noFill/>
        </p:spPr>
        <p:txBody>
          <a:bodyPr wrap="square" anchor="t" lIns="25400" t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</a:pPr>
            <a:r>
              <a:rPr sz="1200" b="0">
                <a:solidFill>
                  <a:srgbClr val="1C202C"/>
                </a:solidFill>
                <a:latin typeface="微软雅黑"/>
                <ns6:rFonts xmlns:ns6="http://schemas.openxmlformats.org/wordprocessingml/2006/main" ns6:eastAsia="微软雅黑" ns6:ascii="微软雅黑" ns6:hAnsi="微软雅黑"/>
              </a:rPr>
              <a:t>● Web 页面上能看到整条链路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187952" y="2621310"/>
            <a:ext cx="710184" cy="831829"/>
          </a:xfrm>
          <a:prstGeom prst="roundRect">
            <a:avLst/>
          </a:prstGeom>
          <a:solidFill>
            <a:srgbClr val="2563EB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/>
          <a:lstStyle/>
          <a:p>
            <a:pPr algn="ctr">
              <a:defRPr sz="1000" b="1">
                <a:solidFill>
                  <a:srgbClr val="FFFFFF"/>
                </a:solidFill>
                <a:latin typeface="微软雅黑"/>
              </a:defRPr>
            </a:pPr>
            <a:r>
              <a:t>采集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4898136" y="3037225"/>
            <a:ext cx="54863" cy="0"/>
          </a:xfrm>
          <a:prstGeom prst="line">
            <a:avLst/>
          </a:prstGeom>
          <a:ln w="25400">
            <a:solidFill>
              <a:srgbClr val="14327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4934712" y="2621310"/>
            <a:ext cx="710184" cy="831829"/>
          </a:xfrm>
          <a:prstGeom prst="roundRect">
            <a:avLst/>
          </a:prstGeom>
          <a:solidFill>
            <a:srgbClr val="2563EB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/>
          <a:lstStyle/>
          <a:p>
            <a:pPr algn="ctr">
              <a:defRPr sz="1000" b="1">
                <a:solidFill>
                  <a:srgbClr val="FFFFFF"/>
                </a:solidFill>
                <a:latin typeface="微软雅黑"/>
              </a:defRPr>
            </a:pPr>
            <a:r>
              <a:t>特征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5644896" y="3037225"/>
            <a:ext cx="54863" cy="0"/>
          </a:xfrm>
          <a:prstGeom prst="line">
            <a:avLst/>
          </a:prstGeom>
          <a:ln w="25400">
            <a:solidFill>
              <a:srgbClr val="14327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ounded Rectangle 17"/>
          <p:cNvSpPr/>
          <p:nvPr/>
        </p:nvSpPr>
        <p:spPr>
          <a:xfrm>
            <a:off x="5681472" y="2621310"/>
            <a:ext cx="710184" cy="831829"/>
          </a:xfrm>
          <a:prstGeom prst="roundRect">
            <a:avLst/>
          </a:prstGeom>
          <a:solidFill>
            <a:srgbClr val="2563EB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/>
          <a:lstStyle/>
          <a:p>
            <a:pPr algn="ctr">
              <a:defRPr sz="1000" b="1">
                <a:solidFill>
                  <a:srgbClr val="FFFFFF"/>
                </a:solidFill>
                <a:latin typeface="微软雅黑"/>
              </a:defRPr>
            </a:pPr>
            <a:r>
              <a:t>融合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6391655" y="3037225"/>
            <a:ext cx="54864" cy="0"/>
          </a:xfrm>
          <a:prstGeom prst="line">
            <a:avLst/>
          </a:prstGeom>
          <a:ln w="25400">
            <a:solidFill>
              <a:srgbClr val="14327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ounded Rectangle 19"/>
          <p:cNvSpPr/>
          <p:nvPr/>
        </p:nvSpPr>
        <p:spPr>
          <a:xfrm>
            <a:off x="6428231" y="2621310"/>
            <a:ext cx="710184" cy="831829"/>
          </a:xfrm>
          <a:prstGeom prst="roundRect">
            <a:avLst/>
          </a:prstGeom>
          <a:solidFill>
            <a:srgbClr val="2563EB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/>
          <a:lstStyle/>
          <a:p>
            <a:pPr algn="ctr">
              <a:defRPr sz="1000" b="1">
                <a:solidFill>
                  <a:srgbClr val="FFFFFF"/>
                </a:solidFill>
                <a:latin typeface="微软雅黑"/>
              </a:defRPr>
            </a:pPr>
            <a:r>
              <a:t>状态机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7138415" y="3037225"/>
            <a:ext cx="54864" cy="0"/>
          </a:xfrm>
          <a:prstGeom prst="line">
            <a:avLst/>
          </a:prstGeom>
          <a:ln w="25400">
            <a:solidFill>
              <a:srgbClr val="14327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ounded Rectangle 21"/>
          <p:cNvSpPr/>
          <p:nvPr/>
        </p:nvSpPr>
        <p:spPr>
          <a:xfrm>
            <a:off x="7174991" y="2621310"/>
            <a:ext cx="710184" cy="831829"/>
          </a:xfrm>
          <a:prstGeom prst="roundRect">
            <a:avLst/>
          </a:prstGeom>
          <a:solidFill>
            <a:srgbClr val="2563EB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/>
          <a:lstStyle/>
          <a:p>
            <a:pPr algn="ctr">
              <a:defRPr sz="1000" b="1">
                <a:solidFill>
                  <a:srgbClr val="FFFFFF"/>
                </a:solidFill>
                <a:latin typeface="微软雅黑"/>
              </a:defRPr>
            </a:pPr>
            <a:r>
              <a:t>规划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7885176" y="3037225"/>
            <a:ext cx="54863" cy="0"/>
          </a:xfrm>
          <a:prstGeom prst="line">
            <a:avLst/>
          </a:prstGeom>
          <a:ln w="25400">
            <a:solidFill>
              <a:srgbClr val="14327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ounded Rectangle 23"/>
          <p:cNvSpPr/>
          <p:nvPr/>
        </p:nvSpPr>
        <p:spPr>
          <a:xfrm>
            <a:off x="7921751" y="2621310"/>
            <a:ext cx="710184" cy="831829"/>
          </a:xfrm>
          <a:prstGeom prst="roundRect">
            <a:avLst/>
          </a:prstGeom>
          <a:solidFill>
            <a:srgbClr val="2563EB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/>
          <a:lstStyle/>
          <a:p>
            <a:pPr algn="ctr">
              <a:defRPr sz="1000" b="1">
                <a:solidFill>
                  <a:srgbClr val="FFFFFF"/>
                </a:solidFill>
                <a:latin typeface="微软雅黑"/>
              </a:defRPr>
            </a:pPr>
            <a:r>
              <a:t>执行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420624"/>
          </a:xfrm>
          <a:prstGeom prst="rect">
            <a:avLst/>
          </a:prstGeom>
          <a:solidFill>
            <a:srgbClr val="1432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54864"/>
            <a:ext cx="859536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1">
                <a:solidFill>
                  <a:srgbClr val="FFFFFF"/>
                </a:solidFill>
                <a:latin typeface="微软雅黑"/>
                <ns0:rFonts xmlns:ns0="http://schemas.openxmlformats.org/wordprocessingml/2006/main" ns0:eastAsia="微软雅黑" ns0:ascii="微软雅黑" ns0:hAnsi="微软雅黑"/>
              </a:rPr>
              <a:t>第二十八届中国机器人及人工智能大赛  |  创新赛 · 机器人创新赛道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4905756"/>
            <a:ext cx="9144000" cy="237744"/>
          </a:xfrm>
          <a:prstGeom prst="rect">
            <a:avLst/>
          </a:prstGeom>
          <a:solidFill>
            <a:srgbClr val="DBEA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74320" y="4951476"/>
            <a:ext cx="859536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00" b="0">
                <a:solidFill>
                  <a:srgbClr val="5A6273"/>
                </a:solidFill>
                <a:latin typeface="微软雅黑"/>
                <ns1:rFonts xmlns:ns1="http://schemas.openxmlformats.org/wordprocessingml/2006/main" ns1:eastAsia="微软雅黑" ns1:ascii="微软雅黑" ns1:hAnsi="微软雅黑"/>
              </a:rPr>
              <a:t>从容应队 · 中山大学 · 刘小凡/白冉 · 指导教师 彭键清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4320" y="466344"/>
            <a:ext cx="85953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000" b="1">
                <a:solidFill>
                  <a:srgbClr val="143278"/>
                </a:solidFill>
                <a:latin typeface="微软雅黑"/>
                <ns2:rFonts xmlns:ns2="http://schemas.openxmlformats.org/wordprocessingml/2006/main" ns2:eastAsia="微软雅黑" ns2:ascii="微软雅黑" ns2:hAnsi="微软雅黑"/>
              </a:rPr>
              <a:t>确认跌倒之后怎么办</a:t>
            </a:r>
          </a:p>
        </p:txBody>
      </p:sp>
      <p:sp>
        <p:nvSpPr>
          <p:cNvPr id="7" name="Rectangle 6"/>
          <p:cNvSpPr/>
          <p:nvPr/>
        </p:nvSpPr>
        <p:spPr>
          <a:xfrm>
            <a:off x="274320" y="886968"/>
            <a:ext cx="1143000" cy="50292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74320" y="996696"/>
            <a:ext cx="3611880" cy="3854196"/>
          </a:xfrm>
          <a:prstGeom prst="rect">
            <a:avLst/>
          </a:prstGeom>
          <a:solidFill>
            <a:srgbClr val="F1F7FF"/>
          </a:solidFill>
          <a:ln w="10160">
            <a:solidFill>
              <a:srgbClr val="BAC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74320" y="996696"/>
            <a:ext cx="73152" cy="3854196"/>
          </a:xfrm>
          <a:prstGeom prst="rect">
            <a:avLst/>
          </a:prstGeom>
          <a:solidFill>
            <a:srgbClr val="1432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200" y="1124712"/>
            <a:ext cx="3246120" cy="803529"/>
          </a:xfrm>
          <a:prstGeom prst="rect">
            <a:avLst/>
          </a:prstGeom>
          <a:noFill/>
        </p:spPr>
        <p:txBody>
          <a:bodyPr wrap="square" anchor="t" lIns="25400" t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</a:pPr>
            <a:r>
              <a:rPr sz="1200" b="0">
                <a:solidFill>
                  <a:srgbClr val="1C202C"/>
                </a:solidFill>
                <a:latin typeface="微软雅黑"/>
                <ns3:rFonts xmlns:ns3="http://schemas.openxmlformats.org/wordprocessingml/2006/main" ns3:eastAsia="微软雅黑" ns3:ascii="微软雅黑" ns3:hAnsi="微软雅黑"/>
              </a:rPr>
              <a:t>● 先播告警，再语音安抚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1946529"/>
            <a:ext cx="3246120" cy="803529"/>
          </a:xfrm>
          <a:prstGeom prst="rect">
            <a:avLst/>
          </a:prstGeom>
          <a:noFill/>
        </p:spPr>
        <p:txBody>
          <a:bodyPr wrap="square" anchor="t" lIns="25400" t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</a:pPr>
            <a:r>
              <a:rPr sz="1200" b="0">
                <a:solidFill>
                  <a:srgbClr val="1C202C"/>
                </a:solidFill>
                <a:latin typeface="微软雅黑"/>
                <ns4:rFonts xmlns:ns4="http://schemas.openxmlformats.org/wordprocessingml/2006/main" ns4:eastAsia="微软雅黑" ns4:ascii="微软雅黑" ns4:hAnsi="微软雅黑"/>
              </a:rPr>
              <a:t>● 然后通知家属，最后做举手等动作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2768346"/>
            <a:ext cx="3246120" cy="803529"/>
          </a:xfrm>
          <a:prstGeom prst="rect">
            <a:avLst/>
          </a:prstGeom>
          <a:noFill/>
        </p:spPr>
        <p:txBody>
          <a:bodyPr wrap="square" anchor="t" lIns="25400" t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</a:pPr>
            <a:r>
              <a:rPr sz="1200" b="0">
                <a:solidFill>
                  <a:srgbClr val="1C202C"/>
                </a:solidFill>
                <a:latin typeface="微软雅黑"/>
                <ns5:rFonts xmlns:ns5="http://schemas.openxmlformats.org/wordprocessingml/2006/main" ns5:eastAsia="微软雅黑" ns5:ascii="微软雅黑" ns5:hAnsi="微软雅黑"/>
              </a:rPr>
              <a:t>● EmergencyNotifier 里留了记录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3590163"/>
            <a:ext cx="3246120" cy="803529"/>
          </a:xfrm>
          <a:prstGeom prst="rect">
            <a:avLst/>
          </a:prstGeom>
          <a:noFill/>
        </p:spPr>
        <p:txBody>
          <a:bodyPr wrap="square" anchor="t" lIns="25400" t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</a:pPr>
            <a:r>
              <a:rPr sz="1200" b="0">
                <a:solidFill>
                  <a:srgbClr val="1C202C"/>
                </a:solidFill>
                <a:latin typeface="微软雅黑"/>
                <ns6:rFonts xmlns:ns6="http://schemas.openxmlformats.org/wordprocessingml/2006/main" ns6:eastAsia="微软雅黑" ns6:ascii="微软雅黑" ns6:hAnsi="微软雅黑"/>
              </a:rPr>
              <a:t>● 脚本测过端到端触发率 100%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65760" y="4521708"/>
            <a:ext cx="3429000" cy="310896"/>
          </a:xfrm>
          <a:prstGeom prst="rect">
            <a:avLst/>
          </a:prstGeom>
          <a:solidFill>
            <a:srgbClr val="1432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02336" y="4585716"/>
            <a:ext cx="3355848" cy="201167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微软雅黑"/>
                <ns7:rFonts xmlns:ns7="http://schemas.openxmlformats.org/wordprocessingml/2006/main" ns7:eastAsia="微软雅黑" ns7:ascii="微软雅黑" ns7:hAnsi="微软雅黑"/>
              </a:rPr>
              <a:t>紧急流程在演示里能完整走通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169663" y="2545689"/>
            <a:ext cx="1085850" cy="756208"/>
          </a:xfrm>
          <a:prstGeom prst="roundRect">
            <a:avLst/>
          </a:prstGeom>
          <a:solidFill>
            <a:srgbClr val="F59E0B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/>
          <a:lstStyle/>
          <a:p>
            <a:pPr algn="ctr">
              <a:defRPr sz="1100" b="1">
                <a:solidFill>
                  <a:srgbClr val="FFFFFF"/>
                </a:solidFill>
                <a:latin typeface="微软雅黑"/>
              </a:defRPr>
            </a:pPr>
            <a:r>
              <a:t>告警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5255514" y="2923794"/>
            <a:ext cx="45719" cy="0"/>
          </a:xfrm>
          <a:prstGeom prst="line">
            <a:avLst/>
          </a:prstGeom>
          <a:ln w="25400">
            <a:solidFill>
              <a:srgbClr val="14327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ounded Rectangle 17"/>
          <p:cNvSpPr/>
          <p:nvPr/>
        </p:nvSpPr>
        <p:spPr>
          <a:xfrm>
            <a:off x="5301233" y="2545689"/>
            <a:ext cx="1085850" cy="756208"/>
          </a:xfrm>
          <a:prstGeom prst="roundRect">
            <a:avLst/>
          </a:prstGeom>
          <a:solidFill>
            <a:srgbClr val="2563EB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/>
          <a:lstStyle/>
          <a:p>
            <a:pPr algn="ctr">
              <a:defRPr sz="1100" b="1">
                <a:solidFill>
                  <a:srgbClr val="FFFFFF"/>
                </a:solidFill>
                <a:latin typeface="微软雅黑"/>
              </a:defRPr>
            </a:pPr>
            <a:r>
              <a:t>语音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6387083" y="2923794"/>
            <a:ext cx="45720" cy="0"/>
          </a:xfrm>
          <a:prstGeom prst="line">
            <a:avLst/>
          </a:prstGeom>
          <a:ln w="25400">
            <a:solidFill>
              <a:srgbClr val="14327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ounded Rectangle 19"/>
          <p:cNvSpPr/>
          <p:nvPr/>
        </p:nvSpPr>
        <p:spPr>
          <a:xfrm>
            <a:off x="6432803" y="2545689"/>
            <a:ext cx="1085850" cy="756208"/>
          </a:xfrm>
          <a:prstGeom prst="roundRect">
            <a:avLst/>
          </a:prstGeom>
          <a:solidFill>
            <a:srgbClr val="DC2626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/>
          <a:lstStyle/>
          <a:p>
            <a:pPr algn="ctr">
              <a:defRPr sz="1100" b="1">
                <a:solidFill>
                  <a:srgbClr val="FFFFFF"/>
                </a:solidFill>
                <a:latin typeface="微软雅黑"/>
              </a:defRPr>
            </a:pPr>
            <a:r>
              <a:t>通知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7518653" y="2923794"/>
            <a:ext cx="45720" cy="0"/>
          </a:xfrm>
          <a:prstGeom prst="line">
            <a:avLst/>
          </a:prstGeom>
          <a:ln w="25400">
            <a:solidFill>
              <a:srgbClr val="14327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ounded Rectangle 21"/>
          <p:cNvSpPr/>
          <p:nvPr/>
        </p:nvSpPr>
        <p:spPr>
          <a:xfrm>
            <a:off x="7564373" y="2545689"/>
            <a:ext cx="1085850" cy="756208"/>
          </a:xfrm>
          <a:prstGeom prst="roundRect">
            <a:avLst/>
          </a:prstGeom>
          <a:solidFill>
            <a:srgbClr val="10B981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/>
          <a:lstStyle/>
          <a:p>
            <a:pPr algn="ctr">
              <a:defRPr sz="1100" b="1">
                <a:solidFill>
                  <a:srgbClr val="FFFFFF"/>
                </a:solidFill>
                <a:latin typeface="微软雅黑"/>
              </a:defRPr>
            </a:pPr>
            <a:r>
              <a:t>手势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8650224" y="2923794"/>
            <a:ext cx="45720" cy="0"/>
          </a:xfrm>
          <a:prstGeom prst="line">
            <a:avLst/>
          </a:prstGeom>
          <a:ln w="25400">
            <a:solidFill>
              <a:srgbClr val="14327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420624"/>
          </a:xfrm>
          <a:prstGeom prst="rect">
            <a:avLst/>
          </a:prstGeom>
          <a:solidFill>
            <a:srgbClr val="1432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54864"/>
            <a:ext cx="859536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1">
                <a:solidFill>
                  <a:srgbClr val="FFFFFF"/>
                </a:solidFill>
                <a:latin typeface="微软雅黑"/>
                <ns0:rFonts xmlns:ns0="http://schemas.openxmlformats.org/wordprocessingml/2006/main" ns0:eastAsia="微软雅黑" ns0:ascii="微软雅黑" ns0:hAnsi="微软雅黑"/>
              </a:rPr>
              <a:t>第二十八届中国机器人及人工智能大赛  |  创新赛 · 机器人创新赛道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4905756"/>
            <a:ext cx="9144000" cy="237744"/>
          </a:xfrm>
          <a:prstGeom prst="rect">
            <a:avLst/>
          </a:prstGeom>
          <a:solidFill>
            <a:srgbClr val="DBEA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74320" y="4951476"/>
            <a:ext cx="859536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00" b="0">
                <a:solidFill>
                  <a:srgbClr val="5A6273"/>
                </a:solidFill>
                <a:latin typeface="微软雅黑"/>
                <ns1:rFonts xmlns:ns1="http://schemas.openxmlformats.org/wordprocessingml/2006/main" ns1:eastAsia="微软雅黑" ns1:ascii="微软雅黑" ns1:hAnsi="微软雅黑"/>
              </a:rPr>
              <a:t>从容应队 · 中山大学 · 刘小凡/白冉 · 指导教师 彭键清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420624"/>
            <a:ext cx="4343400" cy="4430268"/>
          </a:xfrm>
          <a:prstGeom prst="rect">
            <a:avLst/>
          </a:prstGeom>
          <a:solidFill>
            <a:srgbClr val="1432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384048" y="740664"/>
            <a:ext cx="658368" cy="658368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84048" y="804672"/>
            <a:ext cx="658368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200" b="1">
                <a:solidFill>
                  <a:srgbClr val="FFFFFF"/>
                </a:solidFill>
                <a:latin typeface="微软雅黑"/>
                <ns2:rFonts xmlns:ns2="http://schemas.openxmlformats.org/wordprocessingml/2006/main" ns2:eastAsia="微软雅黑" ns2:ascii="微软雅黑" ns2:hAnsi="微软雅黑"/>
              </a:rPr>
              <a:t>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47472" y="1472184"/>
            <a:ext cx="384048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FFFFFF"/>
                </a:solidFill>
                <a:latin typeface="微软雅黑"/>
                <ns3:rFonts xmlns:ns3="http://schemas.openxmlformats.org/wordprocessingml/2006/main" ns3:eastAsia="微软雅黑" ns3:ascii="微软雅黑" ns3:hAnsi="微软雅黑"/>
              </a:rPr>
              <a:t>第三部分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1947672"/>
            <a:ext cx="384048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0">
                <a:solidFill>
                  <a:srgbClr val="BFDBFE"/>
                </a:solidFill>
                <a:latin typeface="微软雅黑"/>
                <ns4:rFonts xmlns:ns4="http://schemas.openxmlformats.org/wordprocessingml/2006/main" ns4:eastAsia="微软雅黑" ns4:ascii="微软雅黑" ns4:hAnsi="微软雅黑"/>
              </a:rPr>
              <a:t>实现 · 测试 · 演示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84048" y="2432304"/>
            <a:ext cx="3657600" cy="384048"/>
          </a:xfrm>
          <a:prstGeom prst="rect">
            <a:avLst/>
          </a:prstGeom>
          <a:solidFill>
            <a:srgbClr val="1E4082"/>
          </a:solidFill>
          <a:ln>
            <a:solidFill>
              <a:srgbClr val="648C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2920" y="2505456"/>
            <a:ext cx="34290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0">
                <a:solidFill>
                  <a:srgbClr val="E2E8F0"/>
                </a:solidFill>
                <a:latin typeface="微软雅黑"/>
                <ns5:rFonts xmlns:ns5="http://schemas.openxmlformats.org/wordprocessingml/2006/main" ns5:eastAsia="微软雅黑" ns5:ascii="微软雅黑" ns5:hAnsi="微软雅黑"/>
              </a:rPr>
              <a:t>Web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84048" y="2871216"/>
            <a:ext cx="3657600" cy="384048"/>
          </a:xfrm>
          <a:prstGeom prst="rect">
            <a:avLst/>
          </a:prstGeom>
          <a:solidFill>
            <a:srgbClr val="1E4082"/>
          </a:solidFill>
          <a:ln>
            <a:solidFill>
              <a:srgbClr val="648C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2920" y="2944368"/>
            <a:ext cx="34290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0">
                <a:solidFill>
                  <a:srgbClr val="E2E8F0"/>
                </a:solidFill>
                <a:latin typeface="微软雅黑"/>
                <ns6:rFonts xmlns:ns6="http://schemas.openxmlformats.org/wordprocessingml/2006/main" ns6:eastAsia="微软雅黑" ns6:ascii="微软雅黑" ns6:hAnsi="微软雅黑"/>
              </a:rPr>
              <a:t>视觉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84048" y="3310128"/>
            <a:ext cx="3657600" cy="384048"/>
          </a:xfrm>
          <a:prstGeom prst="rect">
            <a:avLst/>
          </a:prstGeom>
          <a:solidFill>
            <a:srgbClr val="1E4082"/>
          </a:solidFill>
          <a:ln>
            <a:solidFill>
              <a:srgbClr val="648C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2920" y="3383280"/>
            <a:ext cx="34290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0">
                <a:solidFill>
                  <a:srgbClr val="E2E8F0"/>
                </a:solidFill>
                <a:latin typeface="微软雅黑"/>
                <ns7:rFonts xmlns:ns7="http://schemas.openxmlformats.org/wordprocessingml/2006/main" ns7:eastAsia="微软雅黑" ns7:ascii="微软雅黑" ns7:hAnsi="微软雅黑"/>
              </a:rPr>
              <a:t>指标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343400" y="420624"/>
            <a:ext cx="4800600" cy="4430268"/>
          </a:xfrm>
          <a:prstGeom prst="rect">
            <a:avLst/>
          </a:prstGeom>
          <a:solidFill>
            <a:srgbClr val="F1F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416552" y="1143000"/>
            <a:ext cx="1005840" cy="52422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143278"/>
                </a:solidFill>
                <a:latin typeface="微软雅黑"/>
              </a:defRPr>
            </a:pPr>
            <a:r>
              <a:t>Precision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468112" y="1161288"/>
            <a:ext cx="3511296" cy="486780"/>
          </a:xfrm>
          <a:prstGeom prst="roundRect">
            <a:avLst/>
          </a:prstGeom>
          <a:solidFill>
            <a:srgbClr val="10B981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/>
          <a:lstStyle/>
          <a:p>
            <a:pPr algn="ctr">
              <a:defRPr sz="1000" b="1">
                <a:solidFill>
                  <a:srgbClr val="FFFFFF"/>
                </a:solidFill>
                <a:latin typeface="微软雅黑"/>
              </a:defRPr>
            </a:pPr>
            <a:r>
              <a:t>100%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16552" y="1891893"/>
            <a:ext cx="1005840" cy="52422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143278"/>
                </a:solidFill>
                <a:latin typeface="微软雅黑"/>
              </a:defRPr>
            </a:pPr>
            <a:r>
              <a:t>Recall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468112" y="1910181"/>
            <a:ext cx="3511296" cy="486780"/>
          </a:xfrm>
          <a:prstGeom prst="roundRect">
            <a:avLst/>
          </a:prstGeom>
          <a:solidFill>
            <a:srgbClr val="10B981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/>
          <a:lstStyle/>
          <a:p>
            <a:pPr algn="ctr">
              <a:defRPr sz="1000" b="1">
                <a:solidFill>
                  <a:srgbClr val="FFFFFF"/>
                </a:solidFill>
                <a:latin typeface="微软雅黑"/>
              </a:defRPr>
            </a:pPr>
            <a:r>
              <a:t>100%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416552" y="2640787"/>
            <a:ext cx="1005840" cy="52422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143278"/>
                </a:solidFill>
                <a:latin typeface="微软雅黑"/>
              </a:defRPr>
            </a:pPr>
            <a:r>
              <a:t>F1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468112" y="2659075"/>
            <a:ext cx="3511296" cy="486780"/>
          </a:xfrm>
          <a:prstGeom prst="roundRect">
            <a:avLst/>
          </a:prstGeom>
          <a:solidFill>
            <a:srgbClr val="10B981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/>
          <a:lstStyle/>
          <a:p>
            <a:pPr algn="ctr">
              <a:defRPr sz="1000" b="1">
                <a:solidFill>
                  <a:srgbClr val="FFFFFF"/>
                </a:solidFill>
                <a:latin typeface="微软雅黑"/>
              </a:defRPr>
            </a:pPr>
            <a:r>
              <a:t>100%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416552" y="3389680"/>
            <a:ext cx="1005840" cy="52422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143278"/>
                </a:solidFill>
                <a:latin typeface="微软雅黑"/>
              </a:defRPr>
            </a:pPr>
            <a:r>
              <a:t>紧急触发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468112" y="3407968"/>
            <a:ext cx="3511296" cy="486780"/>
          </a:xfrm>
          <a:prstGeom prst="roundRect">
            <a:avLst/>
          </a:prstGeom>
          <a:solidFill>
            <a:srgbClr val="10B981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/>
          <a:lstStyle/>
          <a:p>
            <a:pPr algn="ctr">
              <a:defRPr sz="1000" b="1">
                <a:solidFill>
                  <a:srgbClr val="FFFFFF"/>
                </a:solidFill>
                <a:latin typeface="微软雅黑"/>
              </a:defRPr>
            </a:pPr>
            <a:r>
              <a:t>100%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420624"/>
          </a:xfrm>
          <a:prstGeom prst="rect">
            <a:avLst/>
          </a:prstGeom>
          <a:solidFill>
            <a:srgbClr val="1432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54864"/>
            <a:ext cx="859536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1">
                <a:solidFill>
                  <a:srgbClr val="FFFFFF"/>
                </a:solidFill>
                <a:latin typeface="微软雅黑"/>
                <ns0:rFonts xmlns:ns0="http://schemas.openxmlformats.org/wordprocessingml/2006/main" ns0:eastAsia="微软雅黑" ns0:ascii="微软雅黑" ns0:hAnsi="微软雅黑"/>
              </a:rPr>
              <a:t>第二十八届中国机器人及人工智能大赛  |  创新赛 · 机器人创新赛道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4905756"/>
            <a:ext cx="9144000" cy="237744"/>
          </a:xfrm>
          <a:prstGeom prst="rect">
            <a:avLst/>
          </a:prstGeom>
          <a:solidFill>
            <a:srgbClr val="DBEA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74320" y="4951476"/>
            <a:ext cx="859536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00" b="0">
                <a:solidFill>
                  <a:srgbClr val="5A6273"/>
                </a:solidFill>
                <a:latin typeface="微软雅黑"/>
                <ns1:rFonts xmlns:ns1="http://schemas.openxmlformats.org/wordprocessingml/2006/main" ns1:eastAsia="微软雅黑" ns1:ascii="微软雅黑" ns1:hAnsi="微软雅黑"/>
              </a:rPr>
              <a:t>从容应队 · 中山大学 · 刘小凡/白冉 · 指导教师 彭键清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4320" y="466344"/>
            <a:ext cx="85953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000" b="1">
                <a:solidFill>
                  <a:srgbClr val="143278"/>
                </a:solidFill>
                <a:latin typeface="微软雅黑"/>
                <ns2:rFonts xmlns:ns2="http://schemas.openxmlformats.org/wordprocessingml/2006/main" ns2:eastAsia="微软雅黑" ns2:ascii="微软雅黑" ns2:hAnsi="微软雅黑"/>
              </a:rPr>
              <a:t>Web 端长什么样</a:t>
            </a:r>
          </a:p>
        </p:txBody>
      </p:sp>
      <p:sp>
        <p:nvSpPr>
          <p:cNvPr id="7" name="Rectangle 6"/>
          <p:cNvSpPr/>
          <p:nvPr/>
        </p:nvSpPr>
        <p:spPr>
          <a:xfrm>
            <a:off x="274320" y="886968"/>
            <a:ext cx="1143000" cy="50292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74320" y="996696"/>
            <a:ext cx="3611880" cy="3854196"/>
          </a:xfrm>
          <a:prstGeom prst="rect">
            <a:avLst/>
          </a:prstGeom>
          <a:solidFill>
            <a:srgbClr val="F1F7FF"/>
          </a:solidFill>
          <a:ln w="10160">
            <a:solidFill>
              <a:srgbClr val="BAC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74320" y="996696"/>
            <a:ext cx="73152" cy="3854196"/>
          </a:xfrm>
          <a:prstGeom prst="rect">
            <a:avLst/>
          </a:prstGeom>
          <a:solidFill>
            <a:srgbClr val="1432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200" y="1124712"/>
            <a:ext cx="3246120" cy="885825"/>
          </a:xfrm>
          <a:prstGeom prst="rect">
            <a:avLst/>
          </a:prstGeom>
          <a:noFill/>
        </p:spPr>
        <p:txBody>
          <a:bodyPr wrap="square" anchor="t" lIns="25400" t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</a:pPr>
            <a:r>
              <a:rPr sz="1300" b="0">
                <a:solidFill>
                  <a:srgbClr val="1C202C"/>
                </a:solidFill>
                <a:latin typeface="微软雅黑"/>
                <ns3:rFonts xmlns:ns3="http://schemas.openxmlformats.org/wordprocessingml/2006/main" ns3:eastAsia="微软雅黑" ns3:ascii="微软雅黑" ns3:hAnsi="微软雅黑"/>
              </a:rPr>
              <a:t>● 后端 FastAPI，前端浏览器打开即可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2028825"/>
            <a:ext cx="3246120" cy="885825"/>
          </a:xfrm>
          <a:prstGeom prst="rect">
            <a:avLst/>
          </a:prstGeom>
          <a:noFill/>
        </p:spPr>
        <p:txBody>
          <a:bodyPr wrap="square" anchor="t" lIns="25400" t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</a:pPr>
            <a:r>
              <a:rPr sz="1300" b="0">
                <a:solidFill>
                  <a:srgbClr val="1C202C"/>
                </a:solidFill>
                <a:latin typeface="微软雅黑"/>
                <ns4:rFonts xmlns:ns4="http://schemas.openxmlformats.org/wordprocessingml/2006/main" ns4:eastAsia="微软雅黑" ns4:ascii="微软雅黑" ns4:hAnsi="微软雅黑"/>
              </a:rPr>
              <a:t>● 一页里能看到风险、对话和指令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2932938"/>
            <a:ext cx="3246120" cy="885825"/>
          </a:xfrm>
          <a:prstGeom prst="rect">
            <a:avLst/>
          </a:prstGeom>
          <a:noFill/>
        </p:spPr>
        <p:txBody>
          <a:bodyPr wrap="square" anchor="t" lIns="25400" t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</a:pPr>
            <a:r>
              <a:rPr sz="1300" b="0">
                <a:solidFill>
                  <a:srgbClr val="1C202C"/>
                </a:solidFill>
                <a:latin typeface="微软雅黑"/>
                <ns5:rFonts xmlns:ns5="http://schemas.openxmlformats.org/wordprocessingml/2006/main" ns5:eastAsia="微软雅黑" ns5:ascii="微软雅黑" ns5:hAnsi="微软雅黑"/>
              </a:rPr>
              <a:t>● 可以上传照片做骨架分析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3837051"/>
            <a:ext cx="3246120" cy="885825"/>
          </a:xfrm>
          <a:prstGeom prst="rect">
            <a:avLst/>
          </a:prstGeom>
          <a:noFill/>
        </p:spPr>
        <p:txBody>
          <a:bodyPr wrap="square" anchor="t" lIns="25400" t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</a:pPr>
            <a:r>
              <a:rPr sz="1300" b="0">
                <a:solidFill>
                  <a:srgbClr val="1C202C"/>
                </a:solidFill>
                <a:latin typeface="微软雅黑"/>
                <ns6:rFonts xmlns:ns6="http://schemas.openxmlformats.org/wordprocessingml/2006/main" ns6:eastAsia="微软雅黑" ns6:ascii="微软雅黑" ns6:hAnsi="微软雅黑"/>
              </a:rPr>
              <a:t>● 内置剧本：日常—倾诉—跌倒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023360" y="1534915"/>
            <a:ext cx="4892040" cy="2777757"/>
          </a:xfrm>
          <a:prstGeom prst="rect">
            <a:avLst/>
          </a:prstGeom>
          <a:solidFill>
            <a:srgbClr val="FFFFFF"/>
          </a:solidFill>
          <a:ln w="10160">
            <a:solidFill>
              <a:srgbClr val="BAC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ppt_full_dashboa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69080" y="1580635"/>
            <a:ext cx="4800600" cy="2503437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4069080" y="4138936"/>
            <a:ext cx="48006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 b="0">
                <a:solidFill>
                  <a:srgbClr val="5A6273"/>
                </a:solidFill>
                <a:latin typeface="微软雅黑"/>
                <ns7:rFonts xmlns:ns7="http://schemas.openxmlformats.org/wordprocessingml/2006/main" ns7:eastAsia="微软雅黑" ns7:ascii="微软雅黑" ns7:hAnsi="微软雅黑"/>
              </a:rPr>
              <a:t>主界面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420624"/>
          </a:xfrm>
          <a:prstGeom prst="rect">
            <a:avLst/>
          </a:prstGeom>
          <a:solidFill>
            <a:srgbClr val="1432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54864"/>
            <a:ext cx="859536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1">
                <a:solidFill>
                  <a:srgbClr val="FFFFFF"/>
                </a:solidFill>
                <a:latin typeface="微软雅黑"/>
                <ns0:rFonts xmlns:ns0="http://schemas.openxmlformats.org/wordprocessingml/2006/main" ns0:eastAsia="微软雅黑" ns0:ascii="微软雅黑" ns0:hAnsi="微软雅黑"/>
              </a:rPr>
              <a:t>第二十八届中国机器人及人工智能大赛  |  创新赛 · 机器人创新赛道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4905756"/>
            <a:ext cx="9144000" cy="237744"/>
          </a:xfrm>
          <a:prstGeom prst="rect">
            <a:avLst/>
          </a:prstGeom>
          <a:solidFill>
            <a:srgbClr val="DBEA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74320" y="4951476"/>
            <a:ext cx="859536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00" b="0">
                <a:solidFill>
                  <a:srgbClr val="5A6273"/>
                </a:solidFill>
                <a:latin typeface="微软雅黑"/>
                <ns1:rFonts xmlns:ns1="http://schemas.openxmlformats.org/wordprocessingml/2006/main" ns1:eastAsia="微软雅黑" ns1:ascii="微软雅黑" ns1:hAnsi="微软雅黑"/>
              </a:rPr>
              <a:t>系统实拍  |  从容应队 · 中山大学 · 刘小凡/白冉 · 指导教师 彭键清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4320" y="466344"/>
            <a:ext cx="85953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000" b="1">
                <a:solidFill>
                  <a:srgbClr val="143278"/>
                </a:solidFill>
                <a:latin typeface="微软雅黑"/>
                <ns2:rFonts xmlns:ns2="http://schemas.openxmlformats.org/wordprocessingml/2006/main" ns2:eastAsia="微软雅黑" ns2:ascii="微软雅黑" ns2:hAnsi="微软雅黑"/>
              </a:rPr>
              <a:t>骨架分析（上传照片）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274320" y="886968"/>
            <a:ext cx="1143000" cy="50292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352538" y="1051079"/>
            <a:ext cx="2438922" cy="3791148"/>
          </a:xfrm>
          <a:prstGeom prst="rect">
            <a:avLst/>
          </a:prstGeom>
          <a:solidFill>
            <a:srgbClr val="FFFFFF"/>
          </a:solidFill>
          <a:ln w="10160">
            <a:solidFill>
              <a:srgbClr val="BAC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ppt_mediapipe_pos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98258" y="1096799"/>
            <a:ext cx="2347482" cy="351682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274320" y="4668492"/>
            <a:ext cx="859536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 b="0">
                <a:solidFill>
                  <a:srgbClr val="5A6273"/>
                </a:solidFill>
                <a:latin typeface="微软雅黑"/>
                <ns3:rFonts xmlns:ns3="http://schemas.openxmlformats.org/wordprocessingml/2006/main" ns3:eastAsia="微软雅黑" ns3:ascii="微软雅黑" ns3:hAnsi="微软雅黑"/>
              </a:rPr>
              <a:t>全身照 → 骨架叠加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420624"/>
          </a:xfrm>
          <a:prstGeom prst="rect">
            <a:avLst/>
          </a:prstGeom>
          <a:solidFill>
            <a:srgbClr val="1432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54864"/>
            <a:ext cx="859536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1">
                <a:solidFill>
                  <a:srgbClr val="FFFFFF"/>
                </a:solidFill>
                <a:latin typeface="微软雅黑"/>
                <ns0:rFonts xmlns:ns0="http://schemas.openxmlformats.org/wordprocessingml/2006/main" ns0:eastAsia="微软雅黑" ns0:ascii="微软雅黑" ns0:hAnsi="微软雅黑"/>
              </a:rPr>
              <a:t>第二十八届中国机器人及人工智能大赛  |  创新赛 · 机器人创新赛道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4905756"/>
            <a:ext cx="9144000" cy="237744"/>
          </a:xfrm>
          <a:prstGeom prst="rect">
            <a:avLst/>
          </a:prstGeom>
          <a:solidFill>
            <a:srgbClr val="DBEA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74320" y="4951476"/>
            <a:ext cx="859536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00" b="0">
                <a:solidFill>
                  <a:srgbClr val="5A6273"/>
                </a:solidFill>
                <a:latin typeface="微软雅黑"/>
                <ns1:rFonts xmlns:ns1="http://schemas.openxmlformats.org/wordprocessingml/2006/main" ns1:eastAsia="微软雅黑" ns1:ascii="微软雅黑" ns1:hAnsi="微软雅黑"/>
              </a:rPr>
              <a:t>系统实拍  |  从容应队 · 中山大学 · 刘小凡/白冉 · 指导教师 彭键清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4320" y="466344"/>
            <a:ext cx="85953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000" b="1">
                <a:solidFill>
                  <a:srgbClr val="143278"/>
                </a:solidFill>
                <a:latin typeface="微软雅黑"/>
                <ns2:rFonts xmlns:ns2="http://schemas.openxmlformats.org/wordprocessingml/2006/main" ns2:eastAsia="微软雅黑" ns2:ascii="微软雅黑" ns2:hAnsi="微软雅黑"/>
              </a:rPr>
              <a:t>风险与情绪输入</a:t>
            </a:r>
          </a:p>
        </p:txBody>
      </p:sp>
      <p:sp>
        <p:nvSpPr>
          <p:cNvPr id="7" name="Rectangle 6"/>
          <p:cNvSpPr/>
          <p:nvPr/>
        </p:nvSpPr>
        <p:spPr>
          <a:xfrm>
            <a:off x="274320" y="886968"/>
            <a:ext cx="1143000" cy="50292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39881" y="996696"/>
            <a:ext cx="3097976" cy="3854196"/>
          </a:xfrm>
          <a:prstGeom prst="rect">
            <a:avLst/>
          </a:prstGeom>
          <a:solidFill>
            <a:srgbClr val="FFFFFF"/>
          </a:solidFill>
          <a:ln w="10160">
            <a:solidFill>
              <a:srgbClr val="BAC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ppt_risk_pane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5601" y="1042416"/>
            <a:ext cx="3006536" cy="3579876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274320" y="4677156"/>
            <a:ext cx="42291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 b="0">
                <a:solidFill>
                  <a:srgbClr val="5A6273"/>
                </a:solidFill>
                <a:latin typeface="微软雅黑"/>
                <ns3:rFonts xmlns:ns3="http://schemas.openxmlformats.org/wordprocessingml/2006/main" ns3:eastAsia="微软雅黑" ns3:ascii="微软雅黑" ns3:hAnsi="微软雅黑"/>
              </a:rPr>
              <a:t>风险面板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605051" y="996696"/>
            <a:ext cx="4300157" cy="3854196"/>
          </a:xfrm>
          <a:prstGeom prst="rect">
            <a:avLst/>
          </a:prstGeom>
          <a:solidFill>
            <a:srgbClr val="FFFFFF"/>
          </a:solidFill>
          <a:ln w="10160">
            <a:solidFill>
              <a:srgbClr val="BAC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ppt_emotion_inpu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50771" y="1042416"/>
            <a:ext cx="4208717" cy="3579876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4640580" y="4677156"/>
            <a:ext cx="42291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 b="0">
                <a:solidFill>
                  <a:srgbClr val="5A6273"/>
                </a:solidFill>
                <a:latin typeface="微软雅黑"/>
                <ns4:rFonts xmlns:ns4="http://schemas.openxmlformats.org/wordprocessingml/2006/main" ns4:eastAsia="微软雅黑" ns4:ascii="微软雅黑" ns4:hAnsi="微软雅黑"/>
              </a:rPr>
              <a:t>情绪输入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420624"/>
          </a:xfrm>
          <a:prstGeom prst="rect">
            <a:avLst/>
          </a:prstGeom>
          <a:solidFill>
            <a:srgbClr val="1432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54864"/>
            <a:ext cx="859536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1">
                <a:solidFill>
                  <a:srgbClr val="FFFFFF"/>
                </a:solidFill>
                <a:latin typeface="微软雅黑"/>
                <ns0:rFonts xmlns:ns0="http://schemas.openxmlformats.org/wordprocessingml/2006/main" ns0:eastAsia="微软雅黑" ns0:ascii="微软雅黑" ns0:hAnsi="微软雅黑"/>
              </a:rPr>
              <a:t>第二十八届中国机器人及人工智能大赛  |  创新赛 · 机器人创新赛道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4905756"/>
            <a:ext cx="9144000" cy="237744"/>
          </a:xfrm>
          <a:prstGeom prst="rect">
            <a:avLst/>
          </a:prstGeom>
          <a:solidFill>
            <a:srgbClr val="DBEA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74320" y="4951476"/>
            <a:ext cx="859536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00" b="0">
                <a:solidFill>
                  <a:srgbClr val="5A6273"/>
                </a:solidFill>
                <a:latin typeface="微软雅黑"/>
                <ns1:rFonts xmlns:ns1="http://schemas.openxmlformats.org/wordprocessingml/2006/main" ns1:eastAsia="微软雅黑" ns1:ascii="微软雅黑" ns1:hAnsi="微软雅黑"/>
              </a:rPr>
              <a:t>系统实拍  |  从容应队 · 中山大学 · 刘小凡/白冉 · 指导教师 彭键清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4320" y="466344"/>
            <a:ext cx="85953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000" b="1">
                <a:solidFill>
                  <a:srgbClr val="143278"/>
                </a:solidFill>
                <a:latin typeface="微软雅黑"/>
                <ns2:rFonts xmlns:ns2="http://schemas.openxmlformats.org/wordprocessingml/2006/main" ns2:eastAsia="微软雅黑" ns2:ascii="微软雅黑" ns2:hAnsi="微软雅黑"/>
              </a:rPr>
              <a:t>紧急过程记录</a:t>
            </a:r>
          </a:p>
        </p:txBody>
      </p:sp>
      <p:sp>
        <p:nvSpPr>
          <p:cNvPr id="7" name="Rectangle 6"/>
          <p:cNvSpPr/>
          <p:nvPr/>
        </p:nvSpPr>
        <p:spPr>
          <a:xfrm>
            <a:off x="274320" y="886968"/>
            <a:ext cx="1143000" cy="50292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28600" y="1648824"/>
            <a:ext cx="4320540" cy="2549939"/>
          </a:xfrm>
          <a:prstGeom prst="rect">
            <a:avLst/>
          </a:prstGeom>
          <a:solidFill>
            <a:srgbClr val="FFFFFF"/>
          </a:solidFill>
          <a:ln w="10160">
            <a:solidFill>
              <a:srgbClr val="BAC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ppt_chat_emergenc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694544"/>
            <a:ext cx="4229100" cy="2275619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274320" y="4025027"/>
            <a:ext cx="42291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 b="0">
                <a:solidFill>
                  <a:srgbClr val="5A6273"/>
                </a:solidFill>
                <a:latin typeface="微软雅黑"/>
                <ns3:rFonts xmlns:ns3="http://schemas.openxmlformats.org/wordprocessingml/2006/main" ns3:eastAsia="微软雅黑" ns3:ascii="微软雅黑" ns3:hAnsi="微软雅黑"/>
              </a:rPr>
              <a:t>对话日志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94860" y="2309621"/>
            <a:ext cx="4320540" cy="1228345"/>
          </a:xfrm>
          <a:prstGeom prst="rect">
            <a:avLst/>
          </a:prstGeom>
          <a:solidFill>
            <a:srgbClr val="FFFFFF"/>
          </a:solidFill>
          <a:ln w="10160">
            <a:solidFill>
              <a:srgbClr val="BAC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ppt_robot_command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40580" y="2355341"/>
            <a:ext cx="4229100" cy="954025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4640580" y="3364230"/>
            <a:ext cx="42291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 b="0">
                <a:solidFill>
                  <a:srgbClr val="5A6273"/>
                </a:solidFill>
                <a:latin typeface="微软雅黑"/>
                <ns4:rFonts xmlns:ns4="http://schemas.openxmlformats.org/wordprocessingml/2006/main" ns4:eastAsia="微软雅黑" ns4:ascii="微软雅黑" ns4:hAnsi="微软雅黑"/>
              </a:rPr>
              <a:t>机器人指令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420624"/>
          </a:xfrm>
          <a:prstGeom prst="rect">
            <a:avLst/>
          </a:prstGeom>
          <a:solidFill>
            <a:srgbClr val="1432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54864"/>
            <a:ext cx="859536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1">
                <a:solidFill>
                  <a:srgbClr val="FFFFFF"/>
                </a:solidFill>
                <a:latin typeface="微软雅黑"/>
                <ns0:rFonts xmlns:ns0="http://schemas.openxmlformats.org/wordprocessingml/2006/main" ns0:eastAsia="微软雅黑" ns0:ascii="微软雅黑" ns0:hAnsi="微软雅黑"/>
              </a:rPr>
              <a:t>第二十八届中国机器人及人工智能大赛  |  创新赛 · 机器人创新赛道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4905756"/>
            <a:ext cx="9144000" cy="237744"/>
          </a:xfrm>
          <a:prstGeom prst="rect">
            <a:avLst/>
          </a:prstGeom>
          <a:solidFill>
            <a:srgbClr val="DBEA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74320" y="4951476"/>
            <a:ext cx="859536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00" b="0">
                <a:solidFill>
                  <a:srgbClr val="5A6273"/>
                </a:solidFill>
                <a:latin typeface="微软雅黑"/>
                <ns1:rFonts xmlns:ns1="http://schemas.openxmlformats.org/wordprocessingml/2006/main" ns1:eastAsia="微软雅黑" ns1:ascii="微软雅黑" ns1:hAnsi="微软雅黑"/>
              </a:rPr>
              <a:t>系统实拍  |  从容应队 · 中山大学 · 刘小凡/白冉 · 指导教师 彭键清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4320" y="466344"/>
            <a:ext cx="85953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000" b="1">
                <a:solidFill>
                  <a:srgbClr val="143278"/>
                </a:solidFill>
                <a:latin typeface="微软雅黑"/>
                <ns2:rFonts xmlns:ns2="http://schemas.openxmlformats.org/wordprocessingml/2006/main" ns2:eastAsia="微软雅黑" ns2:ascii="微软雅黑" ns2:hAnsi="微软雅黑"/>
              </a:rPr>
              <a:t>紧急时感知页</a:t>
            </a:r>
          </a:p>
        </p:txBody>
      </p:sp>
      <p:sp>
        <p:nvSpPr>
          <p:cNvPr id="7" name="Rectangle 6"/>
          <p:cNvSpPr/>
          <p:nvPr/>
        </p:nvSpPr>
        <p:spPr>
          <a:xfrm>
            <a:off x="274320" y="886968"/>
            <a:ext cx="1143000" cy="50292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28891" y="1051079"/>
            <a:ext cx="6886217" cy="3791148"/>
          </a:xfrm>
          <a:prstGeom prst="rect">
            <a:avLst/>
          </a:prstGeom>
          <a:solidFill>
            <a:srgbClr val="FFFFFF"/>
          </a:solidFill>
          <a:ln w="10160">
            <a:solidFill>
              <a:srgbClr val="BAC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ppt_header_percep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74611" y="1096799"/>
            <a:ext cx="6794777" cy="351682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274320" y="4668492"/>
            <a:ext cx="859536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 b="0">
                <a:solidFill>
                  <a:srgbClr val="5A6273"/>
                </a:solidFill>
                <a:latin typeface="微软雅黑"/>
                <ns3:rFonts xmlns:ns3="http://schemas.openxmlformats.org/wordprocessingml/2006/main" ns3:eastAsia="微软雅黑" ns3:ascii="微软雅黑" ns3:hAnsi="微软雅黑"/>
              </a:rPr>
              <a:t>状态切到紧急后的感知区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420624"/>
          </a:xfrm>
          <a:prstGeom prst="rect">
            <a:avLst/>
          </a:prstGeom>
          <a:solidFill>
            <a:srgbClr val="1432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54864"/>
            <a:ext cx="859536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1">
                <a:solidFill>
                  <a:srgbClr val="FFFFFF"/>
                </a:solidFill>
                <a:latin typeface="微软雅黑"/>
                <ns0:rFonts xmlns:ns0="http://schemas.openxmlformats.org/wordprocessingml/2006/main" ns0:eastAsia="微软雅黑" ns0:ascii="微软雅黑" ns0:hAnsi="微软雅黑"/>
              </a:rPr>
              <a:t>第二十八届中国机器人及人工智能大赛  |  创新赛 · 机器人创新赛道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4905756"/>
            <a:ext cx="9144000" cy="237744"/>
          </a:xfrm>
          <a:prstGeom prst="rect">
            <a:avLst/>
          </a:prstGeom>
          <a:solidFill>
            <a:srgbClr val="DBEA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74320" y="4951476"/>
            <a:ext cx="859536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00" b="0">
                <a:solidFill>
                  <a:srgbClr val="5A6273"/>
                </a:solidFill>
                <a:latin typeface="微软雅黑"/>
                <ns1:rFonts xmlns:ns1="http://schemas.openxmlformats.org/wordprocessingml/2006/main" ns1:eastAsia="微软雅黑" ns1:ascii="微软雅黑" ns1:hAnsi="微软雅黑"/>
              </a:rPr>
              <a:t>从容应队 · 中山大学 · 刘小凡/白冉 · 指导教师 彭键清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4320" y="466344"/>
            <a:ext cx="85953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000" b="1">
                <a:solidFill>
                  <a:srgbClr val="143278"/>
                </a:solidFill>
                <a:latin typeface="微软雅黑"/>
                <ns2:rFonts xmlns:ns2="http://schemas.openxmlformats.org/wordprocessingml/2006/main" ns2:eastAsia="微软雅黑" ns2:ascii="微软雅黑" ns2:hAnsi="微软雅黑"/>
              </a:rPr>
              <a:t>测试结果</a:t>
            </a:r>
          </a:p>
        </p:txBody>
      </p:sp>
      <p:sp>
        <p:nvSpPr>
          <p:cNvPr id="7" name="Rectangle 6"/>
          <p:cNvSpPr/>
          <p:nvPr/>
        </p:nvSpPr>
        <p:spPr>
          <a:xfrm>
            <a:off x="274320" y="886968"/>
            <a:ext cx="1143000" cy="50292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74320" y="996696"/>
            <a:ext cx="3611880" cy="3854196"/>
          </a:xfrm>
          <a:prstGeom prst="rect">
            <a:avLst/>
          </a:prstGeom>
          <a:solidFill>
            <a:srgbClr val="F1F7FF"/>
          </a:solidFill>
          <a:ln w="10160">
            <a:solidFill>
              <a:srgbClr val="BAC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74320" y="996696"/>
            <a:ext cx="73152" cy="3854196"/>
          </a:xfrm>
          <a:prstGeom prst="rect">
            <a:avLst/>
          </a:prstGeom>
          <a:solidFill>
            <a:srgbClr val="1432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200" y="1124712"/>
            <a:ext cx="3246120" cy="803529"/>
          </a:xfrm>
          <a:prstGeom prst="rect">
            <a:avLst/>
          </a:prstGeom>
          <a:noFill/>
        </p:spPr>
        <p:txBody>
          <a:bodyPr wrap="square" anchor="t" lIns="25400" t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</a:pPr>
            <a:r>
              <a:rPr sz="1200" b="0">
                <a:solidFill>
                  <a:srgbClr val="1C202C"/>
                </a:solidFill>
                <a:latin typeface="微软雅黑"/>
                <ns3:rFonts xmlns:ns3="http://schemas.openxmlformats.org/wordprocessingml/2006/main" ns3:eastAsia="微软雅黑" ns3:ascii="微软雅黑" ns3:hAnsi="微软雅黑"/>
              </a:rPr>
              <a:t>● 跌倒检测 P/R/F1：合成 6 场景均为 100%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1946529"/>
            <a:ext cx="3246120" cy="803529"/>
          </a:xfrm>
          <a:prstGeom prst="rect">
            <a:avLst/>
          </a:prstGeom>
          <a:noFill/>
        </p:spPr>
        <p:txBody>
          <a:bodyPr wrap="square" anchor="t" lIns="25400" t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</a:pPr>
            <a:r>
              <a:rPr sz="1200" b="0">
                <a:solidFill>
                  <a:srgbClr val="1C202C"/>
                </a:solidFill>
                <a:latin typeface="微软雅黑"/>
                <ns4:rFonts xmlns:ns4="http://schemas.openxmlformats.org/wordprocessingml/2006/main" ns4:eastAsia="微软雅黑" ns4:ascii="微软雅黑" ns4:hAnsi="微软雅黑"/>
              </a:rPr>
              <a:t>● 紧急链路脚本跑通率 100%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2768346"/>
            <a:ext cx="3246120" cy="803529"/>
          </a:xfrm>
          <a:prstGeom prst="rect">
            <a:avLst/>
          </a:prstGeom>
          <a:noFill/>
        </p:spPr>
        <p:txBody>
          <a:bodyPr wrap="square" anchor="t" lIns="25400" t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</a:pPr>
            <a:r>
              <a:rPr sz="1200" b="0">
                <a:solidFill>
                  <a:srgbClr val="1C202C"/>
                </a:solidFill>
                <a:latin typeface="微软雅黑"/>
                <ns5:rFonts xmlns:ns5="http://schemas.openxmlformats.org/wordprocessingml/2006/main" ns5:eastAsia="微软雅黑" ns5:ascii="微软雅黑" ns5:hAnsi="微软雅黑"/>
              </a:rPr>
              <a:t>● 单帧决策在 CPU 上 &lt; 50ms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3590163"/>
            <a:ext cx="3246120" cy="803529"/>
          </a:xfrm>
          <a:prstGeom prst="rect">
            <a:avLst/>
          </a:prstGeom>
          <a:noFill/>
        </p:spPr>
        <p:txBody>
          <a:bodyPr wrap="square" anchor="t" lIns="25400" t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</a:pPr>
            <a:r>
              <a:rPr sz="1200" b="0">
                <a:solidFill>
                  <a:srgbClr val="1C202C"/>
                </a:solidFill>
                <a:latin typeface="微软雅黑"/>
                <ns6:rFonts xmlns:ns6="http://schemas.openxmlformats.org/wordprocessingml/2006/main" ns6:eastAsia="微软雅黑" ns6:ascii="微软雅黑" ns6:hAnsi="微软雅黑"/>
              </a:rPr>
              <a:t>● 单元测试和无头演示都过了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65760" y="4521708"/>
            <a:ext cx="3429000" cy="310896"/>
          </a:xfrm>
          <a:prstGeom prst="rect">
            <a:avLst/>
          </a:prstGeom>
          <a:solidFill>
            <a:srgbClr val="1432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02336" y="4585716"/>
            <a:ext cx="3355848" cy="201167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微软雅黑"/>
                <ns7:rFonts xmlns:ns7="http://schemas.openxmlformats.org/wordprocessingml/2006/main" ns7:eastAsia="微软雅黑" ns7:ascii="微软雅黑" ns7:hAnsi="微软雅黑"/>
              </a:rPr>
              <a:t>数据写在 fall_eval_report.json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114800" y="1124712"/>
            <a:ext cx="1005840" cy="52934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143278"/>
                </a:solidFill>
                <a:latin typeface="微软雅黑"/>
              </a:defRPr>
            </a:pPr>
            <a:r>
              <a:t>Precision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166360" y="1143000"/>
            <a:ext cx="3566160" cy="491535"/>
          </a:xfrm>
          <a:prstGeom prst="roundRect">
            <a:avLst/>
          </a:prstGeom>
          <a:solidFill>
            <a:srgbClr val="10B981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/>
          <a:lstStyle/>
          <a:p>
            <a:pPr algn="ctr">
              <a:defRPr sz="1000" b="1">
                <a:solidFill>
                  <a:srgbClr val="FFFFFF"/>
                </a:solidFill>
                <a:latin typeface="微软雅黑"/>
              </a:defRPr>
            </a:pPr>
            <a:r>
              <a:t>100%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114800" y="1880920"/>
            <a:ext cx="1005840" cy="52934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143278"/>
                </a:solidFill>
                <a:latin typeface="微软雅黑"/>
              </a:defRPr>
            </a:pPr>
            <a:r>
              <a:t>Recall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166360" y="1899208"/>
            <a:ext cx="3566160" cy="491535"/>
          </a:xfrm>
          <a:prstGeom prst="roundRect">
            <a:avLst/>
          </a:prstGeom>
          <a:solidFill>
            <a:srgbClr val="10B981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/>
          <a:lstStyle/>
          <a:p>
            <a:pPr algn="ctr">
              <a:defRPr sz="1000" b="1">
                <a:solidFill>
                  <a:srgbClr val="FFFFFF"/>
                </a:solidFill>
                <a:latin typeface="微软雅黑"/>
              </a:defRPr>
            </a:pPr>
            <a:r>
              <a:t>100%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114800" y="2637129"/>
            <a:ext cx="1005840" cy="52934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143278"/>
                </a:solidFill>
                <a:latin typeface="微软雅黑"/>
              </a:defRPr>
            </a:pPr>
            <a:r>
              <a:t>F1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166360" y="2655417"/>
            <a:ext cx="3566160" cy="491535"/>
          </a:xfrm>
          <a:prstGeom prst="roundRect">
            <a:avLst/>
          </a:prstGeom>
          <a:solidFill>
            <a:srgbClr val="10B981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/>
          <a:lstStyle/>
          <a:p>
            <a:pPr algn="ctr">
              <a:defRPr sz="1000" b="1">
                <a:solidFill>
                  <a:srgbClr val="FFFFFF"/>
                </a:solidFill>
                <a:latin typeface="微软雅黑"/>
              </a:defRPr>
            </a:pPr>
            <a:r>
              <a:t>100%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114800" y="3393338"/>
            <a:ext cx="1005840" cy="52934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143278"/>
                </a:solidFill>
                <a:latin typeface="微软雅黑"/>
              </a:defRPr>
            </a:pPr>
            <a:r>
              <a:t>紧急触发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166360" y="3411626"/>
            <a:ext cx="3566160" cy="491535"/>
          </a:xfrm>
          <a:prstGeom prst="roundRect">
            <a:avLst/>
          </a:prstGeom>
          <a:solidFill>
            <a:srgbClr val="10B981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/>
          <a:lstStyle/>
          <a:p>
            <a:pPr algn="ctr">
              <a:defRPr sz="1000" b="1">
                <a:solidFill>
                  <a:srgbClr val="FFFFFF"/>
                </a:solidFill>
                <a:latin typeface="微软雅黑"/>
              </a:defRPr>
            </a:pPr>
            <a:r>
              <a:t>100%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420624"/>
          </a:xfrm>
          <a:prstGeom prst="rect">
            <a:avLst/>
          </a:prstGeom>
          <a:solidFill>
            <a:srgbClr val="1432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54864"/>
            <a:ext cx="859536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1">
                <a:solidFill>
                  <a:srgbClr val="FFFFFF"/>
                </a:solidFill>
                <a:latin typeface="微软雅黑"/>
                <ns0:rFonts xmlns:ns0="http://schemas.openxmlformats.org/wordprocessingml/2006/main" ns0:eastAsia="微软雅黑" ns0:ascii="微软雅黑" ns0:hAnsi="微软雅黑"/>
              </a:rPr>
              <a:t>第二十八届中国机器人及人工智能大赛  |  创新赛 · 机器人创新赛道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4905756"/>
            <a:ext cx="9144000" cy="237744"/>
          </a:xfrm>
          <a:prstGeom prst="rect">
            <a:avLst/>
          </a:prstGeom>
          <a:solidFill>
            <a:srgbClr val="DBEA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74320" y="4951476"/>
            <a:ext cx="859536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00" b="0">
                <a:solidFill>
                  <a:srgbClr val="5A6273"/>
                </a:solidFill>
                <a:latin typeface="微软雅黑"/>
                <ns1:rFonts xmlns:ns1="http://schemas.openxmlformats.org/wordprocessingml/2006/main" ns1:eastAsia="微软雅黑" ns1:ascii="微软雅黑" ns1:hAnsi="微软雅黑"/>
              </a:rPr>
              <a:t>从容应队 · 中山大学 · 刘小凡/白冉 · 指导教师 彭键清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4320" y="466344"/>
            <a:ext cx="85953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000" b="1">
                <a:solidFill>
                  <a:srgbClr val="143278"/>
                </a:solidFill>
                <a:latin typeface="微软雅黑"/>
                <ns2:rFonts xmlns:ns2="http://schemas.openxmlformats.org/wordprocessingml/2006/main" ns2:eastAsia="微软雅黑" ns2:ascii="微软雅黑" ns2:hAnsi="微软雅黑"/>
              </a:rPr>
              <a:t>开源与可复现性</a:t>
            </a:r>
          </a:p>
        </p:txBody>
      </p:sp>
      <p:sp>
        <p:nvSpPr>
          <p:cNvPr id="7" name="Rectangle 6"/>
          <p:cNvSpPr/>
          <p:nvPr/>
        </p:nvSpPr>
        <p:spPr>
          <a:xfrm>
            <a:off x="274320" y="886968"/>
            <a:ext cx="1143000" cy="50292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74320" y="1042416"/>
            <a:ext cx="3611880" cy="679399"/>
          </a:xfrm>
          <a:prstGeom prst="rect">
            <a:avLst/>
          </a:prstGeom>
          <a:solidFill>
            <a:srgbClr val="F1F7FF"/>
          </a:solidFill>
          <a:ln>
            <a:solidFill>
              <a:srgbClr val="BAC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11479" y="1097280"/>
            <a:ext cx="914400" cy="642823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1">
                <a:solidFill>
                  <a:srgbClr val="5A6273"/>
                </a:solidFill>
                <a:latin typeface="微软雅黑"/>
                <ns3:rFonts xmlns:ns3="http://schemas.openxmlformats.org/wordprocessingml/2006/main" ns3:eastAsia="微软雅黑" ns3:ascii="微软雅黑" ns3:hAnsi="微软雅黑"/>
              </a:rPr>
              <a:t>GitHub 仓库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80160" y="1097280"/>
            <a:ext cx="2468880" cy="642823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0">
                <a:solidFill>
                  <a:srgbClr val="143278"/>
                </a:solidFill>
                <a:latin typeface="微软雅黑"/>
                <ns4:rFonts xmlns:ns4="http://schemas.openxmlformats.org/wordprocessingml/2006/main" ns4:eastAsia="微软雅黑" ns4:ascii="微软雅黑" ns4:hAnsi="微软雅黑"/>
              </a:rPr>
              <a:t>https://github.com/FBB123571/ElderCare-Humanoid-Platform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74320" y="1794967"/>
            <a:ext cx="3611880" cy="679399"/>
          </a:xfrm>
          <a:prstGeom prst="rect">
            <a:avLst/>
          </a:prstGeom>
          <a:solidFill>
            <a:srgbClr val="FFFFFF"/>
          </a:solidFill>
          <a:ln>
            <a:solidFill>
              <a:srgbClr val="BAC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11479" y="1849831"/>
            <a:ext cx="914400" cy="642823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1">
                <a:solidFill>
                  <a:srgbClr val="5A6273"/>
                </a:solidFill>
                <a:latin typeface="微软雅黑"/>
                <ns5:rFonts xmlns:ns5="http://schemas.openxmlformats.org/wordprocessingml/2006/main" ns5:eastAsia="微软雅黑" ns5:ascii="微软雅黑" ns5:hAnsi="微软雅黑"/>
              </a:rPr>
              <a:t>团队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80160" y="1849831"/>
            <a:ext cx="2468880" cy="642823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>
                <a:solidFill>
                  <a:srgbClr val="143278"/>
                </a:solidFill>
                <a:latin typeface="微软雅黑"/>
                <ns6:rFonts xmlns:ns6="http://schemas.openxmlformats.org/wordprocessingml/2006/main" ns6:eastAsia="微软雅黑" ns6:ascii="微软雅黑" ns6:hAnsi="微软雅黑"/>
              </a:rPr>
              <a:t>从容应队（中山大学）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74320" y="2547518"/>
            <a:ext cx="3611880" cy="679399"/>
          </a:xfrm>
          <a:prstGeom prst="rect">
            <a:avLst/>
          </a:prstGeom>
          <a:solidFill>
            <a:srgbClr val="F1F7FF"/>
          </a:solidFill>
          <a:ln>
            <a:solidFill>
              <a:srgbClr val="BAC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11479" y="2602382"/>
            <a:ext cx="914400" cy="642823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1">
                <a:solidFill>
                  <a:srgbClr val="5A6273"/>
                </a:solidFill>
                <a:latin typeface="微软雅黑"/>
                <ns7:rFonts xmlns:ns7="http://schemas.openxmlformats.org/wordprocessingml/2006/main" ns7:eastAsia="微软雅黑" ns7:ascii="微软雅黑" ns7:hAnsi="微软雅黑"/>
              </a:rPr>
              <a:t>本地演示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80160" y="2602382"/>
            <a:ext cx="2468880" cy="642823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>
                <a:solidFill>
                  <a:srgbClr val="143278"/>
                </a:solidFill>
                <a:latin typeface="微软雅黑"/>
                <ns8:rFonts xmlns:ns8="http://schemas.openxmlformats.org/wordprocessingml/2006/main" ns8:eastAsia="微软雅黑" ns8:ascii="微软雅黑" ns8:hAnsi="微软雅黑"/>
              </a:rPr>
              <a:t>bash scripts/run_web.sh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74320" y="3300069"/>
            <a:ext cx="3611880" cy="679399"/>
          </a:xfrm>
          <a:prstGeom prst="rect">
            <a:avLst/>
          </a:prstGeom>
          <a:solidFill>
            <a:srgbClr val="FFFFFF"/>
          </a:solidFill>
          <a:ln>
            <a:solidFill>
              <a:srgbClr val="BAC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11479" y="3354933"/>
            <a:ext cx="914400" cy="642823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1">
                <a:solidFill>
                  <a:srgbClr val="5A6273"/>
                </a:solidFill>
                <a:latin typeface="微软雅黑"/>
                <ns9:rFonts xmlns:ns9="http://schemas.openxmlformats.org/wordprocessingml/2006/main" ns9:eastAsia="微软雅黑" ns9:ascii="微软雅黑" ns9:hAnsi="微软雅黑"/>
              </a:rPr>
              <a:t>演示录像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80160" y="3354933"/>
            <a:ext cx="2468880" cy="642823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>
                <a:solidFill>
                  <a:srgbClr val="143278"/>
                </a:solidFill>
                <a:latin typeface="微软雅黑"/>
                <ns10:rFonts xmlns:ns10="http://schemas.openxmlformats.org/wordprocessingml/2006/main" ns10:eastAsia="微软雅黑" ns10:ascii="微软雅黑" ns10:hAnsi="微软雅黑"/>
              </a:rPr>
              <a:t>docs/assets/demo_carecompanion.mp4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74320" y="4052620"/>
            <a:ext cx="3611880" cy="679399"/>
          </a:xfrm>
          <a:prstGeom prst="rect">
            <a:avLst/>
          </a:prstGeom>
          <a:solidFill>
            <a:srgbClr val="F1F7FF"/>
          </a:solidFill>
          <a:ln>
            <a:solidFill>
              <a:srgbClr val="BAC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11479" y="4107484"/>
            <a:ext cx="914400" cy="642823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1">
                <a:solidFill>
                  <a:srgbClr val="5A6273"/>
                </a:solidFill>
                <a:latin typeface="微软雅黑"/>
                <ns11:rFonts xmlns:ns11="http://schemas.openxmlformats.org/wordprocessingml/2006/main" ns11:eastAsia="微软雅黑" ns11:ascii="微软雅黑" ns11:hAnsi="微软雅黑"/>
              </a:rPr>
              <a:t>软著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280160" y="4107484"/>
            <a:ext cx="2468880" cy="642823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>
                <a:solidFill>
                  <a:srgbClr val="143278"/>
                </a:solidFill>
                <a:latin typeface="微软雅黑"/>
                <ns12:rFonts xmlns:ns12="http://schemas.openxmlformats.org/wordprocessingml/2006/main" ns12:eastAsia="微软雅黑" ns12:ascii="微软雅黑" ns12:hAnsi="微软雅黑"/>
              </a:rPr>
              <a:t>申请中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251960" y="1024128"/>
            <a:ext cx="1737360" cy="1920240"/>
          </a:xfrm>
          <a:prstGeom prst="rect">
            <a:avLst/>
          </a:prstGeom>
          <a:solidFill>
            <a:srgbClr val="FFFFFF"/>
          </a:solidFill>
          <a:ln w="10160">
            <a:solidFill>
              <a:srgbClr val="BAC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4" name="Picture 23" descr="ppt_demo_q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97680" y="1069848"/>
            <a:ext cx="1645920" cy="1645920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4206240" y="2770632"/>
            <a:ext cx="18288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 b="0">
                <a:solidFill>
                  <a:srgbClr val="5A6273"/>
                </a:solidFill>
                <a:latin typeface="微软雅黑"/>
                <ns13:rFonts xmlns:ns13="http://schemas.openxmlformats.org/wordprocessingml/2006/main" ns13:eastAsia="微软雅黑" ns13:ascii="微软雅黑" ns13:hAnsi="微软雅黑"/>
              </a:rPr>
              <a:t>扫码访问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222492" y="2157198"/>
            <a:ext cx="2505456" cy="1533191"/>
          </a:xfrm>
          <a:prstGeom prst="rect">
            <a:avLst/>
          </a:prstGeom>
          <a:solidFill>
            <a:srgbClr val="FFFFFF"/>
          </a:solidFill>
          <a:ln w="10160">
            <a:solidFill>
              <a:srgbClr val="BAC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7" name="Picture 26" descr="ppt_full_dashboar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68212" y="2202918"/>
            <a:ext cx="2414015" cy="1258871"/>
          </a:xfrm>
          <a:prstGeom prst="rect">
            <a:avLst/>
          </a:prstGeom>
        </p:spPr>
      </p:pic>
      <p:sp>
        <p:nvSpPr>
          <p:cNvPr id="28" name="TextBox 27"/>
          <p:cNvSpPr txBox="1"/>
          <p:nvPr/>
        </p:nvSpPr>
        <p:spPr>
          <a:xfrm>
            <a:off x="6217920" y="3516653"/>
            <a:ext cx="25146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 b="0">
                <a:solidFill>
                  <a:srgbClr val="5A6273"/>
                </a:solidFill>
                <a:latin typeface="微软雅黑"/>
                <ns14:rFonts xmlns:ns14="http://schemas.openxmlformats.org/wordprocessingml/2006/main" ns14:eastAsia="微软雅黑" ns14:ascii="微软雅黑" ns14:hAnsi="微软雅黑"/>
              </a:rPr>
              <a:t>Web 控制台实拍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420624"/>
          </a:xfrm>
          <a:prstGeom prst="rect">
            <a:avLst/>
          </a:prstGeom>
          <a:solidFill>
            <a:srgbClr val="1432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54864"/>
            <a:ext cx="859536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1">
                <a:solidFill>
                  <a:srgbClr val="FFFFFF"/>
                </a:solidFill>
                <a:latin typeface="微软雅黑"/>
                <ns0:rFonts xmlns:ns0="http://schemas.openxmlformats.org/wordprocessingml/2006/main" ns0:eastAsia="微软雅黑" ns0:ascii="微软雅黑" ns0:hAnsi="微软雅黑"/>
              </a:rPr>
              <a:t>第二十八届中国机器人及人工智能大赛  |  创新赛 · 机器人创新赛道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4905756"/>
            <a:ext cx="9144000" cy="237744"/>
          </a:xfrm>
          <a:prstGeom prst="rect">
            <a:avLst/>
          </a:prstGeom>
          <a:solidFill>
            <a:srgbClr val="DBEA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74320" y="4951476"/>
            <a:ext cx="859536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00" b="0">
                <a:solidFill>
                  <a:srgbClr val="5A6273"/>
                </a:solidFill>
                <a:latin typeface="微软雅黑"/>
                <ns1:rFonts xmlns:ns1="http://schemas.openxmlformats.org/wordprocessingml/2006/main" ns1:eastAsia="微软雅黑" ns1:ascii="微软雅黑" ns1:hAnsi="微软雅黑"/>
              </a:rPr>
              <a:t>从容应队 · 中山大学 · 刘小凡/白冉 · 指导教师 彭键清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420624"/>
            <a:ext cx="4343400" cy="4430268"/>
          </a:xfrm>
          <a:prstGeom prst="rect">
            <a:avLst/>
          </a:prstGeom>
          <a:solidFill>
            <a:srgbClr val="1432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384048" y="740664"/>
            <a:ext cx="658368" cy="658368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84048" y="804672"/>
            <a:ext cx="658368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200" b="1">
                <a:solidFill>
                  <a:srgbClr val="FFFFFF"/>
                </a:solidFill>
                <a:latin typeface="微软雅黑"/>
                <ns2:rFonts xmlns:ns2="http://schemas.openxmlformats.org/wordprocessingml/2006/main" ns2:eastAsia="微软雅黑" ns2:ascii="微软雅黑" ns2:hAnsi="微软雅黑"/>
              </a:rPr>
              <a:t>四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47472" y="1472184"/>
            <a:ext cx="384048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FFFFFF"/>
                </a:solidFill>
                <a:latin typeface="微软雅黑"/>
                <ns3:rFonts xmlns:ns3="http://schemas.openxmlformats.org/wordprocessingml/2006/main" ns3:eastAsia="微软雅黑" ns3:ascii="微软雅黑" ns3:hAnsi="微软雅黑"/>
              </a:rPr>
              <a:t>第四部分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1947672"/>
            <a:ext cx="384048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0">
                <a:solidFill>
                  <a:srgbClr val="BFDBFE"/>
                </a:solidFill>
                <a:latin typeface="微软雅黑"/>
                <ns4:rFonts xmlns:ns4="http://schemas.openxmlformats.org/wordprocessingml/2006/main" ns4:eastAsia="微软雅黑" ns4:ascii="微软雅黑" ns4:hAnsi="微软雅黑"/>
              </a:rPr>
              <a:t>创新 · 计划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84048" y="2432304"/>
            <a:ext cx="3657600" cy="384048"/>
          </a:xfrm>
          <a:prstGeom prst="rect">
            <a:avLst/>
          </a:prstGeom>
          <a:solidFill>
            <a:srgbClr val="1E4082"/>
          </a:solidFill>
          <a:ln>
            <a:solidFill>
              <a:srgbClr val="648C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2920" y="2505456"/>
            <a:ext cx="34290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0">
                <a:solidFill>
                  <a:srgbClr val="E2E8F0"/>
                </a:solidFill>
                <a:latin typeface="微软雅黑"/>
                <ns5:rFonts xmlns:ns5="http://schemas.openxmlformats.org/wordprocessingml/2006/main" ns5:eastAsia="微软雅黑" ns5:ascii="微软雅黑" ns5:hAnsi="微软雅黑"/>
              </a:rPr>
              <a:t>五个方向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84048" y="2871216"/>
            <a:ext cx="3657600" cy="384048"/>
          </a:xfrm>
          <a:prstGeom prst="rect">
            <a:avLst/>
          </a:prstGeom>
          <a:solidFill>
            <a:srgbClr val="1E4082"/>
          </a:solidFill>
          <a:ln>
            <a:solidFill>
              <a:srgbClr val="648C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2920" y="2944368"/>
            <a:ext cx="34290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0">
                <a:solidFill>
                  <a:srgbClr val="E2E8F0"/>
                </a:solidFill>
                <a:latin typeface="微软雅黑"/>
                <ns6:rFonts xmlns:ns6="http://schemas.openxmlformats.org/wordprocessingml/2006/main" ns6:eastAsia="微软雅黑" ns6:ascii="微软雅黑" ns6:hAnsi="微软雅黑"/>
              </a:rPr>
              <a:t>真机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84048" y="3310128"/>
            <a:ext cx="3657600" cy="384048"/>
          </a:xfrm>
          <a:prstGeom prst="rect">
            <a:avLst/>
          </a:prstGeom>
          <a:solidFill>
            <a:srgbClr val="1E4082"/>
          </a:solidFill>
          <a:ln>
            <a:solidFill>
              <a:srgbClr val="648C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2920" y="3383280"/>
            <a:ext cx="34290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0">
                <a:solidFill>
                  <a:srgbClr val="E2E8F0"/>
                </a:solidFill>
                <a:latin typeface="微软雅黑"/>
                <ns7:rFonts xmlns:ns7="http://schemas.openxmlformats.org/wordprocessingml/2006/main" ns7:eastAsia="微软雅黑" ns7:ascii="微软雅黑" ns7:hAnsi="微软雅黑"/>
              </a:rPr>
              <a:t>软著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343400" y="420624"/>
            <a:ext cx="4800600" cy="4430268"/>
          </a:xfrm>
          <a:prstGeom prst="rect">
            <a:avLst/>
          </a:prstGeom>
          <a:solidFill>
            <a:srgbClr val="F1F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4453128" y="1987677"/>
            <a:ext cx="1469135" cy="1872234"/>
          </a:xfrm>
          <a:prstGeom prst="roundRect">
            <a:avLst/>
          </a:prstGeom>
          <a:solidFill>
            <a:srgbClr val="10B981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/>
          <a:lstStyle/>
          <a:p>
            <a:pPr algn="ctr">
              <a:defRPr sz="1100" b="1">
                <a:solidFill>
                  <a:srgbClr val="FFFFFF"/>
                </a:solidFill>
                <a:latin typeface="微软雅黑"/>
              </a:defRPr>
            </a:pPr>
            <a:r>
              <a:t>已完成</a:t>
            </a:r>
            <a:br/>
            <a:r>
              <a:t>Web·评测·仓库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5922264" y="2923794"/>
            <a:ext cx="54864" cy="0"/>
          </a:xfrm>
          <a:prstGeom prst="line">
            <a:avLst/>
          </a:prstGeom>
          <a:ln w="25400">
            <a:solidFill>
              <a:srgbClr val="64748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ounded Rectangle 19"/>
          <p:cNvSpPr/>
          <p:nvPr/>
        </p:nvSpPr>
        <p:spPr>
          <a:xfrm>
            <a:off x="5958840" y="1987677"/>
            <a:ext cx="1469135" cy="1872234"/>
          </a:xfrm>
          <a:prstGeom prst="roundRect">
            <a:avLst/>
          </a:prstGeom>
          <a:solidFill>
            <a:srgbClr val="2563EB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/>
          <a:lstStyle/>
          <a:p>
            <a:pPr algn="ctr">
              <a:defRPr sz="1100" b="1">
                <a:solidFill>
                  <a:srgbClr val="FFFFFF"/>
                </a:solidFill>
                <a:latin typeface="微软雅黑"/>
              </a:defRPr>
            </a:pPr>
            <a:r>
              <a:t>进行中</a:t>
            </a:r>
            <a:br/>
            <a:r>
              <a:t>软著·真机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7427976" y="2923794"/>
            <a:ext cx="54864" cy="0"/>
          </a:xfrm>
          <a:prstGeom prst="line">
            <a:avLst/>
          </a:prstGeom>
          <a:ln w="25400">
            <a:solidFill>
              <a:srgbClr val="64748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ounded Rectangle 21"/>
          <p:cNvSpPr/>
          <p:nvPr/>
        </p:nvSpPr>
        <p:spPr>
          <a:xfrm>
            <a:off x="7464552" y="1987677"/>
            <a:ext cx="1469135" cy="1872234"/>
          </a:xfrm>
          <a:prstGeom prst="roundRect">
            <a:avLst/>
          </a:prstGeom>
          <a:solidFill>
            <a:srgbClr val="F59E0B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/>
          <a:lstStyle/>
          <a:p>
            <a:pPr algn="ctr">
              <a:defRPr sz="1100" b="1">
                <a:solidFill>
                  <a:srgbClr val="FFFFFF"/>
                </a:solidFill>
                <a:latin typeface="微软雅黑"/>
              </a:defRPr>
            </a:pPr>
            <a:r>
              <a:t>计划</a:t>
            </a:r>
            <a:br/>
            <a:r>
              <a:t>数据集·场景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8933688" y="2923794"/>
            <a:ext cx="54864" cy="0"/>
          </a:xfrm>
          <a:prstGeom prst="line">
            <a:avLst/>
          </a:prstGeom>
          <a:ln w="25400">
            <a:solidFill>
              <a:srgbClr val="64748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420624"/>
          </a:xfrm>
          <a:prstGeom prst="rect">
            <a:avLst/>
          </a:prstGeom>
          <a:solidFill>
            <a:srgbClr val="1432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54864"/>
            <a:ext cx="859536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1">
                <a:solidFill>
                  <a:srgbClr val="FFFFFF"/>
                </a:solidFill>
                <a:latin typeface="微软雅黑"/>
                <ns0:rFonts xmlns:ns0="http://schemas.openxmlformats.org/wordprocessingml/2006/main" ns0:eastAsia="微软雅黑" ns0:ascii="微软雅黑" ns0:hAnsi="微软雅黑"/>
              </a:rPr>
              <a:t>第二十八届中国机器人及人工智能大赛  |  创新赛 · 机器人创新赛道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4905756"/>
            <a:ext cx="9144000" cy="237744"/>
          </a:xfrm>
          <a:prstGeom prst="rect">
            <a:avLst/>
          </a:prstGeom>
          <a:solidFill>
            <a:srgbClr val="DBEA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74320" y="4951476"/>
            <a:ext cx="859536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00" b="0">
                <a:solidFill>
                  <a:srgbClr val="5A6273"/>
                </a:solidFill>
                <a:latin typeface="微软雅黑"/>
                <ns1:rFonts xmlns:ns1="http://schemas.openxmlformats.org/wordprocessingml/2006/main" ns1:eastAsia="微软雅黑" ns1:ascii="微软雅黑" ns1:hAnsi="微软雅黑"/>
              </a:rPr>
              <a:t>从容应队 · 中山大学 · 刘小凡/白冉 · 指导教师 彭键清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4320" y="466344"/>
            <a:ext cx="85953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000" b="1">
                <a:solidFill>
                  <a:srgbClr val="143278"/>
                </a:solidFill>
                <a:latin typeface="微软雅黑"/>
                <ns2:rFonts xmlns:ns2="http://schemas.openxmlformats.org/wordprocessingml/2006/main" ns2:eastAsia="微软雅黑" ns2:ascii="微软雅黑" ns2:hAnsi="微软雅黑"/>
              </a:rPr>
              <a:t>创新点</a:t>
            </a:r>
          </a:p>
        </p:txBody>
      </p:sp>
      <p:sp>
        <p:nvSpPr>
          <p:cNvPr id="7" name="Rectangle 6"/>
          <p:cNvSpPr/>
          <p:nvPr/>
        </p:nvSpPr>
        <p:spPr>
          <a:xfrm>
            <a:off x="274320" y="886968"/>
            <a:ext cx="1143000" cy="50292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74320" y="996696"/>
            <a:ext cx="3611880" cy="3854196"/>
          </a:xfrm>
          <a:prstGeom prst="rect">
            <a:avLst/>
          </a:prstGeom>
          <a:solidFill>
            <a:srgbClr val="F1F7FF"/>
          </a:solidFill>
          <a:ln w="10160">
            <a:solidFill>
              <a:srgbClr val="BAC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74320" y="996696"/>
            <a:ext cx="73152" cy="3854196"/>
          </a:xfrm>
          <a:prstGeom prst="rect">
            <a:avLst/>
          </a:prstGeom>
          <a:solidFill>
            <a:srgbClr val="1432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200" y="1124712"/>
            <a:ext cx="3246120" cy="705002"/>
          </a:xfrm>
          <a:prstGeom prst="rect">
            <a:avLst/>
          </a:prstGeom>
          <a:noFill/>
        </p:spPr>
        <p:txBody>
          <a:bodyPr wrap="square" anchor="t" lIns="25400" t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</a:pPr>
            <a:r>
              <a:rPr sz="1200" b="0">
                <a:solidFill>
                  <a:srgbClr val="1C202C"/>
                </a:solidFill>
                <a:latin typeface="微软雅黑"/>
                <ns3:rFonts xmlns:ns3="http://schemas.openxmlformats.org/wordprocessingml/2006/main" ns3:eastAsia="微软雅黑" ns3:ascii="微软雅黑" ns3:hAnsi="微软雅黑"/>
              </a:rPr>
              <a:t>● 多路信号融合，结果能解释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1848002"/>
            <a:ext cx="3246120" cy="705002"/>
          </a:xfrm>
          <a:prstGeom prst="rect">
            <a:avLst/>
          </a:prstGeom>
          <a:noFill/>
        </p:spPr>
        <p:txBody>
          <a:bodyPr wrap="square" anchor="t" lIns="25400" t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</a:pPr>
            <a:r>
              <a:rPr sz="1200" b="0">
                <a:solidFill>
                  <a:srgbClr val="1C202C"/>
                </a:solidFill>
                <a:latin typeface="微软雅黑"/>
                <ns4:rFonts xmlns:ns4="http://schemas.openxmlformats.org/wordprocessingml/2006/main" ns4:eastAsia="微软雅黑" ns4:ascii="微软雅黑" ns4:hAnsi="微软雅黑"/>
              </a:rPr>
              <a:t>● 紧急态在状态机里优先级最高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2571292"/>
            <a:ext cx="3246120" cy="705002"/>
          </a:xfrm>
          <a:prstGeom prst="rect">
            <a:avLst/>
          </a:prstGeom>
          <a:noFill/>
        </p:spPr>
        <p:txBody>
          <a:bodyPr wrap="square" anchor="t" lIns="25400" t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</a:pPr>
            <a:r>
              <a:rPr sz="1200" b="0">
                <a:solidFill>
                  <a:srgbClr val="1C202C"/>
                </a:solidFill>
                <a:latin typeface="微软雅黑"/>
                <ns5:rFonts xmlns:ns5="http://schemas.openxmlformats.org/wordprocessingml/2006/main" ns5:eastAsia="微软雅黑" ns5:ascii="微软雅黑" ns5:hAnsi="微软雅黑"/>
              </a:rPr>
              <a:t>● 视觉用 MediaPipe，不是纯参数滑块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3294583"/>
            <a:ext cx="3246120" cy="705002"/>
          </a:xfrm>
          <a:prstGeom prst="rect">
            <a:avLst/>
          </a:prstGeom>
          <a:noFill/>
        </p:spPr>
        <p:txBody>
          <a:bodyPr wrap="square" anchor="t" lIns="25400" t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</a:pPr>
            <a:r>
              <a:rPr sz="1200" b="0">
                <a:solidFill>
                  <a:srgbClr val="1C202C"/>
                </a:solidFill>
                <a:latin typeface="微软雅黑"/>
                <ns6:rFonts xmlns:ns6="http://schemas.openxmlformats.org/wordprocessingml/2006/main" ns6:eastAsia="微软雅黑" ns6:ascii="微软雅黑" ns6:hAnsi="微软雅黑"/>
              </a:rPr>
              <a:t>● 代码和评测脚本都开源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4017873"/>
            <a:ext cx="3246120" cy="705002"/>
          </a:xfrm>
          <a:prstGeom prst="rect">
            <a:avLst/>
          </a:prstGeom>
          <a:noFill/>
        </p:spPr>
        <p:txBody>
          <a:bodyPr wrap="square" anchor="t" lIns="25400" t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</a:pPr>
            <a:r>
              <a:rPr sz="1200" b="0">
                <a:solidFill>
                  <a:srgbClr val="1C202C"/>
                </a:solidFill>
                <a:latin typeface="微软雅黑"/>
                <ns7:rFonts xmlns:ns7="http://schemas.openxmlformats.org/wordprocessingml/2006/main" ns7:eastAsia="微软雅黑" ns7:ascii="微软雅黑" ns7:hAnsi="微软雅黑"/>
              </a:rPr>
              <a:t>● 场景对准居家养老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151376" y="1078992"/>
            <a:ext cx="2299716" cy="1175004"/>
          </a:xfrm>
          <a:prstGeom prst="roundRect">
            <a:avLst/>
          </a:prstGeom>
          <a:solidFill>
            <a:srgbClr val="2563EB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/>
          <a:lstStyle/>
          <a:p>
            <a:pPr algn="ctr">
              <a:defRPr sz="1000" b="1">
                <a:solidFill>
                  <a:srgbClr val="FFFFFF"/>
                </a:solidFill>
                <a:latin typeface="微软雅黑"/>
              </a:defRPr>
            </a:pPr>
            <a:r>
              <a:t>融合</a:t>
            </a:r>
            <a:br/>
            <a:r>
              <a:t>多源信号加权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87668" y="1078992"/>
            <a:ext cx="2299716" cy="1175004"/>
          </a:xfrm>
          <a:prstGeom prst="roundRect">
            <a:avLst/>
          </a:prstGeom>
          <a:solidFill>
            <a:srgbClr val="0EA5E9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/>
          <a:lstStyle/>
          <a:p>
            <a:pPr algn="ctr">
              <a:defRPr sz="1000" b="1">
                <a:solidFill>
                  <a:srgbClr val="FFFFFF"/>
                </a:solidFill>
                <a:latin typeface="微软雅黑"/>
              </a:defRPr>
            </a:pPr>
            <a:r>
              <a:t>闭环</a:t>
            </a:r>
            <a:br/>
            <a:r>
              <a:t>紧急可打断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151376" y="2308860"/>
            <a:ext cx="2299716" cy="1175004"/>
          </a:xfrm>
          <a:prstGeom prst="roundRect">
            <a:avLst/>
          </a:prstGeom>
          <a:solidFill>
            <a:srgbClr val="2563EB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/>
          <a:lstStyle/>
          <a:p>
            <a:pPr algn="ctr">
              <a:defRPr sz="1000" b="1">
                <a:solidFill>
                  <a:srgbClr val="FFFFFF"/>
                </a:solidFill>
                <a:latin typeface="微软雅黑"/>
              </a:defRPr>
            </a:pPr>
            <a:r>
              <a:t>视觉</a:t>
            </a:r>
            <a:br/>
            <a:r>
              <a:t>MediaPipe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487668" y="2308860"/>
            <a:ext cx="2299716" cy="1175004"/>
          </a:xfrm>
          <a:prstGeom prst="roundRect">
            <a:avLst/>
          </a:prstGeom>
          <a:solidFill>
            <a:srgbClr val="0EA5E9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/>
          <a:lstStyle/>
          <a:p>
            <a:pPr algn="ctr">
              <a:defRPr sz="1000" b="1">
                <a:solidFill>
                  <a:srgbClr val="FFFFFF"/>
                </a:solidFill>
                <a:latin typeface="微软雅黑"/>
              </a:defRPr>
            </a:pPr>
            <a:r>
              <a:t>工程</a:t>
            </a:r>
            <a:br/>
            <a:r>
              <a:t>评测脚本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151376" y="3538728"/>
            <a:ext cx="2299716" cy="1175004"/>
          </a:xfrm>
          <a:prstGeom prst="roundRect">
            <a:avLst/>
          </a:prstGeom>
          <a:solidFill>
            <a:srgbClr val="2563EB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/>
          <a:lstStyle/>
          <a:p>
            <a:pPr algn="ctr">
              <a:defRPr sz="1000" b="1">
                <a:solidFill>
                  <a:srgbClr val="FFFFFF"/>
                </a:solidFill>
                <a:latin typeface="微软雅黑"/>
              </a:defRPr>
            </a:pPr>
            <a:r>
              <a:t>场景</a:t>
            </a:r>
            <a:br/>
            <a:r>
              <a:t>居家养老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420624"/>
          </a:xfrm>
          <a:prstGeom prst="rect">
            <a:avLst/>
          </a:prstGeom>
          <a:solidFill>
            <a:srgbClr val="1432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54864"/>
            <a:ext cx="859536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1">
                <a:solidFill>
                  <a:srgbClr val="FFFFFF"/>
                </a:solidFill>
                <a:latin typeface="微软雅黑"/>
                <ns0:rFonts xmlns:ns0="http://schemas.openxmlformats.org/wordprocessingml/2006/main" ns0:eastAsia="微软雅黑" ns0:ascii="微软雅黑" ns0:hAnsi="微软雅黑"/>
              </a:rPr>
              <a:t>第二十八届中国机器人及人工智能大赛  |  创新赛 · 机器人创新赛道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4905756"/>
            <a:ext cx="9144000" cy="237744"/>
          </a:xfrm>
          <a:prstGeom prst="rect">
            <a:avLst/>
          </a:prstGeom>
          <a:solidFill>
            <a:srgbClr val="DBEA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74320" y="4951476"/>
            <a:ext cx="859536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00" b="0">
                <a:solidFill>
                  <a:srgbClr val="5A6273"/>
                </a:solidFill>
                <a:latin typeface="微软雅黑"/>
                <ns1:rFonts xmlns:ns1="http://schemas.openxmlformats.org/wordprocessingml/2006/main" ns1:eastAsia="微软雅黑" ns1:ascii="微软雅黑" ns1:hAnsi="微软雅黑"/>
              </a:rPr>
              <a:t>从容应队 · 中山大学 · 刘小凡/白冉 · 指导教师 彭键清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4320" y="466344"/>
            <a:ext cx="85953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000" b="1">
                <a:solidFill>
                  <a:srgbClr val="143278"/>
                </a:solidFill>
                <a:latin typeface="微软雅黑"/>
                <ns2:rFonts xmlns:ns2="http://schemas.openxmlformats.org/wordprocessingml/2006/main" ns2:eastAsia="微软雅黑" ns2:ascii="微软雅黑" ns2:hAnsi="微软雅黑"/>
              </a:rPr>
              <a:t>后面打算做什么</a:t>
            </a:r>
          </a:p>
        </p:txBody>
      </p:sp>
      <p:sp>
        <p:nvSpPr>
          <p:cNvPr id="7" name="Rectangle 6"/>
          <p:cNvSpPr/>
          <p:nvPr/>
        </p:nvSpPr>
        <p:spPr>
          <a:xfrm>
            <a:off x="274320" y="886968"/>
            <a:ext cx="1143000" cy="50292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74320" y="996696"/>
            <a:ext cx="3611880" cy="3854196"/>
          </a:xfrm>
          <a:prstGeom prst="rect">
            <a:avLst/>
          </a:prstGeom>
          <a:solidFill>
            <a:srgbClr val="F1F7FF"/>
          </a:solidFill>
          <a:ln w="10160">
            <a:solidFill>
              <a:srgbClr val="BAC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74320" y="996696"/>
            <a:ext cx="73152" cy="3854196"/>
          </a:xfrm>
          <a:prstGeom prst="rect">
            <a:avLst/>
          </a:prstGeom>
          <a:solidFill>
            <a:srgbClr val="1432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200" y="1124712"/>
            <a:ext cx="3246120" cy="705002"/>
          </a:xfrm>
          <a:prstGeom prst="rect">
            <a:avLst/>
          </a:prstGeom>
          <a:noFill/>
        </p:spPr>
        <p:txBody>
          <a:bodyPr wrap="square" anchor="t" lIns="25400" t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</a:pPr>
            <a:r>
              <a:rPr sz="1200" b="0">
                <a:solidFill>
                  <a:srgbClr val="1C202C"/>
                </a:solidFill>
                <a:latin typeface="微软雅黑"/>
                <ns3:rFonts xmlns:ns3="http://schemas.openxmlformats.org/wordprocessingml/2006/main" ns3:eastAsia="微软雅黑" ns3:ascii="微软雅黑" ns3:hAnsi="微软雅黑"/>
              </a:rPr>
              <a:t>● 对接 Unitree 等人形真机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1848002"/>
            <a:ext cx="3246120" cy="705002"/>
          </a:xfrm>
          <a:prstGeom prst="rect">
            <a:avLst/>
          </a:prstGeom>
          <a:noFill/>
        </p:spPr>
        <p:txBody>
          <a:bodyPr wrap="square" anchor="t" lIns="25400" t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</a:pPr>
            <a:r>
              <a:rPr sz="1200" b="0">
                <a:solidFill>
                  <a:srgbClr val="1C202C"/>
                </a:solidFill>
                <a:latin typeface="微软雅黑"/>
                <ns4:rFonts xmlns:ns4="http://schemas.openxmlformats.org/wordprocessingml/2006/main" ns4:eastAsia="微软雅黑" ns4:ascii="微软雅黑" ns4:hAnsi="微软雅黑"/>
              </a:rPr>
              <a:t>● 补充公开跌倒数据集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2571292"/>
            <a:ext cx="3246120" cy="705002"/>
          </a:xfrm>
          <a:prstGeom prst="rect">
            <a:avLst/>
          </a:prstGeom>
          <a:noFill/>
        </p:spPr>
        <p:txBody>
          <a:bodyPr wrap="square" anchor="t" lIns="25400" t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</a:pPr>
            <a:r>
              <a:rPr sz="1200" b="0">
                <a:solidFill>
                  <a:srgbClr val="1C202C"/>
                </a:solidFill>
                <a:latin typeface="微软雅黑"/>
                <ns5:rFonts xmlns:ns5="http://schemas.openxmlformats.org/wordprocessingml/2006/main" ns5:eastAsia="微软雅黑" ns5:ascii="微软雅黑" ns5:hAnsi="微软雅黑"/>
              </a:rPr>
              <a:t>● 做多房间、弱光等复杂场景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3294583"/>
            <a:ext cx="3246120" cy="705002"/>
          </a:xfrm>
          <a:prstGeom prst="rect">
            <a:avLst/>
          </a:prstGeom>
          <a:noFill/>
        </p:spPr>
        <p:txBody>
          <a:bodyPr wrap="square" anchor="t" lIns="25400" t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</a:pPr>
            <a:r>
              <a:rPr sz="1200" b="0">
                <a:solidFill>
                  <a:srgbClr val="1C202C"/>
                </a:solidFill>
                <a:latin typeface="微软雅黑"/>
                <ns6:rFonts xmlns:ns6="http://schemas.openxmlformats.org/wordprocessingml/2006/main" ns6:eastAsia="微软雅黑" ns6:ascii="微软雅黑" ns6:hAnsi="微软雅黑"/>
              </a:rPr>
              <a:t>● 去养老院做访谈和试用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4017873"/>
            <a:ext cx="3246120" cy="705002"/>
          </a:xfrm>
          <a:prstGeom prst="rect">
            <a:avLst/>
          </a:prstGeom>
          <a:noFill/>
        </p:spPr>
        <p:txBody>
          <a:bodyPr wrap="square" anchor="t" lIns="25400" t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</a:pPr>
            <a:r>
              <a:rPr sz="1200" b="0">
                <a:solidFill>
                  <a:srgbClr val="1C202C"/>
                </a:solidFill>
                <a:latin typeface="微软雅黑"/>
                <ns7:rFonts xmlns:ns7="http://schemas.openxmlformats.org/wordprocessingml/2006/main" ns7:eastAsia="微软雅黑" ns7:ascii="微软雅黑" ns7:hAnsi="微软雅黑"/>
              </a:rPr>
              <a:t>● 软著和专利在准备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151376" y="1978533"/>
            <a:ext cx="1487424" cy="1890522"/>
          </a:xfrm>
          <a:prstGeom prst="roundRect">
            <a:avLst/>
          </a:prstGeom>
          <a:solidFill>
            <a:srgbClr val="10B981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/>
          <a:lstStyle/>
          <a:p>
            <a:pPr algn="ctr">
              <a:defRPr sz="1100" b="1">
                <a:solidFill>
                  <a:srgbClr val="FFFFFF"/>
                </a:solidFill>
                <a:latin typeface="微软雅黑"/>
              </a:defRPr>
            </a:pPr>
            <a:r>
              <a:t>已完成</a:t>
            </a:r>
            <a:br/>
            <a:r>
              <a:t>Web·评测·仓库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5638800" y="2923794"/>
            <a:ext cx="54864" cy="0"/>
          </a:xfrm>
          <a:prstGeom prst="line">
            <a:avLst/>
          </a:prstGeom>
          <a:ln w="25400">
            <a:solidFill>
              <a:srgbClr val="64748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ounded Rectangle 16"/>
          <p:cNvSpPr/>
          <p:nvPr/>
        </p:nvSpPr>
        <p:spPr>
          <a:xfrm>
            <a:off x="5675376" y="1978533"/>
            <a:ext cx="1487424" cy="1890522"/>
          </a:xfrm>
          <a:prstGeom prst="roundRect">
            <a:avLst/>
          </a:prstGeom>
          <a:solidFill>
            <a:srgbClr val="2563EB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/>
          <a:lstStyle/>
          <a:p>
            <a:pPr algn="ctr">
              <a:defRPr sz="1100" b="1">
                <a:solidFill>
                  <a:srgbClr val="FFFFFF"/>
                </a:solidFill>
                <a:latin typeface="微软雅黑"/>
              </a:defRPr>
            </a:pPr>
            <a:r>
              <a:t>进行中</a:t>
            </a:r>
            <a:br/>
            <a:r>
              <a:t>软著·真机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7162800" y="2923794"/>
            <a:ext cx="54864" cy="0"/>
          </a:xfrm>
          <a:prstGeom prst="line">
            <a:avLst/>
          </a:prstGeom>
          <a:ln w="25400">
            <a:solidFill>
              <a:srgbClr val="64748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7199376" y="1978533"/>
            <a:ext cx="1487424" cy="1890522"/>
          </a:xfrm>
          <a:prstGeom prst="roundRect">
            <a:avLst/>
          </a:prstGeom>
          <a:solidFill>
            <a:srgbClr val="F59E0B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/>
          <a:lstStyle/>
          <a:p>
            <a:pPr algn="ctr">
              <a:defRPr sz="1100" b="1">
                <a:solidFill>
                  <a:srgbClr val="FFFFFF"/>
                </a:solidFill>
                <a:latin typeface="微软雅黑"/>
              </a:defRPr>
            </a:pPr>
            <a:r>
              <a:t>计划</a:t>
            </a:r>
            <a:br/>
            <a:r>
              <a:t>数据集·场景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8686800" y="2923794"/>
            <a:ext cx="54864" cy="0"/>
          </a:xfrm>
          <a:prstGeom prst="line">
            <a:avLst/>
          </a:prstGeom>
          <a:ln w="25400">
            <a:solidFill>
              <a:srgbClr val="64748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420624"/>
          </a:xfrm>
          <a:prstGeom prst="rect">
            <a:avLst/>
          </a:prstGeom>
          <a:solidFill>
            <a:srgbClr val="1432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54864"/>
            <a:ext cx="859536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1">
                <a:solidFill>
                  <a:srgbClr val="FFFFFF"/>
                </a:solidFill>
                <a:latin typeface="微软雅黑"/>
                <ns0:rFonts xmlns:ns0="http://schemas.openxmlformats.org/wordprocessingml/2006/main" ns0:eastAsia="微软雅黑" ns0:ascii="微软雅黑" ns0:hAnsi="微软雅黑"/>
              </a:rPr>
              <a:t>第二十八届中国机器人及人工智能大赛  |  创新赛 · 机器人创新赛道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4905756"/>
            <a:ext cx="9144000" cy="237744"/>
          </a:xfrm>
          <a:prstGeom prst="rect">
            <a:avLst/>
          </a:prstGeom>
          <a:solidFill>
            <a:srgbClr val="DBEA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74320" y="4951476"/>
            <a:ext cx="859536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00" b="0">
                <a:solidFill>
                  <a:srgbClr val="5A6273"/>
                </a:solidFill>
                <a:latin typeface="微软雅黑"/>
                <ns1:rFonts xmlns:ns1="http://schemas.openxmlformats.org/wordprocessingml/2006/main" ns1:eastAsia="微软雅黑" ns1:ascii="微软雅黑" ns1:hAnsi="微软雅黑"/>
              </a:rPr>
              <a:t>从容应队 · 中山大学 · 刘小凡/白冉 · 指导教师 彭键清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4320" y="466344"/>
            <a:ext cx="85953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000" b="1">
                <a:solidFill>
                  <a:srgbClr val="143278"/>
                </a:solidFill>
                <a:latin typeface="微软雅黑"/>
                <ns2:rFonts xmlns:ns2="http://schemas.openxmlformats.org/wordprocessingml/2006/main" ns2:eastAsia="微软雅黑" ns2:ascii="微软雅黑" ns2:hAnsi="微软雅黑"/>
              </a:rPr>
              <a:t>参考资料</a:t>
            </a:r>
          </a:p>
        </p:txBody>
      </p:sp>
      <p:sp>
        <p:nvSpPr>
          <p:cNvPr id="7" name="Rectangle 6"/>
          <p:cNvSpPr/>
          <p:nvPr/>
        </p:nvSpPr>
        <p:spPr>
          <a:xfrm>
            <a:off x="274320" y="886968"/>
            <a:ext cx="1143000" cy="50292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1234440"/>
            <a:ext cx="8138160" cy="3200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1000"/>
              </a:spcAft>
            </a:pPr>
            <a:r>
              <a:rPr sz="1300" b="0">
                <a:solidFill>
                  <a:srgbClr val="1C202C"/>
                </a:solidFill>
                <a:latin typeface="微软雅黑"/>
                <ns3:rFonts xmlns:ns3="http://schemas.openxmlformats.org/wordprocessingml/2006/main" ns3:eastAsia="微软雅黑" ns3:ascii="微软雅黑" ns3:hAnsi="微软雅黑"/>
              </a:rPr>
              <a:t>[1] Google MediaPipe Pose 技术文档</a:t>
            </a:r>
          </a:p>
          <a:p>
            <a:pPr>
              <a:spcAft>
                <a:spcPts val="1000"/>
              </a:spcAft>
            </a:pPr>
            <a:r>
              <a:rPr sz="1300" b="0">
                <a:solidFill>
                  <a:srgbClr val="1C202C"/>
                </a:solidFill>
                <a:latin typeface="微软雅黑"/>
                <ns4:rFonts xmlns:ns4="http://schemas.openxmlformats.org/wordprocessingml/2006/main" ns4:eastAsia="微软雅黑" ns4:ascii="微软雅黑" ns4:hAnsi="微软雅黑"/>
              </a:rPr>
              <a:t>[2] Unitree / ROS2 开发文档</a:t>
            </a:r>
          </a:p>
          <a:p>
            <a:pPr>
              <a:spcAft>
                <a:spcPts val="1000"/>
              </a:spcAft>
            </a:pPr>
            <a:r>
              <a:rPr sz="1300" b="0">
                <a:solidFill>
                  <a:srgbClr val="1C202C"/>
                </a:solidFill>
                <a:latin typeface="微软雅黑"/>
                <ns5:rFonts xmlns:ns5="http://schemas.openxmlformats.org/wordprocessingml/2006/main" ns5:eastAsia="微软雅黑" ns5:ascii="微软雅黑" ns5:hAnsi="微软雅黑"/>
              </a:rPr>
              <a:t>[3] 「十四五」国家老龄事业发展规划</a:t>
            </a:r>
          </a:p>
          <a:p>
            <a:pPr>
              <a:spcAft>
                <a:spcPts val="1000"/>
              </a:spcAft>
            </a:pPr>
            <a:r>
              <a:rPr sz="1300" b="0">
                <a:solidFill>
                  <a:srgbClr val="1C202C"/>
                </a:solidFill>
                <a:latin typeface="微软雅黑"/>
                <ns6:rFonts xmlns:ns6="http://schemas.openxmlformats.org/wordprocessingml/2006/main" ns6:eastAsia="微软雅黑" ns6:ascii="微软雅黑" ns6:hAnsi="微软雅黑"/>
              </a:rPr>
              <a:t>[4] 项目技术报告 docs/TECHNICAL_REPORT.md</a:t>
            </a:r>
          </a:p>
          <a:p>
            <a:pPr>
              <a:spcAft>
                <a:spcPts val="1000"/>
              </a:spcAft>
            </a:pPr>
            <a:r>
              <a:rPr sz="1300" b="0">
                <a:solidFill>
                  <a:srgbClr val="1C202C"/>
                </a:solidFill>
                <a:latin typeface="微软雅黑"/>
                <ns7:rFonts xmlns:ns7="http://schemas.openxmlformats.org/wordprocessingml/2006/main" ns7:eastAsia="微软雅黑" ns7:ascii="微软雅黑" ns7:hAnsi="微软雅黑"/>
              </a:rPr>
              <a:t>[5] 源码 https://github.com/FBB123571/ElderCare-Humanoid-Platform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420624"/>
          </a:xfrm>
          <a:prstGeom prst="rect">
            <a:avLst/>
          </a:prstGeom>
          <a:solidFill>
            <a:srgbClr val="1432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54864"/>
            <a:ext cx="859536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1">
                <a:solidFill>
                  <a:srgbClr val="FFFFFF"/>
                </a:solidFill>
                <a:latin typeface="微软雅黑"/>
                <ns0:rFonts xmlns:ns0="http://schemas.openxmlformats.org/wordprocessingml/2006/main" ns0:eastAsia="微软雅黑" ns0:ascii="微软雅黑" ns0:hAnsi="微软雅黑"/>
              </a:rPr>
              <a:t>第二十八届中国机器人及人工智能大赛  |  创新赛 · 机器人创新赛道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4905756"/>
            <a:ext cx="9144000" cy="237744"/>
          </a:xfrm>
          <a:prstGeom prst="rect">
            <a:avLst/>
          </a:prstGeom>
          <a:solidFill>
            <a:srgbClr val="DBEA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74320" y="4951476"/>
            <a:ext cx="859536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00" b="0">
                <a:solidFill>
                  <a:srgbClr val="5A6273"/>
                </a:solidFill>
                <a:latin typeface="微软雅黑"/>
                <ns1:rFonts xmlns:ns1="http://schemas.openxmlformats.org/wordprocessingml/2006/main" ns1:eastAsia="微软雅黑" ns1:ascii="微软雅黑" ns1:hAnsi="微软雅黑"/>
              </a:rPr>
              <a:t>从容应队 · 中山大学 · 刘小凡/白冉 · 指导教师 彭键清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4320" y="466344"/>
            <a:ext cx="85953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000" b="1">
                <a:solidFill>
                  <a:srgbClr val="143278"/>
                </a:solidFill>
                <a:latin typeface="微软雅黑"/>
                <ns2:rFonts xmlns:ns2="http://schemas.openxmlformats.org/wordprocessingml/2006/main" ns2:eastAsia="微软雅黑" ns2:ascii="微软雅黑" ns2:hAnsi="微软雅黑"/>
              </a:rPr>
              <a:t>扫码查看代码与演示视频</a:t>
            </a:r>
          </a:p>
        </p:txBody>
      </p:sp>
      <p:sp>
        <p:nvSpPr>
          <p:cNvPr id="7" name="Rectangle 6"/>
          <p:cNvSpPr/>
          <p:nvPr/>
        </p:nvSpPr>
        <p:spPr>
          <a:xfrm>
            <a:off x="274320" y="886968"/>
            <a:ext cx="1143000" cy="50292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74320" y="996696"/>
            <a:ext cx="3611880" cy="3854196"/>
          </a:xfrm>
          <a:prstGeom prst="rect">
            <a:avLst/>
          </a:prstGeom>
          <a:solidFill>
            <a:srgbClr val="F1F7FF"/>
          </a:solidFill>
          <a:ln w="10160">
            <a:solidFill>
              <a:srgbClr val="BAC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74320" y="996696"/>
            <a:ext cx="73152" cy="3854196"/>
          </a:xfrm>
          <a:prstGeom prst="rect">
            <a:avLst/>
          </a:prstGeom>
          <a:solidFill>
            <a:srgbClr val="1432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200" y="1124712"/>
            <a:ext cx="3246120" cy="885825"/>
          </a:xfrm>
          <a:prstGeom prst="rect">
            <a:avLst/>
          </a:prstGeom>
          <a:noFill/>
        </p:spPr>
        <p:txBody>
          <a:bodyPr wrap="square" anchor="t" lIns="25400" t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</a:pPr>
            <a:r>
              <a:rPr sz="1300" b="0">
                <a:solidFill>
                  <a:srgbClr val="1C202C"/>
                </a:solidFill>
                <a:latin typeface="微软雅黑"/>
                <ns3:rFonts xmlns:ns3="http://schemas.openxmlformats.org/wordprocessingml/2006/main" ns3:eastAsia="微软雅黑" ns3:ascii="微软雅黑" ns3:hAnsi="微软雅黑"/>
              </a:rPr>
              <a:t>● GitHub 完整源码与文档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2028825"/>
            <a:ext cx="3246120" cy="885825"/>
          </a:xfrm>
          <a:prstGeom prst="rect">
            <a:avLst/>
          </a:prstGeom>
          <a:noFill/>
        </p:spPr>
        <p:txBody>
          <a:bodyPr wrap="square" anchor="t" lIns="25400" t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</a:pPr>
            <a:r>
              <a:rPr sz="1300" b="0">
                <a:solidFill>
                  <a:srgbClr val="1C202C"/>
                </a:solidFill>
                <a:latin typeface="微软雅黑"/>
                <ns4:rFonts xmlns:ns4="http://schemas.openxmlformats.org/wordprocessingml/2006/main" ns4:eastAsia="微软雅黑" ns4:ascii="微软雅黑" ns4:hAnsi="微软雅黑"/>
              </a:rPr>
              <a:t>● 在线 Web 演示（现场可复现）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2932938"/>
            <a:ext cx="3246120" cy="885825"/>
          </a:xfrm>
          <a:prstGeom prst="rect">
            <a:avLst/>
          </a:prstGeom>
          <a:noFill/>
        </p:spPr>
        <p:txBody>
          <a:bodyPr wrap="square" anchor="t" lIns="25400" t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</a:pPr>
            <a:r>
              <a:rPr sz="1300" b="0">
                <a:solidFill>
                  <a:srgbClr val="1C202C"/>
                </a:solidFill>
                <a:latin typeface="微软雅黑"/>
                <ns5:rFonts xmlns:ns5="http://schemas.openxmlformats.org/wordprocessingml/2006/main" ns5:eastAsia="微软雅黑" ns5:ascii="微软雅黑" ns5:hAnsi="微软雅黑"/>
              </a:rPr>
              <a:t>● 演示录像已附仓库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3837051"/>
            <a:ext cx="3246120" cy="885825"/>
          </a:xfrm>
          <a:prstGeom prst="rect">
            <a:avLst/>
          </a:prstGeom>
          <a:noFill/>
        </p:spPr>
        <p:txBody>
          <a:bodyPr wrap="square" anchor="t" lIns="25400" tIns="0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</a:pPr>
            <a:r>
              <a:rPr sz="1300" b="0">
                <a:solidFill>
                  <a:srgbClr val="1C202C"/>
                </a:solidFill>
                <a:latin typeface="微软雅黑"/>
                <ns6:rFonts xmlns:ns6="http://schemas.openxmlformats.org/wordprocessingml/2006/main" ns6:eastAsia="微软雅黑" ns6:ascii="微软雅黑" ns6:hAnsi="微软雅黑"/>
              </a:rPr>
              <a:t>● 欢迎评委扫码查阅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206240" y="1133856"/>
            <a:ext cx="1828800" cy="2011680"/>
          </a:xfrm>
          <a:prstGeom prst="rect">
            <a:avLst/>
          </a:prstGeom>
          <a:solidFill>
            <a:srgbClr val="FFFFFF"/>
          </a:solidFill>
          <a:ln w="10160">
            <a:solidFill>
              <a:srgbClr val="BAC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ppt_demo_q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51959" y="1179576"/>
            <a:ext cx="1737360" cy="173736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4160520" y="2971800"/>
            <a:ext cx="192024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 b="0">
                <a:solidFill>
                  <a:srgbClr val="5A6273"/>
                </a:solidFill>
                <a:latin typeface="微软雅黑"/>
                <ns7:rFonts xmlns:ns7="http://schemas.openxmlformats.org/wordprocessingml/2006/main" ns7:eastAsia="微软雅黑" ns7:ascii="微软雅黑" ns7:hAnsi="微软雅黑"/>
              </a:rPr>
              <a:t>仓库二维码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288094" y="1088136"/>
            <a:ext cx="2419971" cy="3762756"/>
          </a:xfrm>
          <a:prstGeom prst="rect">
            <a:avLst/>
          </a:prstGeom>
          <a:solidFill>
            <a:srgbClr val="FFFFFF"/>
          </a:solidFill>
          <a:ln w="10160">
            <a:solidFill>
              <a:srgbClr val="BAC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" name="Picture 17" descr="ppt_mediapipe_pos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33814" y="1133856"/>
            <a:ext cx="2328531" cy="3488436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6217920" y="4677156"/>
            <a:ext cx="256032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 b="0">
                <a:solidFill>
                  <a:srgbClr val="5A6273"/>
                </a:solidFill>
                <a:latin typeface="微软雅黑"/>
                <ns8:rFonts xmlns:ns8="http://schemas.openxmlformats.org/wordprocessingml/2006/main" ns8:eastAsia="微软雅黑" ns8:ascii="微软雅黑" ns8:hAnsi="微软雅黑"/>
              </a:rPr>
              <a:t>演示界面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420624"/>
          </a:xfrm>
          <a:prstGeom prst="rect">
            <a:avLst/>
          </a:prstGeom>
          <a:solidFill>
            <a:srgbClr val="1432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54864"/>
            <a:ext cx="859536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1">
                <a:solidFill>
                  <a:srgbClr val="FFFFFF"/>
                </a:solidFill>
                <a:latin typeface="微软雅黑"/>
                <ns0:rFonts xmlns:ns0="http://schemas.openxmlformats.org/wordprocessingml/2006/main" ns0:eastAsia="微软雅黑" ns0:ascii="微软雅黑" ns0:hAnsi="微软雅黑"/>
              </a:rPr>
              <a:t>第二十八届中国机器人及人工智能大赛  |  创新赛 · 机器人创新赛道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420624"/>
            <a:ext cx="4434840" cy="4722876"/>
          </a:xfrm>
          <a:prstGeom prst="rect">
            <a:avLst/>
          </a:prstGeom>
          <a:solidFill>
            <a:srgbClr val="1432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06161" y="1567756"/>
            <a:ext cx="4222516" cy="2428611"/>
          </a:xfrm>
          <a:prstGeom prst="rect">
            <a:avLst/>
          </a:prstGeom>
          <a:solidFill>
            <a:srgbClr val="FFFFFF"/>
          </a:solidFill>
          <a:ln w="10160">
            <a:solidFill>
              <a:srgbClr val="BAC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ppt_full_dashboa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1881" y="1613476"/>
            <a:ext cx="4131076" cy="2154291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09728" y="3822631"/>
            <a:ext cx="4215383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 b="0">
                <a:solidFill>
                  <a:srgbClr val="5A6273"/>
                </a:solidFill>
                <a:latin typeface="微软雅黑"/>
                <ns1:rFonts xmlns:ns1="http://schemas.openxmlformats.org/wordprocessingml/2006/main" ns1:eastAsia="微软雅黑" ns1:ascii="微软雅黑" ns1:hAnsi="微软雅黑"/>
              </a:rPr>
              <a:t>系统仪表盘</a:t>
            </a:r>
          </a:p>
        </p:txBody>
      </p:sp>
      <p:sp>
        <p:nvSpPr>
          <p:cNvPr id="8" name="Rectangle 7"/>
          <p:cNvSpPr/>
          <p:nvPr/>
        </p:nvSpPr>
        <p:spPr>
          <a:xfrm>
            <a:off x="4434840" y="420624"/>
            <a:ext cx="4709160" cy="4722876"/>
          </a:xfrm>
          <a:prstGeom prst="rect">
            <a:avLst/>
          </a:prstGeom>
          <a:solidFill>
            <a:srgbClr val="F1F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617720" y="1234440"/>
            <a:ext cx="434340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3000" b="1">
                <a:solidFill>
                  <a:srgbClr val="143278"/>
                </a:solidFill>
                <a:latin typeface="微软雅黑"/>
                <ns2:rFonts xmlns:ns2="http://schemas.openxmlformats.org/wordprocessingml/2006/main" ns2:eastAsia="微软雅黑" ns2:ascii="微软雅黑" ns2:hAnsi="微软雅黑"/>
              </a:rPr>
              <a:t>敬请批评指正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617720" y="1965960"/>
            <a:ext cx="4343400" cy="10058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Aft>
                <a:spcPts val="600"/>
              </a:spcAft>
            </a:pPr>
            <a:r>
              <a:rPr sz="1300" b="1">
                <a:solidFill>
                  <a:srgbClr val="1C202C"/>
                </a:solidFill>
                <a:latin typeface="微软雅黑"/>
                <ns3:rFonts xmlns:ns3="http://schemas.openxmlformats.org/wordprocessingml/2006/main" ns3:eastAsia="微软雅黑" ns3:ascii="微软雅黑" ns3:hAnsi="微软雅黑"/>
              </a:rPr>
              <a:t>从容应队 · 中山大学</a:t>
            </a:r>
          </a:p>
          <a:p>
            <a:pPr algn="ctr">
              <a:spcAft>
                <a:spcPts val="600"/>
              </a:spcAft>
            </a:pPr>
            <a:r>
              <a:rPr sz="1300" b="0">
                <a:solidFill>
                  <a:srgbClr val="1C202C"/>
                </a:solidFill>
                <a:latin typeface="微软雅黑"/>
                <ns4:rFonts xmlns:ns4="http://schemas.openxmlformats.org/wordprocessingml/2006/main" ns4:eastAsia="微软雅黑" ns4:ascii="微软雅黑" ns4:hAnsi="微软雅黑"/>
              </a:rPr>
              <a:t>刘小凡 · 白冉</a:t>
            </a:r>
          </a:p>
          <a:p>
            <a:pPr algn="ctr">
              <a:spcAft>
                <a:spcPts val="600"/>
              </a:spcAft>
            </a:pPr>
            <a:r>
              <a:rPr sz="1300" b="0">
                <a:solidFill>
                  <a:srgbClr val="1C202C"/>
                </a:solidFill>
                <a:latin typeface="微软雅黑"/>
                <ns5:rFonts xmlns:ns5="http://schemas.openxmlformats.org/wordprocessingml/2006/main" ns5:eastAsia="微软雅黑" ns5:ascii="微软雅黑" ns5:hAnsi="微软雅黑"/>
              </a:rPr>
              <a:t>指导教师 彭键清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852159" y="3017520"/>
            <a:ext cx="1325880" cy="1508760"/>
          </a:xfrm>
          <a:prstGeom prst="rect">
            <a:avLst/>
          </a:prstGeom>
          <a:solidFill>
            <a:srgbClr val="FFFFFF"/>
          </a:solidFill>
          <a:ln w="10160">
            <a:solidFill>
              <a:srgbClr val="BAC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ppt_demo_q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97879" y="3063240"/>
            <a:ext cx="1234440" cy="123444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5806440" y="4352544"/>
            <a:ext cx="141732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 b="0">
                <a:solidFill>
                  <a:srgbClr val="5A6273"/>
                </a:solidFill>
                <a:latin typeface="微软雅黑"/>
                <ns6:rFonts xmlns:ns6="http://schemas.openxmlformats.org/wordprocessingml/2006/main" ns6:eastAsia="微软雅黑" ns6:ascii="微软雅黑" ns6:hAnsi="微软雅黑"/>
              </a:rPr>
              <a:t>GitHub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