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57200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3200" y="536158"/>
            <a:ext cx="2845599" cy="4226631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776" y="572734"/>
            <a:ext cx="2772447" cy="41534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" y="4823460"/>
            <a:ext cx="42976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MediaPipe 骨架 · 可现场演示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0624"/>
            <a:ext cx="457200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420624"/>
            <a:ext cx="91440" cy="47228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832104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CareCompanion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271016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93C5FD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618488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E2E8F0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感知 · 决策 · 执行  一体化闭环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0600" y="2148840"/>
            <a:ext cx="3977639" cy="1325880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2286000"/>
            <a:ext cx="3657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团队：从容应队（中山大学）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队员：刘小凡（队长）· 白冉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指导教师：彭键清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作品编号：CRAIC20264ZEFT1DF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4686300"/>
            <a:ext cx="4023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94A3B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基于大语言模型的智能养老陪伴机器人仿真平台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答辩提纲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一、为什么做：老龄化与跌倒风险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二、怎么做：模型、架构与算法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三、做出来什么：系统演示与测试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四、有什么特色：创新点与后续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62475" y="1850859"/>
            <a:ext cx="4413808" cy="1889837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utlin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051" y="1887435"/>
            <a:ext cx="4340656" cy="181668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94860"/>
            <a:ext cx="46177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答辩结构时间轴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参赛信息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赛项：创新赛 · 机器人创新赛道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作品：智能养老陪伴机器人仿真平台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（基于大语言模型）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特色：理论清晰 · 系统可演示 · 指标可复现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069080" y="996696"/>
          <a:ext cx="4800600" cy="3854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48"/>
                <a:gridCol w="3959352"/>
              </a:tblGrid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7:rFonts xmlns:ns7="http://schemas.openxmlformats.org/wordprocessingml/2006/main" ns7:eastAsia="微软雅黑" ns7:ascii="微软雅黑" ns7:hAnsi="微软雅黑"/>
                        </a:rPr>
                        <a:t>团队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8:rFonts xmlns:ns8="http://schemas.openxmlformats.org/wordprocessingml/2006/main" ns8:eastAsia="微软雅黑" ns8:ascii="微软雅黑" ns8:hAnsi="微软雅黑"/>
                        </a:rPr>
                        <a:t>从容应队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9:rFonts xmlns:ns9="http://schemas.openxmlformats.org/wordprocessingml/2006/main" ns9:eastAsia="微软雅黑" ns9:ascii="微软雅黑" ns9:hAnsi="微软雅黑"/>
                        </a:rPr>
                        <a:t>学校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0:rFonts xmlns:ns10="http://schemas.openxmlformats.org/wordprocessingml/2006/main" ns10:eastAsia="微软雅黑" ns10:ascii="微软雅黑" ns10:hAnsi="微软雅黑"/>
                        </a:rPr>
                        <a:t>中山大学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1:rFonts xmlns:ns11="http://schemas.openxmlformats.org/wordprocessingml/2006/main" ns11:eastAsia="微软雅黑" ns11:ascii="微软雅黑" ns11:hAnsi="微软雅黑"/>
                        </a:rPr>
                        <a:t>队长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2:rFonts xmlns:ns12="http://schemas.openxmlformats.org/wordprocessingml/2006/main" ns12:eastAsia="微软雅黑" ns12:ascii="微软雅黑" ns12:hAnsi="微软雅黑"/>
                        </a:rPr>
                        <a:t>刘小凡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3:rFonts xmlns:ns13="http://schemas.openxmlformats.org/wordprocessingml/2006/main" ns13:eastAsia="微软雅黑" ns13:ascii="微软雅黑" ns13:hAnsi="微软雅黑"/>
                        </a:rPr>
                        <a:t>队员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4:rFonts xmlns:ns14="http://schemas.openxmlformats.org/wordprocessingml/2006/main" ns14:eastAsia="微软雅黑" ns14:ascii="微软雅黑" ns14:hAnsi="微软雅黑"/>
                        </a:rPr>
                        <a:t>白冉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5:rFonts xmlns:ns15="http://schemas.openxmlformats.org/wordprocessingml/2006/main" ns15:eastAsia="微软雅黑" ns15:ascii="微软雅黑" ns15:hAnsi="微软雅黑"/>
                        </a:rPr>
                        <a:t>指导教师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6:rFonts xmlns:ns16="http://schemas.openxmlformats.org/wordprocessingml/2006/main" ns16:eastAsia="微软雅黑" ns16:ascii="微软雅黑" ns16:hAnsi="微软雅黑"/>
                        </a:rPr>
                        <a:t>彭键清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7:rFonts xmlns:ns17="http://schemas.openxmlformats.org/wordprocessingml/2006/main" ns17:eastAsia="微软雅黑" ns17:ascii="微软雅黑" ns17:hAnsi="微软雅黑"/>
                        </a:rPr>
                        <a:t>团队编号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8:rFonts xmlns:ns18="http://schemas.openxmlformats.org/wordprocessingml/2006/main" ns18:eastAsia="微软雅黑" ns18:ascii="微软雅黑" ns18:hAnsi="微软雅黑"/>
                        </a:rPr>
                        <a:t>CRAIC2026-TEAM-8FJQKLMI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602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9:rFonts xmlns:ns19="http://schemas.openxmlformats.org/wordprocessingml/2006/main" ns19:eastAsia="微软雅黑" ns19:ascii="微软雅黑" ns19:hAnsi="微软雅黑"/>
                        </a:rPr>
                        <a:t>作品编号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20:rFonts xmlns:ns20="http://schemas.openxmlformats.org/wordprocessingml/2006/main" ns20:eastAsia="微软雅黑" ns20:ascii="微软雅黑" ns20:hAnsi="微软雅黑"/>
                        </a:rPr>
                        <a:t>CRAIC20264ZEFT1DF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第一部分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背景 · 需求 · 定位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老龄化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方案对比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项目目标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94986" y="1472215"/>
            <a:ext cx="4097426" cy="2866581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ging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562" y="1508791"/>
            <a:ext cx="4024274" cy="279342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社会背景：老龄化与跌倒风险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独居老人变多，跌倒了没人及时发现很常见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监测设备多，但很少把告警和机器人动作连起来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政策在推智慧养老，我们按居家场景做验证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用仿真平台先把流程跑通，再对接人形机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难点：发现慢，闭环弱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62475" y="1252679"/>
            <a:ext cx="4413808" cy="3086196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ging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051" y="1289255"/>
            <a:ext cx="4340656" cy="30130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94860"/>
            <a:ext cx="46177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Fig. 老龄化趋势（公开数据示意）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和常见方案比一比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我们不是把音箱、摄像头、手环简单拼在一起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用统一调度把感知、决策、执行串成一条链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风险结果能解释，方便答辩和后期调参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仓库里带 Web 和脚本，老师可以现场点着看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62475" y="1548312"/>
            <a:ext cx="4413808" cy="2494931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mpare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051" y="1584888"/>
            <a:ext cx="4340656" cy="242177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94860"/>
            <a:ext cx="46177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方案对比表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项目要做什么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CareCompanion：养老场景的人形陪伴软件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核心是 CareOrchestrator，负责模块调度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跌倒要能检、要能触发紧急流程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对话和机器人动作要能联动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目标在系统里都能点到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76308" y="1119637"/>
            <a:ext cx="3986142" cy="3352281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chitecture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2884" y="1156213"/>
            <a:ext cx="3912990" cy="327912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94860"/>
            <a:ext cx="46177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Fig.1 系统分层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第二部分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模型 · 架构 · 算法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四层架构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状态机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融合与检测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94986" y="1288332"/>
            <a:ext cx="4097426" cy="3234347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562" y="1324908"/>
            <a:ext cx="4024274" cy="31611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系统怎么分层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最上面是 Web/GUI，老师和评委直接看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中间做风险、对话和任务规划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下面接跌倒、情绪、视觉等感知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最底层通过适配器连仿真或 ROS2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76308" y="1119637"/>
            <a:ext cx="3986142" cy="3352281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rchitecture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2884" y="1156213"/>
            <a:ext cx="3912990" cy="32791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94860"/>
            <a:ext cx="46177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四层架构与调度核心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状态机怎么切换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平时监测，对话时走倾诉流程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风险升高先告警，确认跌倒进紧急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紧急状态可以打断正在进行的对话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每次循环都会记下分数、回复和动作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5600" y="1119637"/>
            <a:ext cx="4247558" cy="3352281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2176" y="1156213"/>
            <a:ext cx="4174406" cy="32791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94860"/>
            <a:ext cx="46177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Fig.2 有限状态机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风险分数怎么算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跌倒、情绪、健康三路各占一部分权重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不是端到端黑盒，会给出原因列表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阈值写在配置里，不同场景能改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方便和医生、护理人员沟通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62475" y="1148632"/>
            <a:ext cx="4413808" cy="3294291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isk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051" y="1185208"/>
            <a:ext cx="4340656" cy="32211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94860"/>
            <a:ext cx="46177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可解释加权融合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跌倒怎么判断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用 MediaPipe 提骨架，算宽高比和速度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快速跌倒和慢速躺倒两套规则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在 6 组合成场景上 F1 到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支持摄像头，也支持上传照片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91515" y="1119637"/>
            <a:ext cx="1955729" cy="3352281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all_decis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091" y="1156213"/>
            <a:ext cx="1882577" cy="32791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94860"/>
            <a:ext cx="46177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Fig.3 规则判定树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对话模块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先识别老人话里的情绪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再由 DialogueManager 生成回复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默认用 Mock，现场不依赖外网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需要时可以换成 LLM 接口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78977" y="1119637"/>
            <a:ext cx="3580805" cy="3352281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ialogu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5553" y="1156213"/>
            <a:ext cx="3507653" cy="32791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94860"/>
            <a:ext cx="46177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Fig.4 UML 时序图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数据怎么往下走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一帧感知数据进来先提特征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融合后交给状态机判断阶段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规划器决定机器人做什么动作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Web 页面上能看到整条链路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62475" y="1373543"/>
            <a:ext cx="4413808" cy="2844469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ipeline_swim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051" y="1410119"/>
            <a:ext cx="4340656" cy="277131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94860"/>
            <a:ext cx="46177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Fig.5 泳道数据流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确认跌倒之后怎么办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先播告警，再语音安抚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然后通知家属，最后做举手等动作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EmergencyNotifier 里留了记录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脚本测过端到端触发率 100%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紧急流程在演示里能完整走通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62475" y="1302319"/>
            <a:ext cx="4413808" cy="2986916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mergency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051" y="1338895"/>
            <a:ext cx="4340656" cy="29137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94860"/>
            <a:ext cx="46177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Fig.6 紧急响应时序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第三部分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实现 · 测试 · 演示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Web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视觉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94986" y="1444247"/>
            <a:ext cx="4097426" cy="2922516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va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562" y="1480823"/>
            <a:ext cx="4024274" cy="28493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Web 端长什么样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后端 FastAPI，前端浏览器打开即可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一页里能看到风险、对话和指令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可以上传照片做骨架分析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内置剧本：日常—倾诉—跌倒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62475" y="1627409"/>
            <a:ext cx="4413808" cy="2336736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051" y="1663985"/>
            <a:ext cx="4340656" cy="22635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94860"/>
            <a:ext cx="46177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主界面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骨架分析（上传照片）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8595360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3327" y="1192240"/>
            <a:ext cx="2177344" cy="32619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613148"/>
            <a:ext cx="8412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全身照 → 骨架叠加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风险与情绪输入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4233672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15" y="1191691"/>
            <a:ext cx="2725081" cy="32447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472" y="4594860"/>
            <a:ext cx="408736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风险面板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36007" y="1033272"/>
            <a:ext cx="4233672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emotion_in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5483" y="1191691"/>
            <a:ext cx="3814721" cy="32447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09159" y="4594860"/>
            <a:ext cx="408736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情绪输入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紧急过程记录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4233672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93" y="1780369"/>
            <a:ext cx="3842125" cy="206739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472" y="4594860"/>
            <a:ext cx="408736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对话日志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36007" y="1033272"/>
            <a:ext cx="4233672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robot_comma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1781" y="2380701"/>
            <a:ext cx="3842125" cy="86672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09159" y="4594860"/>
            <a:ext cx="408736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机器人指令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紧急时感知页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8595360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843" y="1192240"/>
            <a:ext cx="6302312" cy="32619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613148"/>
            <a:ext cx="8412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状态切到紧急后的感知区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测试结果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跌倒检测 P/R/F1：合成 6 场景均为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紧急链路脚本跑通率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单帧决策在 CPU 上 &lt; 50ms（见右下图）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单元测试和无头演示都过了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数据：fall_eval_report.json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62475" y="1222513"/>
            <a:ext cx="4413808" cy="3146529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va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051" y="1259089"/>
            <a:ext cx="4340656" cy="307337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94860"/>
            <a:ext cx="46177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混淆矩阵 + 场景得分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性能与延迟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骨架提取约占时最多，仍满足实时要求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融合与规则判定开销较小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端到端在 CPU 上约 42ms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现场演示不依赖 GPU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62475" y="1128834"/>
            <a:ext cx="4413808" cy="3333886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atenc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051" y="1165410"/>
            <a:ext cx="4340656" cy="326073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94860"/>
            <a:ext cx="46177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单帧链路耗时（本机粗测）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开源与可复现性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42416"/>
            <a:ext cx="3611880" cy="679399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097280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GitHub 仓库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097280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43278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https://github.com/FBB123571/ElderCare-Humanoid-Platform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794967"/>
            <a:ext cx="3611880" cy="679399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849831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849831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从容应队（中山大学）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47518"/>
            <a:ext cx="3611880" cy="679399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2602382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本地演示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602382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bash scripts/run_web.sh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300069"/>
            <a:ext cx="3611880" cy="679399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3354933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演示录像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354933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10:rFonts xmlns:ns10="http://schemas.openxmlformats.org/wordprocessingml/2006/main" ns10:eastAsia="微软雅黑" ns10:ascii="微软雅黑" ns10:hAnsi="微软雅黑"/>
              </a:rPr>
              <a:t>docs/assets/demo_carecompanion.mp4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052620"/>
            <a:ext cx="3611880" cy="679399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79" y="4107484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11:rFonts xmlns:ns11="http://schemas.openxmlformats.org/wordprocessingml/2006/main" ns11:eastAsia="微软雅黑" ns11:ascii="微软雅黑" ns11:hAnsi="微软雅黑"/>
              </a:rPr>
              <a:t>软著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107484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12:rFonts xmlns:ns12="http://schemas.openxmlformats.org/wordprocessingml/2006/main" ns12:eastAsia="微软雅黑" ns12:ascii="微软雅黑" ns12:hAnsi="微软雅黑"/>
              </a:rPr>
              <a:t>申请中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6582" y="1242486"/>
            <a:ext cx="1236634" cy="123663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160520" y="2587751"/>
            <a:ext cx="150876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扫码访问仓库</a:t>
            </a:r>
          </a:p>
        </p:txBody>
      </p:sp>
      <p:pic>
        <p:nvPicPr>
          <p:cNvPr id="26" name="Picture 25" descr="repro_check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555" y="1191097"/>
            <a:ext cx="2712136" cy="320936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779007" y="4594860"/>
            <a:ext cx="2999232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4:rFonts xmlns:ns14="http://schemas.openxmlformats.org/wordprocessingml/2006/main" ns14:eastAsia="微软雅黑" ns14:ascii="微软雅黑" ns14:hAnsi="微软雅黑"/>
              </a:rPr>
              <a:t>可复现性检查项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第四部分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创新 · 计划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五个方向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真机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软著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94986" y="1411241"/>
            <a:ext cx="4097426" cy="2988529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oadmap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562" y="1447817"/>
            <a:ext cx="4024274" cy="291537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创新点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多路信号融合，结果能解释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33372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紧急态在状态机里优先级最高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560320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视觉用 MediaPipe，不是纯参数滑块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287268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代码和评测脚本都开源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014216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场景对准居家养老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86784" y="1119637"/>
            <a:ext cx="3365191" cy="3352281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360" y="1156213"/>
            <a:ext cx="3292039" cy="327912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60520" y="4594860"/>
            <a:ext cx="46177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创新维度雷达图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后面打算做什么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对接 Unitree 等人形真机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33372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补充公开跌倒数据集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560320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做多房间、弱光等复杂场景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287268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去养老院做访谈和试用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014216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软著和专利在准备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62475" y="1186911"/>
            <a:ext cx="4413808" cy="3217732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oadmap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051" y="1223487"/>
            <a:ext cx="4340656" cy="31445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60520" y="4594860"/>
            <a:ext cx="46177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里程碑甘特图（示意）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参考资料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813816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[1] Google MediaPipe Pose 技术文档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[2] Unitree / ROS2 开发文档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[3] 「十四五」国家老龄事业发展规划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[4] 项目技术报告 docs/TECHNICAL_REPORT.md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[5] 源码 https://github.com/FBB123571/ElderCare-Humanoid-Platform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扫码查看代码与演示视频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GitHub 完整源码与文档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在线 Web 演示（现场可复现）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演示录像已附仓库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欢迎评委扫码查阅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2302" y="1288206"/>
            <a:ext cx="1236634" cy="123663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20" y="2633472"/>
            <a:ext cx="16002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仓库二维码</a:t>
            </a:r>
          </a:p>
        </p:txBody>
      </p:sp>
      <p:pic>
        <p:nvPicPr>
          <p:cNvPr id="17" name="Picture 16" descr="ppt_mediapipe_p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3219" y="1191097"/>
            <a:ext cx="2142248" cy="32093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448" y="4594860"/>
            <a:ext cx="2907791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演示界面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43484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305" y="1540324"/>
            <a:ext cx="4204228" cy="222744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81" y="1576900"/>
            <a:ext cx="4131076" cy="21542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" y="4850892"/>
            <a:ext cx="4215383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系统仪表盘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420624"/>
            <a:ext cx="470916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40"/>
            <a:ext cx="43434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敬请批评指正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4343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从容应队 · 中山大学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刘小凡 · 白冉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指导教师 彭键清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97879" y="3026664"/>
            <a:ext cx="1234440" cy="116128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455" y="3063240"/>
            <a:ext cx="1161288" cy="11612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06440" y="4279392"/>
            <a:ext cx="14173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