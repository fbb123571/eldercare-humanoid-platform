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130" y="527745"/>
            <a:ext cx="2911739" cy="4499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850" y="573465"/>
            <a:ext cx="2820299" cy="4225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53498"/>
            <a:ext cx="4297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832104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271016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618488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2148840"/>
            <a:ext cx="3977639" cy="1325880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228600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4686300"/>
            <a:ext cx="4023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基于大语言模型的智能养老陪伴机器人仿真平台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答辩提纲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一、为什么做：老龄化与跌倒风险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二、怎么做：模型、架构与算法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三、做出来什么：系统演示与测试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四、有什么特色：创新点与后续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8473" y="1005840"/>
            <a:ext cx="8401812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utlin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193" y="1051560"/>
            <a:ext cx="8310372" cy="35615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答辩结构时间轴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赛项：创新赛 · 机器人创新赛道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作品：智能养老陪伴机器人仿真平台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（基于大语言模型）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特色：理论清晰 · 系统可演示 · 指标可复现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69080" y="996696"/>
          <a:ext cx="4800600" cy="3854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3959352"/>
              </a:tblGrid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7:rFonts xmlns:ns7="http://schemas.openxmlformats.org/wordprocessingml/2006/main" ns7:eastAsia="微软雅黑" ns7:ascii="微软雅黑" ns7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8:rFonts xmlns:ns8="http://schemas.openxmlformats.org/wordprocessingml/2006/main" ns8:eastAsia="微软雅黑" ns8:ascii="微软雅黑" ns8:hAnsi="微软雅黑"/>
                        </a:rPr>
                        <a:t>从容应队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9:rFonts xmlns:ns9="http://schemas.openxmlformats.org/wordprocessingml/2006/main" ns9:eastAsia="微软雅黑" ns9:ascii="微软雅黑" ns9:hAnsi="微软雅黑"/>
                        </a:rPr>
                        <a:t>学校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中山大学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队长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刘小凡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3:rFonts xmlns:ns13="http://schemas.openxmlformats.org/wordprocessingml/2006/main" ns13:eastAsia="微软雅黑" ns13:ascii="微软雅黑" ns13:hAnsi="微软雅黑"/>
                        </a:rPr>
                        <a:t>队员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4:rFonts xmlns:ns14="http://schemas.openxmlformats.org/wordprocessingml/2006/main" ns14:eastAsia="微软雅黑" ns14:ascii="微软雅黑" ns14:hAnsi="微软雅黑"/>
                        </a:rPr>
                        <a:t>白冉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5:rFonts xmlns:ns15="http://schemas.openxmlformats.org/wordprocessingml/2006/main" ns15:eastAsia="微软雅黑" ns15:ascii="微软雅黑" ns15:hAnsi="微软雅黑"/>
                        </a:rPr>
                        <a:t>指导教师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6:rFonts xmlns:ns16="http://schemas.openxmlformats.org/wordprocessingml/2006/main" ns16:eastAsia="微软雅黑" ns16:ascii="微软雅黑" ns16:hAnsi="微软雅黑"/>
                        </a:rPr>
                        <a:t>彭键清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7:rFonts xmlns:ns17="http://schemas.openxmlformats.org/wordprocessingml/2006/main" ns17:eastAsia="微软雅黑" ns17:ascii="微软雅黑" ns17:hAnsi="微软雅黑"/>
                        </a:rPr>
                        <a:t>团队编号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8:rFonts xmlns:ns18="http://schemas.openxmlformats.org/wordprocessingml/2006/main" ns18:eastAsia="微软雅黑" ns18:ascii="微软雅黑" ns18:hAnsi="微软雅黑"/>
                        </a:rPr>
                        <a:t>CRAIC2026-TEAM-8FJQKLMI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60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9:rFonts xmlns:ns19="http://schemas.openxmlformats.org/wordprocessingml/2006/main" ns19:eastAsia="微软雅黑" ns19:ascii="微软雅黑" ns19:hAnsi="微软雅黑"/>
                        </a:rPr>
                        <a:t>作品编号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20:rFonts xmlns:ns20="http://schemas.openxmlformats.org/wordprocessingml/2006/main" ns20:eastAsia="微软雅黑" ns20:ascii="微软雅黑" ns20:hAnsi="微软雅黑"/>
                        </a:rPr>
                        <a:t>CRAIC20264ZEFT1DF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背景 · 需求 · 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老龄化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方案对比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项目目标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ging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5300" y="1107292"/>
            <a:ext cx="5176798" cy="36695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独居老人变多，跌倒了没人及时发现很常见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6529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监测设备多，但很少把告警和机器人动作连起来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8346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政策在推智慧养老，我们按居家场景做验证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90163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用仿真平台先把流程跑通，再对接人形机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难点：发现慢，闭环弱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11433" y="1005840"/>
            <a:ext cx="5115892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ging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7153" y="1051560"/>
            <a:ext cx="5024452" cy="35615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 老龄化趋势（公开数据示意）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和常见方案比一比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我们不是把音箱、摄像头、手环简单拼在一起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用统一调度把感知、决策、执行串成一条链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风险结果能解释，方便答辩和后期调参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仓库里带 Web 和脚本，老师可以现场点着看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59" y="904006"/>
            <a:ext cx="4892040" cy="4039575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mpar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79" y="949726"/>
            <a:ext cx="4800600" cy="37652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769845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方案对比表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项目要做什么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CareCompanion：养老场景的人形陪伴软件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6529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核心是 CareOrchestrator，负责模块调度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8346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跌倒要能检、要能触发紧急流程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90163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对话和机器人动作要能联动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目标在系统里都能点到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50822" y="1005840"/>
            <a:ext cx="4237115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6542" y="1051560"/>
            <a:ext cx="4145675" cy="35615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Fig.1 系统分层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模型 · 架构 · 算法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四层架构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状态机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融合与检测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935" y="1107292"/>
            <a:ext cx="4559529" cy="36695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系统怎么分层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最上面是 Web/GUI，老师和评委直接看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中间做风险、对话和任务规划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下面接跌倒、情绪、视觉等感知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最底层通过适配器连仿真或 ROS2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50822" y="1005840"/>
            <a:ext cx="4237115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6542" y="1051560"/>
            <a:ext cx="4145675" cy="35615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四层架构与调度核心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状态机怎么切换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平时监测，对话时走倾诉流程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风险升高先告警，确认跌倒进紧急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紧急状态可以打断正在进行的对话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每次循环都会记下分数、回复和动作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10985" y="1005840"/>
            <a:ext cx="4516789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6705" y="1051560"/>
            <a:ext cx="4425349" cy="35615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Fig.2 有限状态机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风险分数怎么算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跌倒、情绪、健康三路各占一部分权重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不是端到端黑盒，会给出原因列表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阈值写在配置里，不同场景能改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方便和医生、护理人员沟通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963849"/>
            <a:ext cx="4892040" cy="391988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009569"/>
            <a:ext cx="4800600" cy="36455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71000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可解释加权融合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跌倒怎么判断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用 MediaPipe 提骨架，算宽高比和速度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快速跌倒和慢速躺倒两套规则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在 6 组合成场景上 F1 到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支持摄像头，也支持上传照片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25560" y="1005840"/>
            <a:ext cx="2087639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ll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1280" y="1051560"/>
            <a:ext cx="1996199" cy="35615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Fig.3 规则判定树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先识别老人话里的情绪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再由 DialogueManager 生成回复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默认用 Mock，现场不依赖外网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需要时可以换成 LLM 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63244" y="1005840"/>
            <a:ext cx="3812270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logu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964" y="1051560"/>
            <a:ext cx="3720830" cy="35615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Fig.4 UML 时序图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数据怎么往下走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一帧感知数据进来先提特征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融合后交给状态机判断阶段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规划器决定机器人做什么动作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Web 页面上能看到整条链路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1218797"/>
            <a:ext cx="4892040" cy="3409992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ipeline_swim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264517"/>
            <a:ext cx="4800600" cy="3135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455054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Fig.5 泳道数据流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确认跌倒之后怎么办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先播告警，再语音安抚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6529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然后通知家属，最后做举手等动作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8346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EmergencyNotifier 里留了记录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90163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脚本测过端到端触发率 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紧急流程在演示里能完整走通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24921" y="1005839"/>
            <a:ext cx="5288917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mergency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641" y="1051560"/>
            <a:ext cx="5197477" cy="35615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Fig.6 紧急响应时序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实现 · 测试 · 演示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Web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视觉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v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124" y="1107292"/>
            <a:ext cx="5065151" cy="366957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端长什么样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后端 FastAPI，前端浏览器打开即可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一页里能看到风险、对话和指令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可以上传照片做骨架分析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内置剧本：日常—倾诉—跌倒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1534915"/>
            <a:ext cx="4892040" cy="2777757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580635"/>
            <a:ext cx="4800600" cy="25034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138936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主界面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骨架分析（上传照片）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52538" y="1051079"/>
            <a:ext cx="2438922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258" y="1096799"/>
            <a:ext cx="2347482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全身照 → 骨架叠加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风险与情绪输入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9881" y="996696"/>
            <a:ext cx="3097976" cy="3854196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601" y="1042416"/>
            <a:ext cx="3006536" cy="35798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77156"/>
            <a:ext cx="42291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风险面板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05051" y="996696"/>
            <a:ext cx="4300157" cy="3854196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emotion_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0771" y="1042416"/>
            <a:ext cx="4208717" cy="35798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40580" y="4677156"/>
            <a:ext cx="42291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情绪输入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紧急过程记录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648824"/>
            <a:ext cx="4320540" cy="2549939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94544"/>
            <a:ext cx="4229100" cy="22756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025027"/>
            <a:ext cx="42291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对话日志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4860" y="2309621"/>
            <a:ext cx="4320540" cy="1228345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robot_comm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0580" y="2355341"/>
            <a:ext cx="4229100" cy="9540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40580" y="3364230"/>
            <a:ext cx="42291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机器人指令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紧急时感知页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28891" y="1051079"/>
            <a:ext cx="6886217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611" y="1096799"/>
            <a:ext cx="6794777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状态切到紧急后的感知区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测试结果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跌倒检测 P/R/F1：合成 6 场景均为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6529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紧急链路脚本跑通率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8346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单帧决策在 CPU 上 &lt; 50ms（见右下图）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90163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单元测试和无头演示都过了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数据：fall_eval_report.json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5614" y="1005840"/>
            <a:ext cx="5007531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v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1334" y="1051560"/>
            <a:ext cx="4916091" cy="35615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混淆矩阵 + 场景得分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性能与延迟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骨架提取约占时最多，仍满足实时要求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融合与规则判定开销较小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端到端在 CPU 上约 42ms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现场演示不依赖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943999"/>
            <a:ext cx="4892040" cy="3959589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atenc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989719"/>
            <a:ext cx="4800600" cy="3685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72985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单帧链路耗时（本机粗测）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42416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097280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GitHub 仓库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097280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43278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https://github.com/FBB123571/ElderCare-Humanoid-Platform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794967"/>
            <a:ext cx="3611880" cy="679399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849831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849831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从容应队（中山大学）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47518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2602382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本地演示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602382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bash scripts/run_web.sh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300069"/>
            <a:ext cx="3611880" cy="679399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354933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演示录像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354933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docs/assets/demo_carecompanion.mp4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052620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4107484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软著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107484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申请中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4528" y="1024128"/>
            <a:ext cx="160020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1069848"/>
            <a:ext cx="1508760" cy="1508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78808" y="2633472"/>
            <a:ext cx="1691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扫码访问仓库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87814" y="1059378"/>
            <a:ext cx="2946210" cy="3728831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epro_check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3534" y="1105098"/>
            <a:ext cx="2854770" cy="345451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943600" y="4614473"/>
            <a:ext cx="2834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4:rFonts xmlns:ns14="http://schemas.openxmlformats.org/wordprocessingml/2006/main" ns14:eastAsia="微软雅黑" ns14:ascii="微软雅黑" ns14:hAnsi="微软雅黑"/>
              </a:rPr>
              <a:t>可复现性检查项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 · 计划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五个方向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真机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oadmap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4586" y="1107292"/>
            <a:ext cx="4958226" cy="366957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多路信号融合，结果能解释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4800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紧急态在状态机里优先级最高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7129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视觉用 MediaPipe，不是纯参数滑块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9458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代码和评测脚本都开源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1787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场景对准居家养老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393318"/>
            <a:ext cx="4892040" cy="5060951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439038"/>
            <a:ext cx="4800600" cy="478663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069080" y="5280533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创新维度雷达图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后面打算做什么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4800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补充公开跌倒数据集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7129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做多房间、弱光等复杂场景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9458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去养老院做访谈和试用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1787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软著和专利在准备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17503" y="1005839"/>
            <a:ext cx="4903752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admap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223" y="1051560"/>
            <a:ext cx="4812312" cy="35615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里程碑甘特图（示意）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81381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[1] Google MediaPipe Pose 技术文档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[2] Unitree / ROS2 开发文档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[3] 「十四五」国家老龄事业发展规划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[4] 项目技术报告 docs/TECHNICAL_REPORT.md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[5] 源码 https://github.com/FBB123571/ElderCare-Humanoid-Platform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133856"/>
            <a:ext cx="1828800" cy="201168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1179576"/>
            <a:ext cx="1737360" cy="1737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2971800"/>
            <a:ext cx="192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88094" y="1088136"/>
            <a:ext cx="2419971" cy="3762756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pt_mediapipe_p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814" y="1133856"/>
            <a:ext cx="2328531" cy="34884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17920" y="4677156"/>
            <a:ext cx="2560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演示界面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43484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161" y="1567756"/>
            <a:ext cx="4222516" cy="2428611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81" y="1613476"/>
            <a:ext cx="4131076" cy="21542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" y="3822631"/>
            <a:ext cx="421538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系统仪表盘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420624"/>
            <a:ext cx="470916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40"/>
            <a:ext cx="43434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4343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刘小凡 · 白冉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59" y="3017520"/>
            <a:ext cx="1325880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79" y="3063240"/>
            <a:ext cx="1234440" cy="1234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06440" y="4352544"/>
            <a:ext cx="1417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