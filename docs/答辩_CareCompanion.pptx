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1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8590" y="535975"/>
            <a:ext cx="3174819" cy="420870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6" y="572551"/>
            <a:ext cx="3101667" cy="41355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05172"/>
            <a:ext cx="42976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8046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2618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1591055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73168" y="2176272"/>
            <a:ext cx="4023360" cy="138988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4" y="2286000"/>
            <a:ext cx="3749039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621024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基于大语言模型的居家养老陪伴仿真平台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833609"/>
            <a:ext cx="4321454" cy="185118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utlin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870185"/>
            <a:ext cx="4248302" cy="1778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答辩结构时间轴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8813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4048" y="1197864"/>
            <a:ext cx="256032" cy="25603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22529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21615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赛项：创新赛 · 机器人创新赛道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3677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4048" y="174650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77393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6479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作品：智能养老陪伴机器人仿真平台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8541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229514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32257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31343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特色：理论清晰 · 系统可演示 · 指标可复现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996696"/>
            <a:ext cx="4800600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306" y="1092708"/>
            <a:ext cx="2104147" cy="10972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60520" y="2267712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Web 控制台预览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142232" y="2569464"/>
          <a:ext cx="4654296" cy="2208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4672"/>
                <a:gridCol w="3849624"/>
              </a:tblGrid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从容应队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中山大学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队长 / 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刘小凡 / 白冉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彭键清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CRAIC2026-TEAM-8FJQKLMI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21:rFonts xmlns:ns21="http://schemas.openxmlformats.org/wordprocessingml/2006/main" ns21:eastAsia="微软雅黑" ns21:ascii="微软雅黑" ns21:hAnsi="微软雅黑"/>
                        </a:rPr>
                        <a:t>CRAIC20264ZEFT1DF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3757" y="1088341"/>
            <a:ext cx="4259885" cy="363432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333" y="1124917"/>
            <a:ext cx="4186733" cy="35611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222555"/>
            <a:ext cx="4321454" cy="307329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9131"/>
            <a:ext cx="4248302" cy="30001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 老龄化趋势（公开数据示意）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7499"/>
            <a:ext cx="4321454" cy="244340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r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4075"/>
            <a:ext cx="4248302" cy="23702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方案对比表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0636" y="1151595"/>
            <a:ext cx="4257487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oject_goals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7212" y="1188171"/>
            <a:ext cx="4184335" cy="31420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架构与状态机总览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231763"/>
            <a:ext cx="4481382" cy="334748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268339"/>
            <a:ext cx="4408230" cy="32743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21190"/>
            <a:ext cx="4321454" cy="307602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7766"/>
            <a:ext cx="4248302" cy="30028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四层架构详图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168319"/>
            <a:ext cx="4321454" cy="318176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04895"/>
            <a:ext cx="4248302" cy="310861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有限状态机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7727" y="1151595"/>
            <a:ext cx="4303304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303" y="1188171"/>
            <a:ext cx="4230152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可解释加权融合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75239" y="1151595"/>
            <a:ext cx="358828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l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815" y="1188171"/>
            <a:ext cx="351512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规则判定树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39971" y="1151595"/>
            <a:ext cx="3858816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alo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547" y="1188171"/>
            <a:ext cx="3785664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对话时序图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9215"/>
            <a:ext cx="4321454" cy="243997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ipeline_swim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5791"/>
            <a:ext cx="4248302" cy="236682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单帧泳道数据流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01375"/>
            <a:ext cx="4321454" cy="291565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mergency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37951"/>
            <a:ext cx="4248302" cy="2842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紧急响应时序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719518"/>
            <a:ext cx="4481382" cy="23719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756094"/>
            <a:ext cx="4408230" cy="22988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614914"/>
            <a:ext cx="4321454" cy="22885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651490"/>
            <a:ext cx="4248302" cy="221542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MediaPipe 提取 33 个骨架关键点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由肩-髋-踝计算宽高比 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竖直速度突增触发跌倒规则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上传照片与摄像头共用同一逻辑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62" y="1171277"/>
            <a:ext cx="2258442" cy="30112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15383" y="4283964"/>
            <a:ext cx="25146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MediaPipe 骨架叠加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76288" y="1234440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3" y="132588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① 关键点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鼻、肩、髋、踝等构成人体构型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76288" y="2130552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4303" y="2221992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② 宽高比 R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躯干投影宽高比异常 → 姿态变化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76288" y="3026664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3" y="3118104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③ 竖直速度 vy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关键点整体下移超阈 → 判定跌倒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575" y="1088136"/>
            <a:ext cx="2868304" cy="34152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4558284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665" y="1088136"/>
            <a:ext cx="4015213" cy="34152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72584" y="4558284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53" y="1701217"/>
            <a:ext cx="4068348" cy="21891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3945202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097" y="2336896"/>
            <a:ext cx="4068348" cy="9177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72584" y="3309523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14984"/>
            <a:ext cx="8595360" cy="38176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629" y="1165905"/>
            <a:ext cx="6368740" cy="329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622292"/>
            <a:ext cx="84124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演示录像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全流程演示录像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监测 → 老人倾诉 → 模拟跌倒 → 紧急流程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仓库内可离线播放，不依赖外网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与现场 run_web.sh 操作一致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右栏可全屏播放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demo_carecompani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60520" y="1106424"/>
            <a:ext cx="4617720" cy="33969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4539996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demo_carecompanion.mp4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演示录像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人形仿真行走（Isaac Lab · Unitree G1）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Isaac Lab 平地速度跟踪预训练策略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固定前进 0.8 m/s，世界坐标侧拍全身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录屏段位移约 6 m，关节持续摆动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说明仿真层已对接，可扩展 ROS2 真机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demo_isaac_g1_locomoti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60520" y="1106424"/>
            <a:ext cx="4617720" cy="33969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4539996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demo_isaac_g1_locomotion.mp4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50ms（见右下图）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数据：fall_eval_report.json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28651"/>
            <a:ext cx="4321454" cy="2861100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65227"/>
            <a:ext cx="4248302" cy="27879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P/R/F1 均为 100%（见左栏）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性能与延迟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骨架提取约占时最多，仍满足实时要求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融合与规则判定开销较小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端到端在 CPU 上约 42ms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现场演示不依赖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1464" y="1151595"/>
            <a:ext cx="425583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t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8040" y="1188171"/>
            <a:ext cx="418267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单帧链路耗时（本机粗测）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996696"/>
          <a:ext cx="361188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2743200"/>
              </a:tblGrid>
              <a:tr h="64236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3:rFonts xmlns:ns3="http://schemas.openxmlformats.org/wordprocessingml/2006/main" ns3:eastAsia="微软雅黑" ns3:ascii="微软雅黑" ns3:hAnsi="微软雅黑"/>
                        </a:rPr>
                        <a:t>GitHub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800" b="0">
                          <a:solidFill>
                            <a:srgbClr val="143278"/>
                          </a:solidFill>
                          <a:latin typeface="微软雅黑"/>
                          <ns4:rFonts xmlns:ns4="http://schemas.openxmlformats.org/wordprocessingml/2006/main" ns4:eastAsia="微软雅黑" ns4:ascii="微软雅黑" ns4:hAnsi="微软雅黑"/>
                        </a:rPr>
                        <a:t>https://github.com/FBB123571/ElderCare-Humanoid-Platform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64236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5:rFonts xmlns:ns5="http://schemas.openxmlformats.org/wordprocessingml/2006/main" ns5:eastAsia="微软雅黑" ns5:ascii="微软雅黑" ns5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6:rFonts xmlns:ns6="http://schemas.openxmlformats.org/wordprocessingml/2006/main" ns6:eastAsia="微软雅黑" ns6:ascii="微软雅黑" ns6:hAnsi="微软雅黑"/>
                        </a:rPr>
                        <a:t>从容应队（中山大学）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64236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本地演示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bash scripts/run_web.sh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64236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Web 演示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docs/assets/demo_carecompanion.mp4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64236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G1 仿真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8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docs/assets/demo_isaac_g1_locomotion.mp4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64236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软著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申请中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23944" y="996696"/>
            <a:ext cx="4690872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2" y="1106424"/>
            <a:ext cx="1362456" cy="1362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3944" y="2560320"/>
            <a:ext cx="4690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43278"/>
                </a:solidFill>
                <a:latin typeface="微软雅黑"/>
                <ns15:rFonts xmlns:ns15="http://schemas.openxmlformats.org/wordprocessingml/2006/main" ns15:eastAsia="微软雅黑" ns15:ascii="微软雅黑" ns15:hAnsi="微软雅黑"/>
              </a:rPr>
              <a:t>扫码访问 GitHub 仓库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871215"/>
            <a:ext cx="44165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6:rFonts xmlns:ns16="http://schemas.openxmlformats.org/wordprocessingml/2006/main" ns16:eastAsia="微软雅黑" ns16:ascii="微软雅黑" ns16:hAnsi="微软雅黑"/>
              </a:rPr>
              <a:t>✓  完整源码与 README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7:rFonts xmlns:ns17="http://schemas.openxmlformats.org/wordprocessingml/2006/main" ns17:eastAsia="微软雅黑" ns17:ascii="微软雅黑" ns17:hAnsi="微软雅黑"/>
              </a:rPr>
              <a:t>✓  一键启动脚本 run_web.sh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8:rFonts xmlns:ns18="http://schemas.openxmlformats.org/wordprocessingml/2006/main" ns18:eastAsia="微软雅黑" ns18:ascii="微软雅黑" ns18:hAnsi="微软雅黑"/>
              </a:rPr>
              <a:t>✓  fall_eval_report.json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9:rFonts xmlns:ns19="http://schemas.openxmlformats.org/wordprocessingml/2006/main" ns19:eastAsia="微软雅黑" ns19:ascii="微软雅黑" ns19:hAnsi="微软雅黑"/>
              </a:rPr>
              <a:t>✓  pytest 单元测试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B45309"/>
                </a:solidFill>
                <a:latin typeface="微软雅黑"/>
                <ns20:rFonts xmlns:ns20="http://schemas.openxmlformats.org/wordprocessingml/2006/main" ns20:eastAsia="微软雅黑" ns20:ascii="微软雅黑" ns20:hAnsi="微软雅黑"/>
              </a:rPr>
              <a:t>○  软著申请中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719518"/>
            <a:ext cx="4481382" cy="23719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756094"/>
            <a:ext cx="4408230" cy="229882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202355"/>
            <a:ext cx="4321454" cy="311369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38931"/>
            <a:ext cx="4248302" cy="30405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实验结果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186781"/>
            <a:ext cx="4321454" cy="314484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23357"/>
            <a:ext cx="4248302" cy="30716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里程碑甘特图（示意）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3804" y="1987814"/>
            <a:ext cx="1597639" cy="159763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3640317"/>
            <a:ext cx="166420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pic>
        <p:nvPicPr>
          <p:cNvPr id="17" name="Picture 16" descr="ppt_header_per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998" y="2070050"/>
            <a:ext cx="2768986" cy="14331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52744" y="3558081"/>
            <a:ext cx="2825495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Web 感知界面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9144000" cy="4485132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7680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664208"/>
            <a:ext cx="1645920" cy="411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43278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队长 刘小凡  ·  队员 白冉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80"/>
            <a:ext cx="6400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https://github.com/FBB123571/ElderCare-Humanoid-Platform</a:t>
            </a:r>
          </a:p>
        </p:txBody>
      </p:sp>
      <p:pic>
        <p:nvPicPr>
          <p:cNvPr id="11" name="Picture 1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5324" y="3090672"/>
            <a:ext cx="2390311" cy="12465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54580" y="4382902"/>
            <a:ext cx="29718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Web 控制台</a:t>
            </a:r>
          </a:p>
        </p:txBody>
      </p:sp>
      <p:pic>
        <p:nvPicPr>
          <p:cNvPr id="13" name="Picture 12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8988" y="3145536"/>
            <a:ext cx="1170432" cy="1170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8988" y="4361688"/>
            <a:ext cx="117043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GitHub 仓库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