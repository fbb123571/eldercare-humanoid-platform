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590" y="535975"/>
            <a:ext cx="3174819" cy="42087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6" y="572551"/>
            <a:ext cx="3101667" cy="4135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05172"/>
            <a:ext cx="42976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8046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261872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1591055"/>
            <a:ext cx="4160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2176272"/>
            <a:ext cx="4023360" cy="138988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2286000"/>
            <a:ext cx="3749039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21024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基于大语言模型的居家养老陪伴仿真平台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833609"/>
            <a:ext cx="4321454" cy="185118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870185"/>
            <a:ext cx="4248302" cy="1778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8813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1197864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22529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21615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3677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174650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7393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76479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作品：智能养老陪伴机器人仿真平台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85416"/>
            <a:ext cx="3611880" cy="49377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2295144"/>
            <a:ext cx="256032" cy="256032"/>
          </a:xfrm>
          <a:prstGeom prst="ellipse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322576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313432"/>
            <a:ext cx="308152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特色：理论清晰 · 系统可演示 ·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996696"/>
            <a:ext cx="4800600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306" y="1092708"/>
            <a:ext cx="2104147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2267712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Web 控制台预览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42232" y="2569464"/>
          <a:ext cx="4654296" cy="2208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4672"/>
                <a:gridCol w="3849624"/>
              </a:tblGrid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从容应队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中山大学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队长 / 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刘小凡 / 白冉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彭键清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CRAIC2026-TEAM-8FJQKLMI</a:t>
                      </a:r>
                    </a:p>
                  </a:txBody>
                  <a:tcPr>
                    <a:solidFill>
                      <a:srgbClr val="F1F7FF"/>
                    </a:solidFill>
                  </a:tcPr>
                </a:tc>
              </a:tr>
              <a:tr h="368046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21:rFonts xmlns:ns21="http://schemas.openxmlformats.org/wordprocessingml/2006/main" ns21:eastAsia="微软雅黑" ns21:ascii="微软雅黑" ns21:hAnsi="微软雅黑"/>
                        </a:rPr>
                        <a:t>CRAIC20264ZEFT1DF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3525" y="1249756"/>
            <a:ext cx="3880348" cy="3311499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101" y="1286332"/>
            <a:ext cx="3807196" cy="3238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223033"/>
            <a:ext cx="4321454" cy="307233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9609"/>
            <a:ext cx="4248302" cy="299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7499"/>
            <a:ext cx="4321454" cy="2443404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4075"/>
            <a:ext cx="4248302" cy="23702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6594" y="1151595"/>
            <a:ext cx="410557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roject_goals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70" y="1188171"/>
            <a:ext cx="4032419" cy="31420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架构与状态机总览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375751"/>
            <a:ext cx="4097426" cy="305950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412327"/>
            <a:ext cx="4024274" cy="29863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21190"/>
            <a:ext cx="4321454" cy="307602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57766"/>
            <a:ext cx="4248302" cy="30028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四层架构详图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245662"/>
            <a:ext cx="4321454" cy="302707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82238"/>
            <a:ext cx="4248302" cy="2953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756" y="1151595"/>
            <a:ext cx="4307247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32" y="1188171"/>
            <a:ext cx="4234095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69110" y="1151595"/>
            <a:ext cx="3000538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686" y="1188171"/>
            <a:ext cx="2927386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0380" y="1151595"/>
            <a:ext cx="3857998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56" y="1188171"/>
            <a:ext cx="3784846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对话时序图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539913"/>
            <a:ext cx="4321454" cy="243857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576489"/>
            <a:ext cx="4248302" cy="23654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02920"/>
            <a:ext cx="4321454" cy="2912562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39496"/>
            <a:ext cx="4248302" cy="28394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1819631"/>
            <a:ext cx="4097426" cy="2171748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1856207"/>
            <a:ext cx="4024274" cy="20985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8652" y="1614914"/>
            <a:ext cx="4321454" cy="2288575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651490"/>
            <a:ext cx="4248302" cy="221542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MediaPipe 提取 33 个骨架关键点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由肩-髋-踝计算宽高比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竖直速度突增触发跌倒规则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上传照片与摄像头共用同一逻辑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62" y="1171277"/>
            <a:ext cx="2258442" cy="3011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15383" y="4283964"/>
            <a:ext cx="25146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MediaPipe 骨架叠加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76288" y="1234440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4303" y="1325880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① 关键点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鼻、肩、髋、踝等构成人体构型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76288" y="2130552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4303" y="2221992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② 宽高比 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躯干投影宽高比异常 → 姿态变化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76288" y="3026664"/>
            <a:ext cx="1847088" cy="804672"/>
          </a:xfrm>
          <a:prstGeom prst="rect">
            <a:avLst/>
          </a:prstGeom>
          <a:solidFill>
            <a:srgbClr val="F1F7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3" y="3118104"/>
            <a:ext cx="1627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③ 竖直速度 vy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关键点整体下移超阈 → 判定跌倒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33" y="1191143"/>
            <a:ext cx="2710644" cy="3227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588" y="1191143"/>
            <a:ext cx="3794510" cy="3227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3" y="1771225"/>
            <a:ext cx="3842125" cy="20673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33272"/>
            <a:ext cx="4233672" cy="3781044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781" y="2371557"/>
            <a:ext cx="3842125" cy="866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09159" y="4576572"/>
            <a:ext cx="40873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14984"/>
            <a:ext cx="8595360" cy="3817620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29" y="1165905"/>
            <a:ext cx="6368740" cy="329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622292"/>
            <a:ext cx="84124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937385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8346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599307"/>
            <a:ext cx="3282696" cy="812673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39996"/>
            <a:ext cx="3429000" cy="29260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604004"/>
            <a:ext cx="3355848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8652" y="1328651"/>
            <a:ext cx="4321454" cy="28611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365227"/>
            <a:ext cx="4248302" cy="27879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P/R/F1 均为 100%（见左栏）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1464" y="1151595"/>
            <a:ext cx="4255831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040" y="1188171"/>
            <a:ext cx="4182679" cy="31420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996696"/>
          <a:ext cx="361188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743200"/>
              </a:tblGrid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3:rFonts xmlns:ns3="http://schemas.openxmlformats.org/wordprocessingml/2006/main" ns3:eastAsia="微软雅黑" ns3:ascii="微软雅黑" ns3:hAnsi="微软雅黑"/>
                        </a:rPr>
                        <a:t>GitHub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800" b="0">
                          <a:solidFill>
                            <a:srgbClr val="143278"/>
                          </a:solidFill>
                          <a:latin typeface="微软雅黑"/>
                          <ns4:rFonts xmlns:ns4="http://schemas.openxmlformats.org/wordprocessingml/2006/main" ns4:eastAsia="微软雅黑" ns4:ascii="微软雅黑" ns4:hAnsi="微软雅黑"/>
                        </a:rPr>
                        <a:t>https://github.com/FBB123571/ElderCare-Humanoid-Platform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5:rFonts xmlns:ns5="http://schemas.openxmlformats.org/wordprocessingml/2006/main" ns5:eastAsia="微软雅黑" ns5:ascii="微软雅黑" ns5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6:rFonts xmlns:ns6="http://schemas.openxmlformats.org/wordprocessingml/2006/main" ns6:eastAsia="微软雅黑" ns6:ascii="微软雅黑" ns6:hAnsi="微软雅黑"/>
                        </a:rPr>
                        <a:t>从容应队（中山大学）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本地演示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bash scripts/run_web.sh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  <a:tr h="770839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演示录像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docs/assets/demo_carecompanion.mp4</a:t>
                      </a:r>
                    </a:p>
                  </a:txBody>
                  <a:tcPr marL="63500">
                    <a:solidFill>
                      <a:srgbClr val="FFFFFF"/>
                    </a:solidFill>
                  </a:tcPr>
                </a:tc>
              </a:tr>
              <a:tr h="77084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软著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9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申请中</a:t>
                      </a:r>
                    </a:p>
                  </a:txBody>
                  <a:tcPr marL="635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23944" y="996696"/>
            <a:ext cx="4690872" cy="3854196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106424"/>
            <a:ext cx="1362456" cy="1362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3944" y="2560320"/>
            <a:ext cx="469087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43278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 GitHub 仓库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71215"/>
            <a:ext cx="44165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✓  完整源码与 README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5:rFonts xmlns:ns15="http://schemas.openxmlformats.org/wordprocessingml/2006/main" ns15:eastAsia="微软雅黑" ns15:ascii="微软雅黑" ns15:hAnsi="微软雅黑"/>
              </a:rPr>
              <a:t>✓  一键启动脚本 run_web.sh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6:rFonts xmlns:ns16="http://schemas.openxmlformats.org/wordprocessingml/2006/main" ns16:eastAsia="微软雅黑" ns16:ascii="微软雅黑" ns16:hAnsi="微软雅黑"/>
              </a:rPr>
              <a:t>✓  fall_eval_report.json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66534"/>
                </a:solidFill>
                <a:latin typeface="微软雅黑"/>
                <ns17:rFonts xmlns:ns17="http://schemas.openxmlformats.org/wordprocessingml/2006/main" ns17:eastAsia="微软雅黑" ns17:ascii="微软雅黑" ns17:hAnsi="微软雅黑"/>
              </a:rPr>
              <a:t>✓  pytest 单元测试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B45309"/>
                </a:solidFill>
                <a:latin typeface="微软雅黑"/>
                <ns18:rFonts xmlns:ns18="http://schemas.openxmlformats.org/wordprocessingml/2006/main" ns18:eastAsia="微软雅黑" ns18:ascii="微软雅黑" ns18:hAnsi="微软雅黑"/>
              </a:rPr>
              <a:t>○  软著申请中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4986" y="2415020"/>
            <a:ext cx="4097426" cy="980971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62" y="2451596"/>
            <a:ext cx="4024274" cy="90781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60077" y="1151595"/>
            <a:ext cx="3418605" cy="3215213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653" y="1188171"/>
            <a:ext cx="3345453" cy="314206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创新维度自评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33372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60320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287268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014216"/>
            <a:ext cx="3282696" cy="708660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68496" y="996696"/>
            <a:ext cx="10972" cy="3854196"/>
          </a:xfrm>
          <a:prstGeom prst="rect">
            <a:avLst/>
          </a:prstGeom>
          <a:solidFill>
            <a:srgbClr val="BA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8652" y="1183788"/>
            <a:ext cx="4321454" cy="3150826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228" y="1220364"/>
            <a:ext cx="4248302" cy="307767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60520" y="4521708"/>
            <a:ext cx="4617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10642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1510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23794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32479"/>
            <a:ext cx="3282696" cy="890397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05656" y="1033272"/>
            <a:ext cx="4727448" cy="3744468"/>
          </a:xfrm>
          <a:prstGeom prst="rect">
            <a:avLst/>
          </a:prstGeom>
          <a:solidFill>
            <a:srgbClr val="FFFFFF"/>
          </a:solidFill>
          <a:ln w="9525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880" y="1379372"/>
            <a:ext cx="1292047" cy="129204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798063"/>
            <a:ext cx="157276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pic>
        <p:nvPicPr>
          <p:cNvPr id="17" name="Picture 16" descr="ppt_header_per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320" y="1957755"/>
            <a:ext cx="2566903" cy="13285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61303" y="4192524"/>
            <a:ext cx="291693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Web 感知界面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9144000" cy="4485132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960120"/>
            <a:ext cx="7680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64208"/>
            <a:ext cx="164592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43278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队长 刘小凡  ·  队员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400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110" y="3140964"/>
            <a:ext cx="2177299" cy="1143000"/>
          </a:xfrm>
          <a:prstGeom prst="rect">
            <a:avLst/>
          </a:prstGeom>
          <a:solidFill>
            <a:srgbClr val="FCFDFF"/>
          </a:solidFill>
          <a:ln w="762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686" y="3177540"/>
            <a:ext cx="2104147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63139" y="4352544"/>
            <a:ext cx="30632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Web 控制台</a:t>
            </a:r>
          </a:p>
        </p:txBody>
      </p:sp>
      <p:pic>
        <p:nvPicPr>
          <p:cNvPr id="14" name="Picture 13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579" y="3246120"/>
            <a:ext cx="960120" cy="960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46419" y="4261104"/>
            <a:ext cx="12344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