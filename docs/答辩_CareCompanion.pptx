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20624"/>
            <a:ext cx="4572000" cy="4722876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8590" y="535975"/>
            <a:ext cx="3174819" cy="4208708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mediapipe_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66" y="572551"/>
            <a:ext cx="3101667" cy="4135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" y="4805172"/>
            <a:ext cx="4297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MediaPipe 骨架 · 可现场演示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20624"/>
            <a:ext cx="4572000" cy="472287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420624"/>
            <a:ext cx="91440" cy="47228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832104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CareCompanion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7101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93C5FD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智能养老陪伴机器人仿真平台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1848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感知 · 决策 · 执行  一体化闭环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148840"/>
            <a:ext cx="3977639" cy="1325880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2860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DCE6FF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团队：从容应队（中山大学）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DCE6FF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队员：刘小凡（队长）· 白冉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DCE6FF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指导教师：彭键清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DCE6FF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作品编号：CRAIC20264ZEFT1DF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6863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微软雅黑"/>
                <ns9:rFonts xmlns:ns9="http://schemas.openxmlformats.org/wordprocessingml/2006/main" ns9:eastAsia="微软雅黑" ns9:ascii="微软雅黑" ns9:hAnsi="微软雅黑"/>
              </a:rPr>
              <a:t>基于大语言模型的智能养老陪伴机器人仿真平台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答辩提纲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一、为什么做：老龄化与跌倒风险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二、怎么做：模型、架构与算法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三、做出来什么：系统演示与测试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四、有什么特色：创新点与后续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833609"/>
            <a:ext cx="4321454" cy="1851184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utlin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870185"/>
            <a:ext cx="4248302" cy="1778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答辩结构时间轴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参赛信息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赛项：创新赛 · 机器人创新赛道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作品：智能养老陪伴机器人仿真平台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（基于大语言模型）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特色：理论清晰 · 系统可演示 · 指标可复现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9080" y="996696"/>
          <a:ext cx="4800600" cy="385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3959352"/>
              </a:tblGrid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7:rFonts xmlns:ns7="http://schemas.openxmlformats.org/wordprocessingml/2006/main" ns7:eastAsia="微软雅黑" ns7:ascii="微软雅黑" ns7:hAnsi="微软雅黑"/>
                        </a:rPr>
                        <a:t>团队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8:rFonts xmlns:ns8="http://schemas.openxmlformats.org/wordprocessingml/2006/main" ns8:eastAsia="微软雅黑" ns8:ascii="微软雅黑" ns8:hAnsi="微软雅黑"/>
                        </a:rPr>
                        <a:t>从容应队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9:rFonts xmlns:ns9="http://schemas.openxmlformats.org/wordprocessingml/2006/main" ns9:eastAsia="微软雅黑" ns9:ascii="微软雅黑" ns9:hAnsi="微软雅黑"/>
                        </a:rPr>
                        <a:t>学校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10:rFonts xmlns:ns10="http://schemas.openxmlformats.org/wordprocessingml/2006/main" ns10:eastAsia="微软雅黑" ns10:ascii="微软雅黑" ns10:hAnsi="微软雅黑"/>
                        </a:rPr>
                        <a:t>中山大学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11:rFonts xmlns:ns11="http://schemas.openxmlformats.org/wordprocessingml/2006/main" ns11:eastAsia="微软雅黑" ns11:ascii="微软雅黑" ns11:hAnsi="微软雅黑"/>
                        </a:rPr>
                        <a:t>队长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12:rFonts xmlns:ns12="http://schemas.openxmlformats.org/wordprocessingml/2006/main" ns12:eastAsia="微软雅黑" ns12:ascii="微软雅黑" ns12:hAnsi="微软雅黑"/>
                        </a:rPr>
                        <a:t>刘小凡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13:rFonts xmlns:ns13="http://schemas.openxmlformats.org/wordprocessingml/2006/main" ns13:eastAsia="微软雅黑" ns13:ascii="微软雅黑" ns13:hAnsi="微软雅黑"/>
                        </a:rPr>
                        <a:t>队员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14:rFonts xmlns:ns14="http://schemas.openxmlformats.org/wordprocessingml/2006/main" ns14:eastAsia="微软雅黑" ns14:ascii="微软雅黑" ns14:hAnsi="微软雅黑"/>
                        </a:rPr>
                        <a:t>白冉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15:rFonts xmlns:ns15="http://schemas.openxmlformats.org/wordprocessingml/2006/main" ns15:eastAsia="微软雅黑" ns15:ascii="微软雅黑" ns15:hAnsi="微软雅黑"/>
                        </a:rPr>
                        <a:t>指导教师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16:rFonts xmlns:ns16="http://schemas.openxmlformats.org/wordprocessingml/2006/main" ns16:eastAsia="微软雅黑" ns16:ascii="微软雅黑" ns16:hAnsi="微软雅黑"/>
                        </a:rPr>
                        <a:t>彭键清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599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17:rFonts xmlns:ns17="http://schemas.openxmlformats.org/wordprocessingml/2006/main" ns17:eastAsia="微软雅黑" ns17:ascii="微软雅黑" ns17:hAnsi="微软雅黑"/>
                        </a:rPr>
                        <a:t>团队编号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18:rFonts xmlns:ns18="http://schemas.openxmlformats.org/wordprocessingml/2006/main" ns18:eastAsia="微软雅黑" ns18:ascii="微软雅黑" ns18:hAnsi="微软雅黑"/>
                        </a:rPr>
                        <a:t>CRAIC2026-TEAM-8FJQKLMI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  <a:tr h="550602">
                <a:tc>
                  <a:txBody>
                    <a:bodyPr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ns19:rFonts xmlns:ns19="http://schemas.openxmlformats.org/wordprocessingml/2006/main" ns19:eastAsia="微软雅黑" ns19:ascii="微软雅黑" ns19:hAnsi="微软雅黑"/>
                        </a:rPr>
                        <a:t>作品编号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1000" b="0">
                          <a:solidFill>
                            <a:srgbClr val="143278"/>
                          </a:solidFill>
                          <a:latin typeface="微软雅黑"/>
                          <ns20:rFonts xmlns:ns20="http://schemas.openxmlformats.org/wordprocessingml/2006/main" ns20:eastAsia="微软雅黑" ns20:ascii="微软雅黑" ns20:hAnsi="微软雅黑"/>
                        </a:rPr>
                        <a:t>CRAIC20264ZEFT1DF</a:t>
                      </a:r>
                    </a:p>
                  </a:txBody>
                  <a:tcPr marL="76200" marR="50800">
                    <a:solidFill>
                      <a:srgbClr val="F1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"/>
            <a:ext cx="4343400" cy="443026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74066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04672"/>
            <a:ext cx="658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72184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第一部分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FDBFE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背景 · 需求 · 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432304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老龄化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71216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方案对比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310128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项目目标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20624"/>
            <a:ext cx="4800600" cy="4430268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4986" y="1472215"/>
            <a:ext cx="4097426" cy="2866581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g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2" y="1508791"/>
            <a:ext cx="4024274" cy="2793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社会背景：老龄化与跌倒风险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独居老人变多，跌倒了没人及时发现很常见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37385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监测设备多，但很少把告警和机器人动作连起来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68346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政策在推智慧养老，我们按居家场景做验证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599307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用仿真平台先把流程跑通，再对接人形机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39996"/>
            <a:ext cx="3429000" cy="29260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4604004"/>
            <a:ext cx="33558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难点：发现慢，闭环弱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8652" y="1248157"/>
            <a:ext cx="4321454" cy="3022089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g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284733"/>
            <a:ext cx="4248302" cy="29489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Fig. 老龄化趋势（公开数据示意）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和常见方案比一比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我们不是把音箱、摄像头、手环简单拼在一起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用统一调度把感知、决策、执行串成一条链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风险结果能解释，方便答辩和后期调参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仓库里带 Web 和脚本，老师可以现场点着看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537499"/>
            <a:ext cx="4321454" cy="2443404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a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574075"/>
            <a:ext cx="4248302" cy="23702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方案对比表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项目要做什么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CareCompanion：养老场景的人形陪伴软件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37385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核心是 CareOrchestrator，负责模块调度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68346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跌倒要能检、要能触发紧急流程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599307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对话和机器人动作要能联动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39996"/>
            <a:ext cx="3429000" cy="29260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4604004"/>
            <a:ext cx="33558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目标在系统里都能点到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8652" y="1221190"/>
            <a:ext cx="4321454" cy="307602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257766"/>
            <a:ext cx="4248302" cy="30028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系统四层架构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"/>
            <a:ext cx="4343400" cy="443026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74066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04672"/>
            <a:ext cx="658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72184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第二部分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FDBFE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模型 · 架构 · 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432304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四层架构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71216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状态机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310128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融合与检测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20624"/>
            <a:ext cx="4800600" cy="4430268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4986" y="1469852"/>
            <a:ext cx="4097426" cy="2871307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2" y="1506428"/>
            <a:ext cx="4024274" cy="2798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系统怎么分层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最上面是 Web/GUI，老师和评委直接看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中间做风险、对话和任务规划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下面接跌倒、情绪、视觉等感知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最底层通过适配器连仿真或 ROS2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221190"/>
            <a:ext cx="4321454" cy="307602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257766"/>
            <a:ext cx="4248302" cy="30028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分层与 CareOrchestrator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状态机怎么切换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平时监测，对话时走倾诉流程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风险升高先告警，确认跌倒进紧急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紧急状态可以打断正在进行的对话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每次循环都会记下分数、回复和动作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245662"/>
            <a:ext cx="4321454" cy="3027078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282238"/>
            <a:ext cx="4248302" cy="29539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有限状态机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风险分数怎么算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跌倒、情绪、健康三路各占一部分权重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不是端到端黑盒，会给出原因列表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阈值写在配置里，不同场景能改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方便和医生、护理人员沟通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756" y="1151595"/>
            <a:ext cx="4307247" cy="321521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isk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32" y="1188171"/>
            <a:ext cx="4234095" cy="31420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可解释加权融合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跌倒怎么判断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用 MediaPipe 提骨架，算宽高比和速度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快速跌倒和慢速躺倒两套规则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在 6 组合成场景上 F1 到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支持摄像头，也支持上传照片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43358" y="1151595"/>
            <a:ext cx="2452043" cy="321521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ll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934" y="1188171"/>
            <a:ext cx="2378891" cy="31420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规则判定树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对话模块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先识别老人话里的情绪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再由 DialogueManager 生成回复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默认用 Mock，现场不依赖外网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需要时可以换成 LLM 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0380" y="1151595"/>
            <a:ext cx="3857998" cy="321521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ialogue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56" y="1188171"/>
            <a:ext cx="3784846" cy="31420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对话时序图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数据怎么往下走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一帧感知数据进来先提特征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融合后交给状态机判断阶段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规划器决定机器人做什么动作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Web 页面上能看到整条链路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539913"/>
            <a:ext cx="4321454" cy="2438576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peline_swim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576489"/>
            <a:ext cx="4248302" cy="23654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单帧泳道数据流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确认跌倒之后怎么办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先播告警，再语音安抚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37385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然后通知家属，最后做举手等动作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68346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EmergencyNotifier 里留了记录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599307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脚本测过端到端触发率 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39996"/>
            <a:ext cx="3429000" cy="29260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4604004"/>
            <a:ext cx="33558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紧急流程在演示里能完整走通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8652" y="1302920"/>
            <a:ext cx="4321454" cy="2912562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mergency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339496"/>
            <a:ext cx="4248302" cy="28394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紧急响应时序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"/>
            <a:ext cx="4343400" cy="443026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74066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04672"/>
            <a:ext cx="658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72184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第三部分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FDBFE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实现 · 测试 · 演示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432304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71216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视觉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310128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20624"/>
            <a:ext cx="4800600" cy="4430268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4986" y="1819631"/>
            <a:ext cx="4097426" cy="2171748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pt_fu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2" y="1856207"/>
            <a:ext cx="4024274" cy="20985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Web 端长什么样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后端 FastAPI，前端浏览器打开即可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一页里能看到风险、对话和指令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可以上传照片做骨架分析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内置剧本：日常—倾诉—跌倒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8652" y="1614914"/>
            <a:ext cx="4321454" cy="2288575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pt_fu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651490"/>
            <a:ext cx="4248302" cy="22154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主界面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系统实拍  |  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骨架分析（上传照片）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14984"/>
            <a:ext cx="8595360" cy="38176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_mediapipe_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78" y="1068339"/>
            <a:ext cx="2577442" cy="34365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" y="4594860"/>
            <a:ext cx="852220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全身照 → 骨架叠加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系统实拍  |  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风险与情绪输入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33272"/>
            <a:ext cx="4233672" cy="3781044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_risk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33" y="1191143"/>
            <a:ext cx="2710644" cy="3227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4576572"/>
            <a:ext cx="40873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风险面板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33272"/>
            <a:ext cx="4233672" cy="3781044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_emotion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588" y="1191143"/>
            <a:ext cx="3794510" cy="3227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59" y="4576572"/>
            <a:ext cx="40873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情绪输入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系统实拍  |  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紧急过程记录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33272"/>
            <a:ext cx="4233672" cy="3781044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_chat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3" y="1771225"/>
            <a:ext cx="3842125" cy="20673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4576572"/>
            <a:ext cx="40873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对话日志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33272"/>
            <a:ext cx="4233672" cy="3781044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_robot_comm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781" y="2371557"/>
            <a:ext cx="3842125" cy="866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59" y="4576572"/>
            <a:ext cx="40873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机器人指令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系统实拍  |  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紧急时感知页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14984"/>
            <a:ext cx="8595360" cy="38176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_header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29" y="1165905"/>
            <a:ext cx="6368740" cy="329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622292"/>
            <a:ext cx="8412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状态切到紧急后的感知区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测试结果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跌倒检测 P/R/F1：合成 6 场景均为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37385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紧急链路脚本跑通率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68346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单帧决策在 CPU 上 &lt; 50ms（见右下图）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599307"/>
            <a:ext cx="3282696" cy="812673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单元测试和无头演示都过了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39996"/>
            <a:ext cx="3429000" cy="29260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4604004"/>
            <a:ext cx="33558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数据：fall_eval_report.json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8652" y="1308003"/>
            <a:ext cx="4321454" cy="2902397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v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344579"/>
            <a:ext cx="4248302" cy="28292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评测结果（6 场景）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性能与延迟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骨架提取约占时最多，仍满足实时要求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融合与规则判定开销较小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端到端在 CPU 上约 42ms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现场演示不依赖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1464" y="1151595"/>
            <a:ext cx="4255831" cy="321521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ten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040" y="1188171"/>
            <a:ext cx="4182679" cy="31420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单帧链路耗时（本机粗测）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开源与可复现性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96696"/>
          <a:ext cx="3611880" cy="385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743200"/>
              </a:tblGrid>
              <a:tr h="770839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ns3:rFonts xmlns:ns3="http://schemas.openxmlformats.org/wordprocessingml/2006/main" ns3:eastAsia="微软雅黑" ns3:ascii="微软雅黑" ns3:hAnsi="微软雅黑"/>
                        </a:rPr>
                        <a:t>GitHub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800" b="0">
                          <a:solidFill>
                            <a:srgbClr val="143278"/>
                          </a:solidFill>
                          <a:latin typeface="微软雅黑"/>
                          <ns4:rFonts xmlns:ns4="http://schemas.openxmlformats.org/wordprocessingml/2006/main" ns4:eastAsia="微软雅黑" ns4:ascii="微软雅黑" ns4:hAnsi="微软雅黑"/>
                        </a:rPr>
                        <a:t>https://github.com/FBB123571/ElderCare-Humanoid-Platform</a:t>
                      </a:r>
                    </a:p>
                  </a:txBody>
                  <a:tcPr marL="63500">
                    <a:solidFill>
                      <a:srgbClr val="F1F7FF"/>
                    </a:solidFill>
                  </a:tcPr>
                </a:tc>
              </a:tr>
              <a:tr h="770839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ns5:rFonts xmlns:ns5="http://schemas.openxmlformats.org/wordprocessingml/2006/main" ns5:eastAsia="微软雅黑" ns5:ascii="微软雅黑" ns5:hAnsi="微软雅黑"/>
                        </a:rPr>
                        <a:t>团队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900" b="0">
                          <a:solidFill>
                            <a:srgbClr val="143278"/>
                          </a:solidFill>
                          <a:latin typeface="微软雅黑"/>
                          <ns6:rFonts xmlns:ns6="http://schemas.openxmlformats.org/wordprocessingml/2006/main" ns6:eastAsia="微软雅黑" ns6:ascii="微软雅黑" ns6:hAnsi="微软雅黑"/>
                        </a:rPr>
                        <a:t>从容应队（中山大学）</a:t>
                      </a:r>
                    </a:p>
                  </a:txBody>
                  <a:tcPr marL="63500">
                    <a:solidFill>
                      <a:srgbClr val="FFFFFF"/>
                    </a:solidFill>
                  </a:tcPr>
                </a:tc>
              </a:tr>
              <a:tr h="770839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ns7:rFonts xmlns:ns7="http://schemas.openxmlformats.org/wordprocessingml/2006/main" ns7:eastAsia="微软雅黑" ns7:ascii="微软雅黑" ns7:hAnsi="微软雅黑"/>
                        </a:rPr>
                        <a:t>本地演示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900" b="0">
                          <a:solidFill>
                            <a:srgbClr val="143278"/>
                          </a:solidFill>
                          <a:latin typeface="微软雅黑"/>
                          <ns8:rFonts xmlns:ns8="http://schemas.openxmlformats.org/wordprocessingml/2006/main" ns8:eastAsia="微软雅黑" ns8:ascii="微软雅黑" ns8:hAnsi="微软雅黑"/>
                        </a:rPr>
                        <a:t>bash scripts/run_web.sh</a:t>
                      </a:r>
                    </a:p>
                  </a:txBody>
                  <a:tcPr marL="63500">
                    <a:solidFill>
                      <a:srgbClr val="F1F7FF"/>
                    </a:solidFill>
                  </a:tcPr>
                </a:tc>
              </a:tr>
              <a:tr h="770839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ns9:rFonts xmlns:ns9="http://schemas.openxmlformats.org/wordprocessingml/2006/main" ns9:eastAsia="微软雅黑" ns9:ascii="微软雅黑" ns9:hAnsi="微软雅黑"/>
                        </a:rPr>
                        <a:t>演示录像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900" b="0">
                          <a:solidFill>
                            <a:srgbClr val="143278"/>
                          </a:solidFill>
                          <a:latin typeface="微软雅黑"/>
                          <ns10:rFonts xmlns:ns10="http://schemas.openxmlformats.org/wordprocessingml/2006/main" ns10:eastAsia="微软雅黑" ns10:ascii="微软雅黑" ns10:hAnsi="微软雅黑"/>
                        </a:rPr>
                        <a:t>docs/assets/demo_carecompanion.mp4</a:t>
                      </a:r>
                    </a:p>
                  </a:txBody>
                  <a:tcPr marL="63500">
                    <a:solidFill>
                      <a:srgbClr val="FFFFFF"/>
                    </a:solidFill>
                  </a:tcPr>
                </a:tc>
              </a:tr>
              <a:tr h="77084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ns11:rFonts xmlns:ns11="http://schemas.openxmlformats.org/wordprocessingml/2006/main" ns11:eastAsia="微软雅黑" ns11:ascii="微软雅黑" ns11:hAnsi="微软雅黑"/>
                        </a:rPr>
                        <a:t>软著</a:t>
                      </a:r>
                    </a:p>
                  </a:txBody>
                  <a:tcPr marL="50800" marR="50800" marT="25400" marB="25400">
                    <a:solidFill>
                      <a:srgbClr val="143278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900" b="0">
                          <a:solidFill>
                            <a:srgbClr val="143278"/>
                          </a:solidFill>
                          <a:latin typeface="微软雅黑"/>
                          <ns12:rFonts xmlns:ns12="http://schemas.openxmlformats.org/wordprocessingml/2006/main" ns12:eastAsia="微软雅黑" ns12:ascii="微软雅黑" ns12:hAnsi="微软雅黑"/>
                        </a:rPr>
                        <a:t>申请中</a:t>
                      </a:r>
                    </a:p>
                  </a:txBody>
                  <a:tcPr marL="63500">
                    <a:solidFill>
                      <a:srgbClr val="F1F7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23944" y="996696"/>
            <a:ext cx="4690872" cy="3854196"/>
          </a:xfrm>
          <a:prstGeom prst="rect">
            <a:avLst/>
          </a:prstGeom>
          <a:solidFill>
            <a:srgbClr val="FFFFFF"/>
          </a:solidFill>
          <a:ln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pt_dem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106424"/>
            <a:ext cx="1362456" cy="1362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23944" y="2560320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3278"/>
                </a:solidFill>
                <a:latin typeface="微软雅黑"/>
                <ns13:rFonts xmlns:ns13="http://schemas.openxmlformats.org/wordprocessingml/2006/main" ns13:eastAsia="微软雅黑" ns13:ascii="微软雅黑" ns13:hAnsi="微软雅黑"/>
              </a:rPr>
              <a:t>扫码访问 GitHub 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2871215"/>
            <a:ext cx="441655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66534"/>
                </a:solidFill>
                <a:latin typeface="微软雅黑"/>
                <ns14:rFonts xmlns:ns14="http://schemas.openxmlformats.org/wordprocessingml/2006/main" ns14:eastAsia="微软雅黑" ns14:ascii="微软雅黑" ns14:hAnsi="微软雅黑"/>
              </a:rPr>
              <a:t>✓  完整源码与 README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66534"/>
                </a:solidFill>
                <a:latin typeface="微软雅黑"/>
                <ns15:rFonts xmlns:ns15="http://schemas.openxmlformats.org/wordprocessingml/2006/main" ns15:eastAsia="微软雅黑" ns15:ascii="微软雅黑" ns15:hAnsi="微软雅黑"/>
              </a:rPr>
              <a:t>✓  一键启动脚本 run_web.sh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66534"/>
                </a:solidFill>
                <a:latin typeface="微软雅黑"/>
                <ns16:rFonts xmlns:ns16="http://schemas.openxmlformats.org/wordprocessingml/2006/main" ns16:eastAsia="微软雅黑" ns16:ascii="微软雅黑" ns16:hAnsi="微软雅黑"/>
              </a:rPr>
              <a:t>✓  fall_eval_report.json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66534"/>
                </a:solidFill>
                <a:latin typeface="微软雅黑"/>
                <ns17:rFonts xmlns:ns17="http://schemas.openxmlformats.org/wordprocessingml/2006/main" ns17:eastAsia="微软雅黑" ns17:ascii="微软雅黑" ns17:hAnsi="微软雅黑"/>
              </a:rPr>
              <a:t>✓  pytest 单元测试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B45309"/>
                </a:solidFill>
                <a:latin typeface="微软雅黑"/>
                <ns18:rFonts xmlns:ns18="http://schemas.openxmlformats.org/wordprocessingml/2006/main" ns18:eastAsia="微软雅黑" ns18:ascii="微软雅黑" ns18:hAnsi="微软雅黑"/>
              </a:rPr>
              <a:t>○  软著申请中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"/>
            <a:ext cx="4343400" cy="4430268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740664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04672"/>
            <a:ext cx="6583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72184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第四部分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FDBFE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创新 · 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432304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五个方向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71216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真机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310128"/>
            <a:ext cx="3657600" cy="384048"/>
          </a:xfrm>
          <a:prstGeom prst="rect">
            <a:avLst/>
          </a:prstGeom>
          <a:solidFill>
            <a:srgbClr val="1E4082"/>
          </a:solidFill>
          <a:ln>
            <a:solidFill>
              <a:srgbClr val="64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2E8F0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软著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20624"/>
            <a:ext cx="4800600" cy="4430268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4986" y="1411241"/>
            <a:ext cx="4097426" cy="2988529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adm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2" y="1447817"/>
            <a:ext cx="4024274" cy="29153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创新点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多路信号融合，结果能解释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33372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紧急态在状态机里优先级最高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60320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视觉用 MediaPipe，不是纯参数滑块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87268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代码和评测脚本都开源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014216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● 场景对准居家养老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517" y="1151595"/>
            <a:ext cx="4287724" cy="3215213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nnovati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093" y="1188171"/>
            <a:ext cx="4214572" cy="31420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创新维度自评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后面打算做什么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对接 Unitree 等人形真机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33372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补充公开跌倒数据集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60320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做多房间、弱光等复杂场景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87268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去养老院做访谈和试用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014216"/>
            <a:ext cx="3282696" cy="708660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● 软著和专利在准备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8496" y="996696"/>
            <a:ext cx="10972" cy="3854196"/>
          </a:xfrm>
          <a:prstGeom prst="rect">
            <a:avLst/>
          </a:prstGeom>
          <a:solidFill>
            <a:srgbClr val="BA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8652" y="1183788"/>
            <a:ext cx="4321454" cy="3150826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oadm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28" y="1220364"/>
            <a:ext cx="4248302" cy="30776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60520" y="4521708"/>
            <a:ext cx="4617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里程碑甘特图（示意）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参考资料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1381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[1] Google MediaPipe Pose 技术文档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[2] Unitree / ROS2 开发文档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[3] 「十四五」国家老龄事业发展规划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[4] 项目技术报告 docs/TECHNICAL_REPORT.md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[5] 源码 https://github.com/FBB123571/ElderCare-Humanoid-Platform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6634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扫码查看代码与演示视频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143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96696"/>
            <a:ext cx="3611880" cy="3854196"/>
          </a:xfrm>
          <a:prstGeom prst="rect">
            <a:avLst/>
          </a:prstGeom>
          <a:solidFill>
            <a:srgbClr val="F1F7FF"/>
          </a:solidFill>
          <a:ln w="1016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96696"/>
            <a:ext cx="73152" cy="3854196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0642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● GitHub 完整源码与文档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510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● 在线 Web 演示（现场可复现）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923794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● 演示录像已附仓库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832479"/>
            <a:ext cx="3282696" cy="890397"/>
          </a:xfrm>
          <a:prstGeom prst="rect">
            <a:avLst/>
          </a:prstGeom>
          <a:noFill/>
        </p:spPr>
        <p:txBody>
          <a:bodyPr wrap="square" anchor="t" lIns="25400" t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C202C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● 欢迎评委扫码查阅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033272"/>
            <a:ext cx="4727448" cy="37444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pt_dem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602" y="1390802"/>
            <a:ext cx="1168603" cy="11686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20" y="2679191"/>
            <a:ext cx="15727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仓库二维码</a:t>
            </a:r>
          </a:p>
        </p:txBody>
      </p:sp>
      <p:pic>
        <p:nvPicPr>
          <p:cNvPr id="17" name="Picture 16" descr="ppt_header_per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50" y="2006665"/>
            <a:ext cx="2625242" cy="1358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61303" y="4329684"/>
            <a:ext cx="291693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Web 感知界面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595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微软雅黑"/>
                <ns0:rFonts xmlns:ns0="http://schemas.openxmlformats.org/wordprocessingml/2006/main" ns0:eastAsia="微软雅黑" ns0:ascii="微软雅黑" ns0:hAnsi="微软雅黑"/>
              </a:rPr>
              <a:t>第二十八届中国机器人及人工智能大赛  |  创新赛 · 机器人创新赛道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951476"/>
            <a:ext cx="8595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1:rFonts xmlns:ns1="http://schemas.openxmlformats.org/wordprocessingml/2006/main" ns1:eastAsia="微软雅黑" ns1:ascii="微软雅黑" ns1:hAnsi="微软雅黑"/>
              </a:rPr>
              <a:t>从容应队 · 中山大学 · 刘小凡/白冉 · 指导教师 彭键清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20624"/>
            <a:ext cx="9144000" cy="4485132"/>
          </a:xfrm>
          <a:prstGeom prst="rect">
            <a:avLst/>
          </a:prstGeom>
          <a:solidFill>
            <a:srgbClr val="F1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278"/>
                </a:solidFill>
                <a:latin typeface="微软雅黑"/>
                <ns2:rFonts xmlns:ns2="http://schemas.openxmlformats.org/wordprocessingml/2006/main" ns2:eastAsia="微软雅黑" ns2:ascii="微软雅黑" ns2:hAnsi="微软雅黑"/>
              </a:rPr>
              <a:t>敬请批评指正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664208"/>
            <a:ext cx="164592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69494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43278"/>
                </a:solidFill>
                <a:latin typeface="微软雅黑"/>
                <ns3:rFonts xmlns:ns3="http://schemas.openxmlformats.org/wordprocessingml/2006/main" ns3:eastAsia="微软雅黑" ns3:ascii="微软雅黑" ns3:hAnsi="微软雅黑"/>
              </a:rPr>
              <a:t>从容应队 · 中山大学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273"/>
                </a:solidFill>
                <a:latin typeface="微软雅黑"/>
                <ns4:rFonts xmlns:ns4="http://schemas.openxmlformats.org/wordprocessingml/2006/main" ns4:eastAsia="微软雅黑" ns4:ascii="微软雅黑" ns4:hAnsi="微软雅黑"/>
              </a:rPr>
              <a:t>队长 刘小凡  ·  队员 白冉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273"/>
                </a:solidFill>
                <a:latin typeface="微软雅黑"/>
                <ns5:rFonts xmlns:ns5="http://schemas.openxmlformats.org/wordprocessingml/2006/main" ns5:eastAsia="微软雅黑" ns5:ascii="微软雅黑" ns5:hAnsi="微软雅黑"/>
              </a:rPr>
              <a:t>指导教师 彭键清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7480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43278"/>
                </a:solidFill>
                <a:latin typeface="微软雅黑"/>
                <ns6:rFonts xmlns:ns6="http://schemas.openxmlformats.org/wordprocessingml/2006/main" ns6:eastAsia="微软雅黑" ns6:ascii="微软雅黑" ns6:hAnsi="微软雅黑"/>
              </a:rPr>
              <a:t>https://github.com/FBB123571/ElderCare-Humanoid-Platform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110" y="3140964"/>
            <a:ext cx="2177299" cy="1143000"/>
          </a:xfrm>
          <a:prstGeom prst="rect">
            <a:avLst/>
          </a:prstGeom>
          <a:solidFill>
            <a:srgbClr val="FCFDFF"/>
          </a:solidFill>
          <a:ln w="7620">
            <a:solidFill>
              <a:srgbClr val="BA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pt_fu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686" y="3177540"/>
            <a:ext cx="2104147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63139" y="4352544"/>
            <a:ext cx="3063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7:rFonts xmlns:ns7="http://schemas.openxmlformats.org/wordprocessingml/2006/main" ns7:eastAsia="微软雅黑" ns7:ascii="微软雅黑" ns7:hAnsi="微软雅黑"/>
              </a:rPr>
              <a:t>Web 控制台</a:t>
            </a:r>
          </a:p>
        </p:txBody>
      </p:sp>
      <p:pic>
        <p:nvPicPr>
          <p:cNvPr id="14" name="Picture 13" descr="ppt_dem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79" y="3246120"/>
            <a:ext cx="96012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46419" y="4261104"/>
            <a:ext cx="1234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5A6273"/>
                </a:solidFill>
                <a:latin typeface="微软雅黑"/>
                <ns8:rFonts xmlns:ns8="http://schemas.openxmlformats.org/wordprocessingml/2006/main" ns8:eastAsia="微软雅黑" ns8:ascii="微软雅黑" ns8:hAnsi="微软雅黑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