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8590" y="535975"/>
            <a:ext cx="3174819" cy="420870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66" y="572551"/>
            <a:ext cx="3101667" cy="41355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05172"/>
            <a:ext cx="42976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8046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2618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1591055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73168" y="2176272"/>
            <a:ext cx="4023360" cy="138988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184" y="2286000"/>
            <a:ext cx="3749039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621024"/>
            <a:ext cx="4023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基于大语言模型的居家养老陪伴仿真平台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答辩提纲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一、为什么做：老龄化与跌倒风险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二、怎么做：模型、架构与算法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三、做出来什么：系统演示与测试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四、有什么特色：创新点与后续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833609"/>
            <a:ext cx="4321454" cy="185118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utlin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870185"/>
            <a:ext cx="4248302" cy="1778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答辩结构时间轴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8813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4048" y="1197864"/>
            <a:ext cx="256032" cy="25603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22529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21615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赛项：创新赛 · 机器人创新赛道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63677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4048" y="174650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77393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6479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作品：智能养老陪伴机器人仿真平台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8541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229514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32257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31343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特色：理论清晰 · 系统可演示 · 指标可复现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996696"/>
            <a:ext cx="4800600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306" y="1092708"/>
            <a:ext cx="2104147" cy="10972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60520" y="2267712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Web 控制台预览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4142232" y="2569464"/>
          <a:ext cx="4654296" cy="2208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4672"/>
                <a:gridCol w="3849624"/>
              </a:tblGrid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从容应队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中山大学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队长 / 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刘小凡 / 白冉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彭键清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CRAIC2026-TEAM-8FJQKLMI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21:rFonts xmlns:ns21="http://schemas.openxmlformats.org/wordprocessingml/2006/main" ns21:eastAsia="微软雅黑" ns21:ascii="微软雅黑" ns21:hAnsi="微软雅黑"/>
                        </a:rPr>
                        <a:t>CRAIC20264ZEFT1DF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背景 · 需求 · 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13757" y="1088341"/>
            <a:ext cx="4259885" cy="363432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333" y="1124917"/>
            <a:ext cx="4186733" cy="35611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独居老人变多，跌倒了没人及时发现很常见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监测设备多，但很少把告警和机器人动作连起来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政策在推智慧养老，我们按居家场景做验证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用仿真平台先把流程跑通，再对接人形机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难点：发现慢，闭环弱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222555"/>
            <a:ext cx="4321454" cy="307329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9131"/>
            <a:ext cx="4248302" cy="30001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 老龄化趋势（公开数据示意）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和常见方案比一比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我们不是把音箱、摄像头、手环简单拼在一起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用统一调度把感知、决策、执行串成一条链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风险结果能解释，方便答辩和后期调参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仓库里带 Web 和脚本，老师可以现场点着看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7499"/>
            <a:ext cx="4321454" cy="244340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mpar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4075"/>
            <a:ext cx="4248302" cy="23702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方案对比表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项目要做什么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CareCompanion：养老场景的人形陪伴软件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核心是 CareOrchestrator，负责模块调度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跌倒要能检、要能触发紧急流程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对话和机器人动作要能联动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目标在系统里都能点到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0636" y="1151595"/>
            <a:ext cx="4257487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oject_goals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7212" y="1188171"/>
            <a:ext cx="4184335" cy="314206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架构与状态机总览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模型 · 架构 · 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状态机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融合与检测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231763"/>
            <a:ext cx="4481382" cy="334748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268339"/>
            <a:ext cx="4408230" cy="32743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系统怎么分层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最上面是 Web/GUI，老师和评委直接看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中间做风险、对话和任务规划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下面接跌倒、情绪、视觉等感知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最底层通过适配器连仿真或 ROS2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221190"/>
            <a:ext cx="4321454" cy="307602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7766"/>
            <a:ext cx="4248302" cy="30028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四层架构详图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状态机怎么切换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平时监测，对话时走倾诉流程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风险升高先告警，确认跌倒进紧急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紧急状态可以打断正在进行的对话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每次循环都会记下分数、回复和动作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168319"/>
            <a:ext cx="4321454" cy="318176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04895"/>
            <a:ext cx="4248302" cy="310861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有限状态机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风险分数怎么算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跌倒、情绪、健康三路各占一部分权重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不是端到端黑盒，会给出原因列表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阈值写在配置里，不同场景能改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方便和医生、护理人员沟通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7727" y="1151595"/>
            <a:ext cx="4303304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303" y="1188171"/>
            <a:ext cx="4230152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可解释加权融合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跌倒怎么判断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用 MediaPipe 提骨架，算宽高比和速度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快速跌倒和慢速躺倒两套规则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在 6 组合成场景上 F1 到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支持摄像头，也支持上传照片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75239" y="1151595"/>
            <a:ext cx="358828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l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815" y="1188171"/>
            <a:ext cx="351512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规则判定树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先识别老人话里的情绪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再由 DialogueManager 生成回复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默认用 Mock，现场不依赖外网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需要时可以换成 LLM 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39971" y="1151595"/>
            <a:ext cx="3858816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alogu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547" y="1188171"/>
            <a:ext cx="3785664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对话时序图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数据怎么往下走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一帧感知数据进来先提特征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融合后交给状态机判断阶段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规划器决定机器人做什么动作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Web 页面上能看到整条链路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9215"/>
            <a:ext cx="4321454" cy="243997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ipeline_swim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5791"/>
            <a:ext cx="4248302" cy="236682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单帧泳道数据流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确认跌倒之后怎么办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先播告警，再语音安抚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然后通知家属，最后做举手等动作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里留了记录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脚本测过端到端触发率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紧急流程在演示里能完整走通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01375"/>
            <a:ext cx="4321454" cy="291565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mergency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37951"/>
            <a:ext cx="4248302" cy="2842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紧急响应时序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实现 · 测试 · 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719518"/>
            <a:ext cx="4481382" cy="23719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756094"/>
            <a:ext cx="4408230" cy="22988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端长什么样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后端 FastAPI，前端浏览器打开即可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一页里能看到风险、对话和指令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可以上传照片做骨架分析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内置剧本：日常—倾诉—跌倒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614914"/>
            <a:ext cx="4321454" cy="22885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651490"/>
            <a:ext cx="4248302" cy="221542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主界面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MediaPipe 提取 33 个骨架关键点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由肩-髋-踝计算宽高比 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竖直速度突增触发跌倒规则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上传照片与摄像头共用同一逻辑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62" y="1171277"/>
            <a:ext cx="2258442" cy="30112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15383" y="4283964"/>
            <a:ext cx="25146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MediaPipe 骨架叠加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76288" y="1234440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3" y="1325880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① 关键点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鼻、肩、髋、踝等构成人体构型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76288" y="2130552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4303" y="2221992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② 宽高比 R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躯干投影宽高比异常 → 姿态变化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76288" y="3026664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4303" y="3118104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③ 竖直速度 vy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关键点整体下移超阈 → 判定跌倒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风险与情绪输入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575" y="1088136"/>
            <a:ext cx="2868304" cy="34152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4558284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风险面板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emotion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665" y="1088136"/>
            <a:ext cx="4015213" cy="34152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72584" y="4558284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情绪输入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紧急过程记录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53" y="1701217"/>
            <a:ext cx="4068348" cy="21891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3945202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对话日志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obot_comm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097" y="2336896"/>
            <a:ext cx="4068348" cy="9177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72584" y="3309523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机器人指令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紧急时感知页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14984"/>
            <a:ext cx="8595360" cy="38176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629" y="1165905"/>
            <a:ext cx="6368740" cy="329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622292"/>
            <a:ext cx="84124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状态切到紧急后的感知区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测试结果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P/R/F1：合成 6 场景均为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紧急链路脚本跑通率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单帧决策在 CPU 上 &lt; 50ms（见右下图）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单元测试和无头演示都过了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数据：fall_eval_report.json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28651"/>
            <a:ext cx="4321454" cy="2861100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65227"/>
            <a:ext cx="4248302" cy="27879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P/R/F1 均为 100%（见左栏）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性能与延迟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骨架提取约占时最多，仍满足实时要求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融合与规则判定开销较小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端到端在 CPU 上约 42ms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现场演示不依赖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1464" y="1151595"/>
            <a:ext cx="425583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tenc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8040" y="1188171"/>
            <a:ext cx="418267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单帧链路耗时（本机粗测）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996696"/>
          <a:ext cx="361188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2743200"/>
              </a:tblGrid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3:rFonts xmlns:ns3="http://schemas.openxmlformats.org/wordprocessingml/2006/main" ns3:eastAsia="微软雅黑" ns3:ascii="微软雅黑" ns3:hAnsi="微软雅黑"/>
                        </a:rPr>
                        <a:t>GitHub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800" b="0">
                          <a:solidFill>
                            <a:srgbClr val="143278"/>
                          </a:solidFill>
                          <a:latin typeface="微软雅黑"/>
                          <ns4:rFonts xmlns:ns4="http://schemas.openxmlformats.org/wordprocessingml/2006/main" ns4:eastAsia="微软雅黑" ns4:ascii="微软雅黑" ns4:hAnsi="微软雅黑"/>
                        </a:rPr>
                        <a:t>https://github.com/FBB123571/ElderCare-Humanoid-Platform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5:rFonts xmlns:ns5="http://schemas.openxmlformats.org/wordprocessingml/2006/main" ns5:eastAsia="微软雅黑" ns5:ascii="微软雅黑" ns5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6:rFonts xmlns:ns6="http://schemas.openxmlformats.org/wordprocessingml/2006/main" ns6:eastAsia="微软雅黑" ns6:ascii="微软雅黑" ns6:hAnsi="微软雅黑"/>
                        </a:rPr>
                        <a:t>从容应队（中山大学）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本地演示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bash scripts/run_web.sh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演示录像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docs/assets/demo_carecompanion.mp4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770840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软著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申请中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23944" y="996696"/>
            <a:ext cx="4690872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2" y="1106424"/>
            <a:ext cx="1362456" cy="1362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3944" y="2560320"/>
            <a:ext cx="4690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扫码访问 GitHub 仓库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871215"/>
            <a:ext cx="44165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✓  完整源码与 README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5:rFonts xmlns:ns15="http://schemas.openxmlformats.org/wordprocessingml/2006/main" ns15:eastAsia="微软雅黑" ns15:ascii="微软雅黑" ns15:hAnsi="微软雅黑"/>
              </a:rPr>
              <a:t>✓  一键启动脚本 run_web.sh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6:rFonts xmlns:ns16="http://schemas.openxmlformats.org/wordprocessingml/2006/main" ns16:eastAsia="微软雅黑" ns16:ascii="微软雅黑" ns16:hAnsi="微软雅黑"/>
              </a:rPr>
              <a:t>✓  fall_eval_report.json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7:rFonts xmlns:ns17="http://schemas.openxmlformats.org/wordprocessingml/2006/main" ns17:eastAsia="微软雅黑" ns17:ascii="微软雅黑" ns17:hAnsi="微软雅黑"/>
              </a:rPr>
              <a:t>✓  pytest 单元测试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B45309"/>
                </a:solidFill>
                <a:latin typeface="微软雅黑"/>
                <ns18:rFonts xmlns:ns18="http://schemas.openxmlformats.org/wordprocessingml/2006/main" ns18:eastAsia="微软雅黑" ns18:ascii="微软雅黑" ns18:hAnsi="微软雅黑"/>
              </a:rPr>
              <a:t>○  软著申请中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 · 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五个方向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719518"/>
            <a:ext cx="4481382" cy="23719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756094"/>
            <a:ext cx="4408230" cy="229882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多路信号融合，结果能解释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紧急态在状态机里优先级最高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视觉用 MediaPipe，不是纯参数滑块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代码和评测脚本都开源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场景对准居家养老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202355"/>
            <a:ext cx="4321454" cy="311369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38931"/>
            <a:ext cx="4248302" cy="30405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实验结果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后面打算做什么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补充公开跌倒数据集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做多房间、弱光等复杂场景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去养老院做访谈和试用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软著和专利在准备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186781"/>
            <a:ext cx="4321454" cy="314484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23357"/>
            <a:ext cx="4248302" cy="30716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里程碑甘特图（示意）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81381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 技术文档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开发文档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「十四五」国家老龄事业发展规划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项目技术报告 docs/TECHNICAL_REPORT.md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源码 https://github.com/FBB123571/ElderCare-Humanoid-Platform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3804" y="1987814"/>
            <a:ext cx="1597639" cy="159763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3640317"/>
            <a:ext cx="166420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pic>
        <p:nvPicPr>
          <p:cNvPr id="17" name="Picture 16" descr="ppt_header_perce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998" y="2070050"/>
            <a:ext cx="2768986" cy="14331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52744" y="3558081"/>
            <a:ext cx="2825495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Web 感知界面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9144000" cy="4485132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7680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1664208"/>
            <a:ext cx="1645920" cy="411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43278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队长 刘小凡  ·  队员 白冉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97480"/>
            <a:ext cx="6400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https://github.com/FBB123571/ElderCare-Humanoid-Platform</a:t>
            </a:r>
          </a:p>
        </p:txBody>
      </p:sp>
      <p:pic>
        <p:nvPicPr>
          <p:cNvPr id="11" name="Picture 1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5324" y="3090672"/>
            <a:ext cx="2390311" cy="12465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54580" y="4382902"/>
            <a:ext cx="29718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Web 控制台</a:t>
            </a:r>
          </a:p>
        </p:txBody>
      </p:sp>
      <p:pic>
        <p:nvPicPr>
          <p:cNvPr id="13" name="Picture 12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8988" y="3145536"/>
            <a:ext cx="1170432" cy="1170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8988" y="4361688"/>
            <a:ext cx="117043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GitHub 仓库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