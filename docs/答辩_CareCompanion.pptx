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38912"/>
            <a:ext cx="4709160" cy="4704588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5517" y="530352"/>
            <a:ext cx="3018125" cy="4732020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2093" y="566928"/>
            <a:ext cx="3018125" cy="4475988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1237" y="5015483"/>
            <a:ext cx="2926685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MediaPipe 全身骨架 · Web 可现场演示</a:t>
            </a:r>
          </a:p>
        </p:txBody>
      </p:sp>
      <p:pic>
        <p:nvPicPr>
          <p:cNvPr id="8" name="Picture 7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237" y="576072"/>
            <a:ext cx="2926685" cy="438454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709160" y="438912"/>
            <a:ext cx="4434840" cy="47045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09160" y="438912"/>
            <a:ext cx="109728" cy="47045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941832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CareCompanion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417320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93C5FD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智能养老陪伴机器人仿真平台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801368"/>
            <a:ext cx="4114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E2E8F0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感知 · 决策 · 执行  一体化闭环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92040" y="2322576"/>
            <a:ext cx="3977639" cy="1234440"/>
          </a:xfrm>
          <a:prstGeom prst="rect">
            <a:avLst/>
          </a:prstGeom>
          <a:solidFill>
            <a:srgbClr val="1E4082"/>
          </a:solidFill>
          <a:ln w="9525">
            <a:solidFill>
              <a:srgbClr val="648C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441448"/>
            <a:ext cx="374903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团队：从容应队（中山大学）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队员：刘小凡（队长）· 白冉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指导教师：彭键清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DCE6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作品编号：CRAIC20264ZEFT1DF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640580"/>
            <a:ext cx="4023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4A3B8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基于大语言模型的智能养老陪伴机器人仿真平台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目录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2240280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3865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  项目背景与需求分析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第二部分  关键技术与理论模型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第三部分  系统实现与实验验证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第四部分  创新点与展望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附录  演示界面与开源仓库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2173621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1917589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749693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全篇结构一览</a:t>
            </a:r>
          </a:p>
        </p:txBody>
      </p:sp>
      <p:pic>
        <p:nvPicPr>
          <p:cNvPr id="14" name="Picture 1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1826149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347472" y="4160520"/>
            <a:ext cx="4160520" cy="34747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4187952"/>
            <a:ext cx="39776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理论模型 + 工程实现 + 现场可演示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参赛信息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2624328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77063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作品：基于大语言模型的智能养老陪伴机器人仿真平台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赛项：创新赛 · 机器人创新赛道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团队编号：CRAIC2026-TEAM-8FJQKLMI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作品编号：CRAIC20264ZEFT1DF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队员：刘小凡（队长）、白冉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指导教师：彭键清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3494531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3238500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4070603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报名系统信息</a:t>
            </a:r>
          </a:p>
        </p:txBody>
      </p:sp>
      <p:pic>
        <p:nvPicPr>
          <p:cNvPr id="14" name="Picture 13" descr="tea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31470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8912"/>
            <a:ext cx="5669280" cy="4448555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1234440"/>
            <a:ext cx="868680" cy="868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868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488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第一部分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724912"/>
            <a:ext cx="905256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269748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项目背景 · 需求分析 · 方案定位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4612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▸ 老龄化与跌倒空窗期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▸ 现有方案对比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▸ CareCompanion 目标定位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438912"/>
            <a:ext cx="3474720" cy="4448555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914400"/>
            <a:ext cx="3291840" cy="3822191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7296" y="950976"/>
            <a:ext cx="3291840" cy="3566160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4489703"/>
            <a:ext cx="3200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本章核心示意</a:t>
            </a:r>
          </a:p>
        </p:txBody>
      </p:sp>
      <p:pic>
        <p:nvPicPr>
          <p:cNvPr id="17" name="Picture 16" descr="ag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960120"/>
            <a:ext cx="3200400" cy="20817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社会背景：老龄化与跌倒风险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1856231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00253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独居老人增多，跌倒后「发现空窗」是核心痛点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情感陪伴需求上升，监测设备难以形成照护闭环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政策导向：智慧养老与居家安全并重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1">
                <a:solidFill>
                  <a:srgbClr val="143278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本项目聚焦可落地的仿真验证与人形接口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3053689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2797657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629761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理论框图</a:t>
            </a:r>
          </a:p>
        </p:txBody>
      </p:sp>
      <p:pic>
        <p:nvPicPr>
          <p:cNvPr id="14" name="Picture 13" descr="aging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2706217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347472" y="4160520"/>
            <a:ext cx="4160520" cy="34747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4187952"/>
            <a:ext cx="39776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痛点明确：发现慢 + 闭环弱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现有方案对比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1856231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00253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传统音箱/摄像头/手环：功能割裂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本作品：感知—决策—执行统一编排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强调可解释风险与紧急硬优先级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配套 Web 演示与量化评测脚本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2808179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2552147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384251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理论框图</a:t>
            </a:r>
          </a:p>
        </p:txBody>
      </p:sp>
      <p:pic>
        <p:nvPicPr>
          <p:cNvPr id="14" name="Picture 13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2460707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347472" y="4160520"/>
            <a:ext cx="4160520" cy="34747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4187952"/>
            <a:ext cx="39776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从模块堆叠到一体化闭环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项目概述与目标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2240280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3865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CareCompanion：养老人形陪伴软件平台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CareOrchestrator 统一调度各模块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目标1：跌倒检测与紧急呼叫自动化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目标2：情感对话与机器人动作联动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目标3：ROS2 部署接口 + 开源可复现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2968972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2712940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545044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  <p:pic>
        <p:nvPicPr>
          <p:cNvPr id="14" name="Picture 1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26215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347472" y="4160520"/>
            <a:ext cx="4160520" cy="34747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4187952"/>
            <a:ext cx="39776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三大目标均可现场验证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8912"/>
            <a:ext cx="5669280" cy="4448555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1234440"/>
            <a:ext cx="868680" cy="868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868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488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第二部分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724912"/>
            <a:ext cx="905256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269748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理论模型 · 算法设计 · 系统架构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4612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▸ 四层架构与状态机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▸ 多模态风险融合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▸ 跌倒检测与应急链路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438912"/>
            <a:ext cx="3474720" cy="4448555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914400"/>
            <a:ext cx="3291840" cy="3822191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7296" y="950976"/>
            <a:ext cx="3291840" cy="3566160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4489703"/>
            <a:ext cx="3200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本章核心示意</a:t>
            </a:r>
          </a:p>
        </p:txBody>
      </p:sp>
      <p:pic>
        <p:nvPicPr>
          <p:cNvPr id="17" name="Picture 16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960120"/>
            <a:ext cx="3200400" cy="17095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系统总体架构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1856231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00253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四层架构：感知 / 认知 / 执行 / 交互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核心：CareOrchestrator + 状态机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模块可替换：仿真、Web、ROS2 共用一套逻辑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配置集中于 config/default.yaml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2968972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2712940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545044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四层架构框图</a:t>
            </a:r>
          </a:p>
        </p:txBody>
      </p:sp>
      <p:pic>
        <p:nvPicPr>
          <p:cNvPr id="14" name="Picture 1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26215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347472" y="4160520"/>
            <a:ext cx="4160520" cy="34747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4187952"/>
            <a:ext cx="39776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理论清晰、模块可替换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状态机与调度策略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1856231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00253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MONITOR → CONVERSE → ALERT → EMERGENCY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紧急态可打断对话与常规任务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每个 tick 输出风险、回复、动作序列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便于日志审计与答辩讲解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2569861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2313829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145933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状态转移示意</a:t>
            </a:r>
          </a:p>
        </p:txBody>
      </p:sp>
      <p:pic>
        <p:nvPicPr>
          <p:cNvPr id="14" name="Picture 13" descr="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222238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多模态风险融合（理论）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1856231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00253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加权融合跌倒、情绪、健康三路分数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输出等级与原因列表，非黑盒端到端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阈值可配置，支持场景调参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契合医疗与养老合规沟通需求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3071357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2815325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647429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可解释融合公式</a:t>
            </a:r>
          </a:p>
        </p:txBody>
      </p:sp>
      <p:pic>
        <p:nvPicPr>
          <p:cNvPr id="14" name="Picture 13" descr="risk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2723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跌倒检测算法设计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1856231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00253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输入：MediaPipe 骨架几何特征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快速跌倒 + 慢速躺倒（养老常见）双规则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合成 6 场景评测 F1=100%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可接摄像头或上传照片分析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3249347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2993315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825419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双规则检测流程</a:t>
            </a:r>
          </a:p>
        </p:txBody>
      </p:sp>
      <p:pic>
        <p:nvPicPr>
          <p:cNvPr id="14" name="Picture 13" descr="fal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29018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对话与情感模块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1856231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00253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文本情感词典 + 情绪标签融合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DialogueManager 生成安抚话术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默认 Mock，可切换 LLM API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与 RiskEngine、CarePlanner 协同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2807550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2551518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383622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理论框图</a:t>
            </a:r>
          </a:p>
        </p:txBody>
      </p:sp>
      <p:pic>
        <p:nvPicPr>
          <p:cNvPr id="14" name="Picture 13" descr="llm_mo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246007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数据处理与决策流水线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1856231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00253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感知帧 → 特征 → 融合 → 状态机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CarePlanner 生成 RobotAction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RobotAdapter 下发仿真或 ROS2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全链路可在 Web 界面观察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2173621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1917589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749693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理论框图</a:t>
            </a:r>
          </a:p>
        </p:txBody>
      </p:sp>
      <p:pic>
        <p:nvPicPr>
          <p:cNvPr id="14" name="Picture 1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182614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紧急响应链路（理论）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1856231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00253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确认跌倒后按序触发四类动作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告警音 → 语音 → 家属通知 → 手势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EmergencyNotifier 记录推送渠道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端到端触发率评测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2012828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1756796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588900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理论框图</a:t>
            </a:r>
          </a:p>
        </p:txBody>
      </p:sp>
      <p:pic>
        <p:nvPicPr>
          <p:cNvPr id="14" name="Picture 13" descr="emergency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166535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347472" y="4160520"/>
            <a:ext cx="4160520" cy="34747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4187952"/>
            <a:ext cx="39776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紧急链路端到端可验证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8912"/>
            <a:ext cx="5669280" cy="4448555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1234440"/>
            <a:ext cx="868680" cy="868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868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488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第三部分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724912"/>
            <a:ext cx="905256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269748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系统实现 · 实验验证 · 现场演示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4612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▸ Web 控制台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▸ 骨架视觉分析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▸ 量化评测结果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438912"/>
            <a:ext cx="3474720" cy="4448555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914400"/>
            <a:ext cx="3291840" cy="3822191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7296" y="950976"/>
            <a:ext cx="3291840" cy="3566160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4489703"/>
            <a:ext cx="3200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本章核心示意</a:t>
            </a:r>
          </a:p>
        </p:txBody>
      </p:sp>
      <p:pic>
        <p:nvPicPr>
          <p:cNvPr id="17" name="Picture 16" descr="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960120"/>
            <a:ext cx="3200400" cy="20780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Web 控制台实现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1856231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00253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FastAPI 后端 + 浏览器前端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实时风险仪表盘、对话与指令流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支持上传照片 / 摄像头骨架分析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一键演示剧本：日常→倾诉→跌倒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2517118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2261086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093190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系统实拍 · 仪表盘</a:t>
            </a:r>
          </a:p>
        </p:txBody>
      </p:sp>
      <p:pic>
        <p:nvPicPr>
          <p:cNvPr id="14" name="Picture 13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216964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  |  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84632"/>
            <a:ext cx="84490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系统界面：MediaPipe 骨架分析（上传照片）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322340" y="850392"/>
            <a:ext cx="2499318" cy="3954780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58916" y="886968"/>
            <a:ext cx="2499318" cy="3698748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68060" y="4558283"/>
            <a:ext cx="2407878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上传全身照导出骨架叠加图 · 支持答辩现场上传演示</a:t>
            </a:r>
          </a:p>
        </p:txBody>
      </p:sp>
      <p:pic>
        <p:nvPicPr>
          <p:cNvPr id="10" name="Picture 9" descr="ppt_mediapipe_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8060" y="896112"/>
            <a:ext cx="2407878" cy="360730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  |  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84632"/>
            <a:ext cx="84490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系统界面：老人倾诉场景（演示剧本）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1067587" y="850392"/>
            <a:ext cx="7008824" cy="3954780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4163" y="886968"/>
            <a:ext cx="7008824" cy="3698748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3307" y="4558283"/>
            <a:ext cx="6917384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演示场景「老人倾诉」· 风险 0.23 · 机器人主动安抚</a:t>
            </a:r>
          </a:p>
        </p:txBody>
      </p:sp>
      <p:pic>
        <p:nvPicPr>
          <p:cNvPr id="10" name="Picture 9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307" y="896112"/>
            <a:ext cx="6917384" cy="360730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  |  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84632"/>
            <a:ext cx="84490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系统界面：风险决策仪表盘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1492" y="850392"/>
            <a:ext cx="3121015" cy="3954780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8068" y="886968"/>
            <a:ext cx="3121015" cy="3698748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7212" y="4558283"/>
            <a:ext cx="3029575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多模态融合：风险分数、因素、机器人回应及四项监测指标</a:t>
            </a:r>
          </a:p>
        </p:txBody>
      </p:sp>
      <p:pic>
        <p:nvPicPr>
          <p:cNvPr id="10" name="Picture 9" descr="ppt_risk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7212" y="896112"/>
            <a:ext cx="3029575" cy="360730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  |  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84632"/>
            <a:ext cx="84490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系统界面：紧急状态监测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1041484" y="850392"/>
            <a:ext cx="7061031" cy="3954780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8060" y="886968"/>
            <a:ext cx="7061031" cy="3698748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7204" y="4558283"/>
            <a:ext cx="6969591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状态机进入「紧急」· 感知输入与 MediaPipe 视觉模块</a:t>
            </a:r>
          </a:p>
        </p:txBody>
      </p:sp>
      <p:pic>
        <p:nvPicPr>
          <p:cNvPr id="10" name="Picture 9" descr="ppt_header_per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204" y="896112"/>
            <a:ext cx="6969591" cy="360730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  |  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84632"/>
            <a:ext cx="84490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系统界面：跌倒紧急对话日志</a:t>
            </a:r>
          </a:p>
        </p:txBody>
      </p:sp>
      <p:sp>
        <p:nvSpPr>
          <p:cNvPr id="7" name="Rectangle 6"/>
          <p:cNvSpPr/>
          <p:nvPr/>
        </p:nvSpPr>
        <p:spPr>
          <a:xfrm>
            <a:off x="1174298" y="850392"/>
            <a:ext cx="6795402" cy="3954780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10874" y="886968"/>
            <a:ext cx="6795402" cy="3698748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0018" y="4558283"/>
            <a:ext cx="6703962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跌倒紧急流程触发 · 多次紧急安抚语音</a:t>
            </a:r>
          </a:p>
        </p:txBody>
      </p:sp>
      <p:pic>
        <p:nvPicPr>
          <p:cNvPr id="10" name="Picture 9" descr="ppt_chat_emerg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018" y="896112"/>
            <a:ext cx="6703962" cy="360730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系统实拍    |    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84632"/>
            <a:ext cx="84490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系统界面：机器人指令流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1" y="1721679"/>
            <a:ext cx="8357616" cy="2212205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9767" y="1758255"/>
            <a:ext cx="8357616" cy="1956173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1" y="3686996"/>
            <a:ext cx="8266176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告警音→语音→紧急呼叫→举手手势，全链路可追溯</a:t>
            </a:r>
          </a:p>
        </p:txBody>
      </p:sp>
      <p:pic>
        <p:nvPicPr>
          <p:cNvPr id="10" name="Picture 9" descr="ppt_robot_comm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1" y="1767399"/>
            <a:ext cx="8266176" cy="1864733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实验评测结果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2240280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3865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跌倒检测 P/R/F1：100%（6类合成场景）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紧急呼叫端到端触发率：100%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单帧决策延迟 &lt; 50ms（CPU）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pytest + 无头压测全部通过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报告：fall_eval_report.json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304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2792888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624992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  <p:pic>
        <p:nvPicPr>
          <p:cNvPr id="14" name="Picture 13" descr="metric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270144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347472" y="4160520"/>
            <a:ext cx="4160520" cy="34747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4187952"/>
            <a:ext cx="39776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ns9:rFonts xmlns:ns9="http://schemas.openxmlformats.org/wordprocessingml/2006/main" ns9:eastAsia="微软雅黑" ns9:ascii="微软雅黑" ns9:hAnsi="微软雅黑"/>
              </a:rPr>
              <a:t>指标可复现、脚本可一键运行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开源与可复现性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2240280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3865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仓库：https://github.com/FBB123571/ElderCare-Humanoid-Platform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团队：从容应队（中山大学）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演示：bash scripts/run_web.sh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录像：docs/assets/demo_carecompanion.mp4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软著：申请中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3886200" cy="4142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3886200" cy="3886200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4718304"/>
            <a:ext cx="3794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扫码访问 GitHub</a:t>
            </a:r>
          </a:p>
        </p:txBody>
      </p:sp>
      <p:pic>
        <p:nvPicPr>
          <p:cNvPr id="14" name="Picture 13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3794760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8912"/>
            <a:ext cx="5669280" cy="4448555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2920" y="1234440"/>
            <a:ext cx="868680" cy="8686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98448"/>
            <a:ext cx="868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4884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第四部分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724912"/>
            <a:ext cx="905256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269748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BFDBFE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创新点 · 应用价值 · 后续计划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4612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▸ 五维创新自评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▸ 真机对接路线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E2E8F0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▸ 软著与专利布局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438912"/>
            <a:ext cx="3474720" cy="4448555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760720" y="914400"/>
            <a:ext cx="3291840" cy="3822191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97296" y="950976"/>
            <a:ext cx="3291840" cy="3566160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4489703"/>
            <a:ext cx="3200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本章核心示意</a:t>
            </a:r>
          </a:p>
        </p:txBody>
      </p:sp>
      <p:pic>
        <p:nvPicPr>
          <p:cNvPr id="17" name="Picture 16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960120"/>
            <a:ext cx="3200400" cy="321297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创新维度总结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2240280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3865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多模态可解释融合，优于模块堆叠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紧急硬优先级状态机 + 动作闭环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MediaPipe 视觉接入，非纯滑块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工程化：评测脚本 + 开源仓库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面向居家养老的应用场景明确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3871347" cy="4142232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3871347" cy="3886200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4718304"/>
            <a:ext cx="3779907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创新维度雷达图</a:t>
            </a:r>
          </a:p>
        </p:txBody>
      </p:sp>
      <p:pic>
        <p:nvPicPr>
          <p:cNvPr id="14" name="Picture 13" descr="innovation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3779907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后续工作计划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2240280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3865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对接 Unitree 等人形真机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引入 UR Fall 等公开数据集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多房间遮挡与光照优化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养老院调研与产品化评估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软著与专利布局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2173621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1917589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749693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  <p:pic>
        <p:nvPicPr>
          <p:cNvPr id="14" name="Picture 13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182614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参考文献与资料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59536"/>
            <a:ext cx="4270248" cy="2240280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59536"/>
            <a:ext cx="64008" cy="2386584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[1] Google MediaPipe Pose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[2] Unitree / ROS2 文档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[3] 「十四五」养老服务规划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[4] docs/TECHNICAL_REPORT.md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[5] GitHub 开源仓库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4251959" cy="2173621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4251959" cy="1917589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749693"/>
            <a:ext cx="41605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理论框图</a:t>
            </a:r>
          </a:p>
        </p:txBody>
      </p:sp>
      <p:pic>
        <p:nvPicPr>
          <p:cNvPr id="14" name="Picture 1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4160520" cy="182614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87468"/>
            <a:ext cx="9144000" cy="25603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" y="492404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从容应队 · 中山大学 · 刘小凡/白冉 · 指导教师 彭键清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530352"/>
            <a:ext cx="8138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扫码查看代码与演示视频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06424"/>
            <a:ext cx="128016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92608" y="841248"/>
            <a:ext cx="4270248" cy="1856231"/>
          </a:xfrm>
          <a:prstGeom prst="rect">
            <a:avLst/>
          </a:prstGeom>
          <a:solidFill>
            <a:srgbClr val="EEF5FC"/>
          </a:solidFill>
          <a:ln w="9525">
            <a:solidFill>
              <a:srgbClr val="C8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2608" y="841248"/>
            <a:ext cx="64008" cy="2002536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" y="914400"/>
            <a:ext cx="4050791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GitHub 完整源码与文档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在线 Web 演示（现场可复现）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演示录像已附仓库</a:t>
            </a: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6:rFonts xmlns:ns6="http://schemas.openxmlformats.org/wordprocessingml/2006/main" ns6:eastAsia="微软雅黑" ns6:ascii="微软雅黑" ns6:hAnsi="微软雅黑"/>
              </a:rPr>
              <a:t>欢迎评委扫码查阅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822959"/>
            <a:ext cx="192024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859536"/>
            <a:ext cx="1920240" cy="1920240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752344"/>
            <a:ext cx="18288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7:rFonts xmlns:ns7="http://schemas.openxmlformats.org/wordprocessingml/2006/main" ns7:eastAsia="微软雅黑" ns7:ascii="微软雅黑" ns7:hAnsi="微软雅黑"/>
              </a:rPr>
              <a:t>GitHub 仓库</a:t>
            </a:r>
          </a:p>
        </p:txBody>
      </p:sp>
      <p:pic>
        <p:nvPicPr>
          <p:cNvPr id="14" name="Picture 13" descr="ppt_demo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68680"/>
            <a:ext cx="1828800" cy="1828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629400" y="822959"/>
            <a:ext cx="214884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A0B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65976" y="859536"/>
            <a:ext cx="2148840" cy="1920240"/>
          </a:xfrm>
          <a:prstGeom prst="rect">
            <a:avLst/>
          </a:prstGeom>
          <a:solidFill>
            <a:srgbClr val="DC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2752344"/>
            <a:ext cx="2057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0">
                <a:solidFill>
                  <a:srgbClr val="5A6273"/>
                </a:solidFill>
                <a:latin typeface="微软雅黑"/>
                <ns8:rFonts xmlns:ns8="http://schemas.openxmlformats.org/wordprocessingml/2006/main" ns8:eastAsia="微软雅黑" ns8:ascii="微软雅黑" ns8:hAnsi="微软雅黑"/>
              </a:rPr>
              <a:t>演示界面</a:t>
            </a:r>
          </a:p>
        </p:txBody>
      </p:sp>
      <p:pic>
        <p:nvPicPr>
          <p:cNvPr id="18" name="Picture 17" descr="ppt_mediapipe_p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868680"/>
            <a:ext cx="122072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" y="54864"/>
            <a:ext cx="89245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FFFFFF"/>
                </a:solidFill>
                <a:latin typeface="微软雅黑"/>
                <ns0:rFonts xmlns:ns0="http://schemas.openxmlformats.org/wordprocessingml/2006/main" ns0:eastAsia="微软雅黑" ns0:ascii="微软雅黑" ns0:hAnsi="微软雅黑"/>
              </a:rPr>
              <a:t>第二十八届中国机器人及人工智能大赛  |  创新赛 · 机器人创新赛道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38912"/>
            <a:ext cx="4572000" cy="4704588"/>
          </a:xfrm>
          <a:prstGeom prst="rect">
            <a:avLst/>
          </a:prstGeom>
          <a:solidFill>
            <a:srgbClr val="143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pt_full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621792"/>
            <a:ext cx="4206240" cy="21934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0" y="438912"/>
            <a:ext cx="4572000" cy="4704588"/>
          </a:xfrm>
          <a:prstGeom prst="rect">
            <a:avLst/>
          </a:prstGeom>
          <a:solidFill>
            <a:srgbClr val="EEF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00600" y="1463040"/>
            <a:ext cx="4114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43278"/>
                </a:solidFill>
                <a:latin typeface="微软雅黑"/>
                <ns1:rFonts xmlns:ns1="http://schemas.openxmlformats.org/wordprocessingml/2006/main" ns1:eastAsia="微软雅黑" ns1:ascii="微软雅黑" ns1:hAnsi="微软雅黑"/>
              </a:rPr>
              <a:t>敬请批评指正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2240280"/>
            <a:ext cx="4114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C202C"/>
                </a:solidFill>
                <a:latin typeface="微软雅黑"/>
                <ns2:rFonts xmlns:ns2="http://schemas.openxmlformats.org/wordprocessingml/2006/main" ns2:eastAsia="微软雅黑" ns2:ascii="微软雅黑" ns2:hAnsi="微软雅黑"/>
              </a:rPr>
              <a:t>从容应队 · 中山大学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3:rFonts xmlns:ns3="http://schemas.openxmlformats.org/wordprocessingml/2006/main" ns3:eastAsia="微软雅黑" ns3:ascii="微软雅黑" ns3:hAnsi="微软雅黑"/>
              </a:rPr>
              <a:t>刘小凡 · 白冉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C202C"/>
                </a:solidFill>
                <a:latin typeface="微软雅黑"/>
                <ns4:rFonts xmlns:ns4="http://schemas.openxmlformats.org/wordprocessingml/2006/main" ns4:eastAsia="微软雅黑" ns4:ascii="微软雅黑" ns4:hAnsi="微软雅黑"/>
              </a:rPr>
              <a:t>指导教师 彭键清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5A6273"/>
                </a:solidFill>
                <a:latin typeface="微软雅黑"/>
                <ns5:rFonts xmlns:ns5="http://schemas.openxmlformats.org/wordprocessingml/2006/main" ns5:eastAsia="微软雅黑" ns5:ascii="微软雅黑" ns5:hAnsi="微软雅黑"/>
              </a:rPr>
              <a:t>https://github.com/FBB123571/ElderCare-Humanoid-Platform</a:t>
            </a:r>
          </a:p>
        </p:txBody>
      </p:sp>
      <p:pic>
        <p:nvPicPr>
          <p:cNvPr id="9" name="Picture 8" descr="ppt_demo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3520440"/>
            <a:ext cx="1234440" cy="12344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