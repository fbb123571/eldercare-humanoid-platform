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0022" y="502142"/>
            <a:ext cx="2951955" cy="4550694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174" y="575294"/>
            <a:ext cx="2805651" cy="42032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69957"/>
            <a:ext cx="4297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第一部分  项目背景与需求分析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第二部分  关键技术与理论模型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第三部分  系统实现与实验验证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第四部分  创新点与展望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附录  演示界面与开源仓库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全篇结构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理论 + 工程 + 现场演示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2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作品：基于大语言模型的智能养老陪伴机器人仿真平台</a:t>
            </a:r>
          </a:p>
          <a:p>
            <a:pPr>
              <a:lnSpc>
                <a:spcPct val="120000"/>
              </a:lnSpc>
              <a:spcAft>
                <a:spcPts val="2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赛项：创新赛 · 机器人创新赛道</a:t>
            </a:r>
          </a:p>
          <a:p>
            <a:pPr>
              <a:lnSpc>
                <a:spcPct val="120000"/>
              </a:lnSpc>
              <a:spcAft>
                <a:spcPts val="2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团队编号：CRAIC2026-TEAM-8FJQKLMI</a:t>
            </a:r>
          </a:p>
          <a:p>
            <a:pPr>
              <a:lnSpc>
                <a:spcPct val="120000"/>
              </a:lnSpc>
              <a:spcAft>
                <a:spcPts val="2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作品编号：CRAIC20264ZEFT1DF</a:t>
            </a:r>
          </a:p>
          <a:p>
            <a:pPr>
              <a:lnSpc>
                <a:spcPct val="120000"/>
              </a:lnSpc>
              <a:spcAft>
                <a:spcPts val="2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队员：刘小凡（队长）、白冉</a:t>
            </a:r>
          </a:p>
          <a:p>
            <a:pPr>
              <a:lnSpc>
                <a:spcPct val="120000"/>
              </a:lnSpc>
              <a:spcAft>
                <a:spcPts val="2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● 指导教师：彭键清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a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报名信息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5349240" cy="441198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05156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1556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6596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5146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项目背景 · 需求分析 · 方案定位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063240"/>
            <a:ext cx="4572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 老龄化与跌倒空窗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 方案对比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 项目目标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420624"/>
            <a:ext cx="3794760" cy="4411980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259" y="1690316"/>
            <a:ext cx="3490722" cy="24943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411" y="1763468"/>
            <a:ext cx="3344418" cy="21469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0" y="4001822"/>
            <a:ext cx="3520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独居老人增多，跌倒后「发现空窗」是核心痛点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情感陪伴需求上升，监测设备难以形成照护闭环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政策导向：智慧养老与居家安全并重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本项目聚焦可落地的仿真验证与人形接口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660" y="1186807"/>
            <a:ext cx="4461174" cy="3117357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812" y="1259959"/>
            <a:ext cx="4314870" cy="27698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21284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痛点：发现慢 + 闭环弱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现有方案对比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传统音箱/摄像头/手环：功能割裂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本作品：感知—决策—执行统一编排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强调可解释风险与紧急硬优先级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配套 Web 演示与量化评测脚本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从堆叠到一体化闭环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项目概述与目标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CareCompanion：养老人形陪伴软件平台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CareOrchestrator 统一调度各模块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目标1：跌倒检测与紧急呼叫自动化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目标2：情感对话与机器人动作联动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目标3：ROS2 部署接口 + 开源可复现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三大目标均可现场验证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5349240" cy="441198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05156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1556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6596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5146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理论模型 · 算法设计 ·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063240"/>
            <a:ext cx="4572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 四层架构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 风险融合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 应急链路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420624"/>
            <a:ext cx="3794760" cy="4411980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259" y="1659310"/>
            <a:ext cx="3490722" cy="2556398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411" y="1732462"/>
            <a:ext cx="3344418" cy="220892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0" y="4032829"/>
            <a:ext cx="3520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系统总体架构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四层架构：感知 / 认知 / 执行 / 交互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核心：CareOrchestrator + 状态机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模块可替换：仿真、Web、ROS2 共用一套逻辑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配置集中于 config/default.yaml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理论清晰、可替换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状态机与调度策略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MONITOR → CONVERSE → ALERT → EMERGENCY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紧急态可打断对话与常规任务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每个 tick 输出风险、回复、动作序列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便于日志审计与答辩讲解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状态转移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多模态风险融合（理论）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加权融合跌倒、情绪、健康三路分数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输出等级与原因列表，非黑盒端到端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阈值可配置，支持场景调参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契合医疗与养老合规沟通需求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660" y="2218374"/>
            <a:ext cx="4461174" cy="1054222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isk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812" y="2291526"/>
            <a:ext cx="4314870" cy="706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3089717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融合公式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跌倒检测算法设计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输入：MediaPipe 骨架几何特征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 + 慢速躺倒双规则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合成 6 场景评测 F1=100%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可接摄像头或上传照片分析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l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检测流程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对话与情感模块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文本情感词典 + 情绪标签融合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DialogueManager 生成安抚话术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 Mock，可切换 LLM API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与 RiskEngine、CarePlanner 协同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lm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对话模块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数据处理与决策流水线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感知帧 → 特征 → 融合 → 状态机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CarePlanner 生成 RobotAction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RobotAdapter 下发仿真或 ROS2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全链路可在 Web 界面观察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数据流水线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紧急响应链路（理论）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确认跌倒后按序触发四类动作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告警音 → 语音 → 家属通知 → 手势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记录推送渠道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端到端触发率评测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merg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紧急链路可端到端验证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5349240" cy="441198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05156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1556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6596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5146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系统实现 · 实验验证 · 现场演示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063240"/>
            <a:ext cx="4572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 Web 控制台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 视觉分析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 量化评测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420624"/>
            <a:ext cx="3794760" cy="4411980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259" y="1693309"/>
            <a:ext cx="3490722" cy="248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411" y="1766461"/>
            <a:ext cx="3344418" cy="2140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0" y="3998830"/>
            <a:ext cx="3520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控制台实现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FastAPI 后端 + 浏览器前端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实时风险仪表盘、对话与指令流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支持上传照片 / 摄像头骨架分析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一键演示剧本：日常→倾诉→跌倒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660" y="1446681"/>
            <a:ext cx="4461174" cy="2597609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812" y="1519833"/>
            <a:ext cx="4314870" cy="22501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3861410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仪表盘实拍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系统界面：MediaPipe 骨架分析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8093" y="1065390"/>
            <a:ext cx="2187812" cy="3405911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245" y="1138542"/>
            <a:ext cx="2041508" cy="30584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" y="4288421"/>
            <a:ext cx="8558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上传全身照导出骨架图 · 支持现场演示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系统界面：老人倾诉场景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66411" y="1065390"/>
            <a:ext cx="6011176" cy="3405911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563" y="1138542"/>
            <a:ext cx="5864872" cy="30584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" y="4288421"/>
            <a:ext cx="8558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演示「老人倾诉」· 风险 0.23 · 主动安抚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系统界面：风险决策仪表盘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14542" y="1065390"/>
            <a:ext cx="2714915" cy="3405911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694" y="1138542"/>
            <a:ext cx="2568611" cy="30584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" y="4288421"/>
            <a:ext cx="8558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多模态融合：分数、因素、回应与监测指标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系统界面：紧急状态监测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44280" y="1065390"/>
            <a:ext cx="6055439" cy="3405911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432" y="1138542"/>
            <a:ext cx="5909135" cy="30584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" y="4288421"/>
            <a:ext cx="8558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状态机进入紧急 · MediaPipe 视觉模块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系统界面：跌倒紧急对话日志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56886" y="1065390"/>
            <a:ext cx="5830227" cy="3405911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38" y="1138542"/>
            <a:ext cx="5683923" cy="30584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" y="4288421"/>
            <a:ext cx="8558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紧急流程触发 · 多次安抚语音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系统界面：机器人指令流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837" y="1658200"/>
            <a:ext cx="8448324" cy="2220291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89" y="1731352"/>
            <a:ext cx="8302020" cy="18728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" y="3695611"/>
            <a:ext cx="8558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告警音→语音→呼叫→手势，全链路可追溯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实验评测结果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P/R/F1：100%（6类合成场景）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紧急呼叫端到端触发率：100%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单帧决策延迟 &lt; 50ms（CPU）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pytest + 无头压测全部通过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报告：fall_eval_report.json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660" y="1190667"/>
            <a:ext cx="4461174" cy="310963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812" y="1263819"/>
            <a:ext cx="4314870" cy="27621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17424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指标可复现、脚本一键运行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4503420"/>
            <a:ext cx="3767328" cy="3291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4567428"/>
            <a:ext cx="3547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完整源码 · 可复现演示 · 欢迎评委扫码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088136"/>
            <a:ext cx="3767328" cy="58978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143000"/>
            <a:ext cx="914400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143000"/>
            <a:ext cx="2624328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https://github.com/FBB123571/ElderCare-Humanoid-Platform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1751076"/>
            <a:ext cx="3767328" cy="589787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1805940"/>
            <a:ext cx="914400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团队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1805940"/>
            <a:ext cx="2624328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从容应队（中山大学）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" y="2414015"/>
            <a:ext cx="3767328" cy="58978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2468879"/>
            <a:ext cx="914400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本地演示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2468879"/>
            <a:ext cx="2624328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bash scripts/run_web.sh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" y="3076956"/>
            <a:ext cx="3767328" cy="589787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3131820"/>
            <a:ext cx="914400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演示录像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131820"/>
            <a:ext cx="2624328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docs/assets/demo_carecompanion.mp4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" y="3739896"/>
            <a:ext cx="3767328" cy="589787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3794759"/>
            <a:ext cx="914400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软著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794759"/>
            <a:ext cx="2624328" cy="5532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申请中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25696" y="1042416"/>
            <a:ext cx="1773936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115568"/>
            <a:ext cx="1627632" cy="16276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8264" y="2834640"/>
            <a:ext cx="1828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扫码访问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877" y="1994957"/>
            <a:ext cx="2358420" cy="150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pt_full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029" y="2068109"/>
            <a:ext cx="2212116" cy="115358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9944" y="3313134"/>
            <a:ext cx="2304287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Web 控制台实拍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5349240" cy="441198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05156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15568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6596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5146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创新点 · 应用价值 · 后续计划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063240"/>
            <a:ext cx="4572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 创新维度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 真机路线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 软著专利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420624"/>
            <a:ext cx="3794760" cy="4411980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259" y="1083671"/>
            <a:ext cx="3490722" cy="370767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411" y="1156823"/>
            <a:ext cx="3344418" cy="33602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0" y="4608468"/>
            <a:ext cx="3520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创新维度总结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多模态可解释融合，优于模块堆叠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紧急硬优先级状态机 + 动作闭环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MediaPipe 视觉接入，非纯滑块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工程化：评测脚本 + 开源仓库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面向居家养老的应用场景明确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92502" y="1174592"/>
            <a:ext cx="2927491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654" y="1247744"/>
            <a:ext cx="2781187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创新雷达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后续工作计划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引入 UR Fall 等公开数据集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多房间遮挡与光照优化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养老院调研与产品化评估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软著与专利布局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路线图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参考文献与资料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[1] Google MediaPipe Pose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[2] Unitree / ROS2 文档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[3] 「十四五」养老服务规划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[4] docs/TECHNICAL_REPORT.md</a:t>
            </a:r>
          </a:p>
          <a:p>
            <a:pPr>
              <a:lnSpc>
                <a:spcPct val="120000"/>
              </a:lnSpc>
              <a:spcAft>
                <a:spcPts val="39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[5] GitHub 开源仓库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7733" y="1174592"/>
            <a:ext cx="4377028" cy="3141786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85" y="1247744"/>
            <a:ext cx="4230724" cy="27943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1104" y="4133499"/>
            <a:ext cx="459028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4951476"/>
            <a:ext cx="85587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475488"/>
            <a:ext cx="8558784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914400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042416"/>
            <a:ext cx="3767328" cy="3406139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042416"/>
            <a:ext cx="73152" cy="3406139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207008"/>
            <a:ext cx="3456432" cy="30769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  <a:p>
            <a:pPr>
              <a:lnSpc>
                <a:spcPct val="120000"/>
              </a:lnSpc>
              <a:spcAft>
                <a:spcPts val="58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9976" y="1152144"/>
            <a:ext cx="1865376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1225296"/>
            <a:ext cx="1719072" cy="17190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52544" y="3035808"/>
            <a:ext cx="1920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6203" y="1170889"/>
            <a:ext cx="2077489" cy="3240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355" y="1244041"/>
            <a:ext cx="1931185" cy="28931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9944" y="4228642"/>
            <a:ext cx="2350007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54864"/>
            <a:ext cx="855878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729" y="1531180"/>
            <a:ext cx="4277380" cy="2501763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604332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3850063"/>
            <a:ext cx="4215383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33872" y="2990088"/>
            <a:ext cx="1362456" cy="1563624"/>
          </a:xfrm>
          <a:prstGeom prst="rect">
            <a:avLst/>
          </a:prstGeom>
          <a:solidFill>
            <a:srgbClr val="FFFFFF"/>
          </a:solidFill>
          <a:ln w="1270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024" y="3063240"/>
            <a:ext cx="1216152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370831"/>
            <a:ext cx="1417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